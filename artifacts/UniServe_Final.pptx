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8" r:id="rId19"/>
    <p:sldId id="269" r:id="rId20"/>
    <p:sldId id="270" r:id="rId21"/>
    <p:sldId id="271" r:id="rId22"/>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9.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(0:30)
Introduce the project. 'UniServe is an AI-powered complaint portal I built from scratch — from a real observed problem all the way to a live deployment. Today I want to walk you through the journey: why I built it, how I structured it, the decisions I made and changed, and what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(1:30)
'I did not start with a solution. I started with two interviews at TNEB. A customer care lead who told me they spend 2 hours a day manually linking duplicate tickets. And a social media monitor whose entire job was watching Twitter all day because there was no automated alert. That specificity — 15 minutes before a tweet trends — is what shaped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(1:00)
'Before writing a single line of code, I ran a structured multi-agent review using Claude. Six distinct agents with specific roles reviewed and debated the three ideas. The output was a scored decision matrix with documented rationale. UniServe won because of the TNEB anchor — two real interviews, a specific observed pain, a measurable time constraint. That rigour set the tone for how decisions were made throughout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(1:30)
'The architecture has four services communicating through an event bus. No service calls another's business logic directly. api-gateway is the only public-facing surface. ai-core does all the intelligence. db-writer is the only thing that touches the database — everything else calls its REST API. The dashboard is a PWA that works on any device. The event bus uses Valkey — the MIT-licensed community fork of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api-gateway Service Deep Dive
Quarkus Java 21 — the public-facing entry point. Email IMAP polling + SMTP/Resend outbound. WhatsApp Meta webhook with HMAC validation. JWT auth with custom AuthFilter (3 roles). Publishes all events to Valkey with a shared traceId. Quarkus native binary is ~50MB RAM per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ai-core — The AI Heart
This is the most important service slide. Five AI stages: Identity Gate (LLM-free deterministic gating), PII Scrubber (Presidio with India patterns), Conversation Agent (OpenAI Assistants API with tool calling), Classification + Dedup, Priority Scoring. Three design principles: never fabricates (fallback), PII never reaches LLM, fully tenant-configurable.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db-writer Service Deep Dive
The only service that writes to SQLite. Single pod with REST API. Caffeine cache (2-min TTL) for hot reads. Mandatory note enforcement at API level — not just UI. SQLite WAL with Persistent Volume Claim. Phase 2 encryption will be added here only — no other service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dashboard Service Deep Dive
Next.js 14 PWA. Three tabs: Analytics (all roles), Ticket Queue (agents see own tickets, leads see all), Administration (admin only). PWA installs on mobile. SSR citizen portal at /status/[ref] requires no login. JWT RBAC enforced at route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(2:00)
'Six decisions changed during the project — and each change was deliberate, documented, and made for a specific reason. The tech stack decisions show the thinking: Quarkus because it costs less to run at scale, SQLite because a complaint portal simply doesn't need a separate database server, Valkey because Redis changed its licence. These weren't random — they were engineering trade-offs made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(1:30)
'The AI is not a wrapper around ChatGPT. It is a five-stage pipeline. Every inbound message goes through identity gate first — we confirm who you are before creating a ticket. Then PII is stripped before any LLM call. The conversation agent gathers missing details. Classification and priority scoring happen next. And then the ticket hits the agent queue already scored. Three principles underpinned the design: deterministic fallback, PII protection, and full configurability per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(1:00)
'Three extensibility dimensions were built in from day one. First: tenant configurability at runtime — the admin can change the AI behaviour without any code deployment. Second: Phase 2 encryption is already planned in the schema — PHASE_2_ENCRYPT markers on every PII column mean the upgrade is surgical, not architectural. Third: the scaling path is documented — SQLite to Postgres is a Hibernate dialect swap, nothing else changes because all writes go through one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(0:45)
'The entire system is live and deployed across four cloud providers at effectively zero cost. Vercel for the Next.js dashboard, Render for the two Java and Python services, Railway for the database service which needs a persistent volume, and Upstash for the Valkey event bus. Everything auto-deploys on a git push to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(1:30)
'Six things changed how I think about building software. The most important: bottom-up always wins. Every design decision that was grounded in the TNEB interviews was right. Every one made in the abstract had to be revisited. The second: AI-assisted development changed what is possible in a sprint. Third: writing decisions down when you make them — the decision log I kept saved me from re-litigating the same debates six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(0:45)
'Four honest things I would do differently. None of these are regrets — they are the things I now know from having built it. The integration test gap is the most technically important. The pilot commitment gap is the most commercially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(0:45)
'Four things next. The most important: a first pilot customer. The product handles real load today — it just needs a real customer. Phase 2 encryption is pre-planned and takes 3-4 weeks. Twitter and IVR channels are already stubbed out. And the market strategy is built and documented. The hardest remaining problem is a business one, not a technical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(15 min)
Open https://uniserv-delta.vercel.app
1. Send a WhatsApp message to the registered number
2. Show the ticket appearing in the agent dashboard — unconfirmed queue
3. Open ticket, show AI notes, conversation timeline
4. Show identity confirmation flow
5. Transition status to In-Progress, add note, move to Resolved
6. Trigger Generate Summary — show AI resolution generation
7. Show admin panel: intake fields configuration, priority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_x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1_x1.png"/><Relationship Id="rId2" Type="http://schemas.openxmlformats.org/officeDocument/2006/relationships/image" Target="../media/image-2-2_x1.png"/><Relationship Id="rId3" Type="http://schemas.openxmlformats.org/officeDocument/2006/relationships/image" Target="../media/image-2-3_x1.png"/><Relationship Id="rId4" Type="http://schemas.openxmlformats.org/officeDocument/2006/relationships/image" Target="../media/image-2-4_x1.png"/><Relationship Id="rId5" Type="http://schemas.openxmlformats.org/officeDocument/2006/relationships/image" Target="../media/image-2-5_x1.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1_x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1_x1.png"/><Relationship Id="rId2" Type="http://schemas.openxmlformats.org/officeDocument/2006/relationships/image" Target="../media/image-4-2_x1.png"/><Relationship Id="rId3" Type="http://schemas.openxmlformats.org/officeDocument/2006/relationships/image" Target="../media/image-4-3_x1.png"/><Relationship Id="rId4" Type="http://schemas.openxmlformats.org/officeDocument/2006/relationships/image" Target="../media/image-4-4_x1.png"/><Relationship Id="rId5" Type="http://schemas.openxmlformats.org/officeDocument/2006/relationships/image" Target="../media/image-4-5_x1.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400800" y="-1463040"/>
            <a:ext cx="4754880" cy="4754880"/>
          </a:xfrm>
          <a:prstGeom prst="ellipse">
            <a:avLst/>
          </a:prstGeom>
          <a:solidFill>
            <a:srgbClr val="028090">
              <a:alpha val="15000"/>
            </a:srgbClr>
          </a:solidFill>
          <a:ln w="12700">
            <a:solidFill>
              <a:srgbClr val="02C39A"/>
            </a:solidFill>
            <a:prstDash val="solid"/>
          </a:ln>
        </p:spPr>
      </p:sp>
      <p:sp>
        <p:nvSpPr>
          <p:cNvPr id="3" name="Shape 1"/>
          <p:cNvSpPr/>
          <p:nvPr/>
        </p:nvSpPr>
        <p:spPr>
          <a:xfrm>
            <a:off x="7315200" y="-640080"/>
            <a:ext cx="2926080" cy="2926080"/>
          </a:xfrm>
          <a:prstGeom prst="ellipse">
            <a:avLst/>
          </a:prstGeom>
          <a:solidFill>
            <a:srgbClr val="028090">
              <a:alpha val="25000"/>
            </a:srgbClr>
          </a:solidFill>
          <a:ln w="12700">
            <a:solidFill>
              <a:srgbClr val="02C39A"/>
            </a:solidFill>
            <a:prstDash val="solid"/>
          </a:ln>
        </p:spPr>
      </p:sp>
      <p:pic>
        <p:nvPicPr>
          <p:cNvPr id="4" name="Image 0" descr="preencoded.png">    </p:cNvPr>
          <p:cNvPicPr>
            <a:picLocks noChangeAspect="1"/>
          </p:cNvPicPr>
          <p:nvPr/>
        </p:nvPicPr>
        <p:blipFill>
          <a:blip r:embed="rId1"/>
          <a:stretch>
            <a:fillRect/>
          </a:stretch>
        </p:blipFill>
        <p:spPr>
          <a:xfrm>
            <a:off x="7589520" y="91440"/>
            <a:ext cx="2011680" cy="2011680"/>
          </a:xfrm>
          <a:prstGeom prst="rect">
            <a:avLst/>
          </a:prstGeom>
        </p:spPr>
      </p:pic>
      <p:sp>
        <p:nvSpPr>
          <p:cNvPr id="5" name="Text 2"/>
          <p:cNvSpPr/>
          <p:nvPr/>
        </p:nvSpPr>
        <p:spPr>
          <a:xfrm>
            <a:off x="457200" y="457200"/>
            <a:ext cx="6400800" cy="256032"/>
          </a:xfrm>
          <a:prstGeom prst="rect">
            <a:avLst/>
          </a:prstGeom>
          <a:noFill/>
          <a:ln/>
        </p:spPr>
        <p:txBody>
          <a:bodyPr wrap="square" rtlCol="0" anchor="ctr"/>
          <a:lstStyle/>
          <a:p>
            <a:pPr indent="0" marL="0">
              <a:buNone/>
            </a:pPr>
            <a:r>
              <a:rPr lang="en-US" sz="900" b="1" spc="300" kern="0" dirty="0">
                <a:solidFill>
                  <a:srgbClr val="8EB4C8"/>
                </a:solidFill>
                <a:latin typeface="Calibri" pitchFamily="34" charset="0"/>
                <a:ea typeface="Calibri" pitchFamily="34" charset="-122"/>
                <a:cs typeface="Calibri" pitchFamily="34" charset="-120"/>
              </a:rPr>
              <a:t>LEADERSHIP PRESENTATION  ·  IIT PRAVARTAK CAPSTONE  ·  2025</a:t>
            </a:r>
            <a:endParaRPr lang="en-US" sz="900" dirty="0"/>
          </a:p>
        </p:txBody>
      </p:sp>
      <p:sp>
        <p:nvSpPr>
          <p:cNvPr id="6" name="Text 3"/>
          <p:cNvSpPr/>
          <p:nvPr/>
        </p:nvSpPr>
        <p:spPr>
          <a:xfrm>
            <a:off x="457200" y="822960"/>
            <a:ext cx="5943600" cy="914400"/>
          </a:xfrm>
          <a:prstGeom prst="rect">
            <a:avLst/>
          </a:prstGeom>
          <a:noFill/>
          <a:ln/>
        </p:spPr>
        <p:txBody>
          <a:bodyPr wrap="square"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UniServe</a:t>
            </a:r>
            <a:endParaRPr lang="en-US" sz="6400" dirty="0"/>
          </a:p>
        </p:txBody>
      </p:sp>
      <p:sp>
        <p:nvSpPr>
          <p:cNvPr id="7" name="Text 4"/>
          <p:cNvSpPr/>
          <p:nvPr/>
        </p:nvSpPr>
        <p:spPr>
          <a:xfrm>
            <a:off x="457200" y="1828800"/>
            <a:ext cx="6400800" cy="502920"/>
          </a:xfrm>
          <a:prstGeom prst="rect">
            <a:avLst/>
          </a:prstGeom>
          <a:noFill/>
          <a:ln/>
        </p:spPr>
        <p:txBody>
          <a:bodyPr wrap="square" rtlCol="0" anchor="ctr"/>
          <a:lstStyle/>
          <a:p>
            <a:pPr indent="0" marL="0">
              <a:buNone/>
            </a:pPr>
            <a:r>
              <a:rPr lang="en-US" sz="2600" dirty="0">
                <a:solidFill>
                  <a:srgbClr val="02C39A"/>
                </a:solidFill>
                <a:latin typeface="Calibri" pitchFamily="34" charset="0"/>
                <a:ea typeface="Calibri" pitchFamily="34" charset="-122"/>
                <a:cs typeface="Calibri" pitchFamily="34" charset="-120"/>
              </a:rPr>
              <a:t>From Idea to Production</a:t>
            </a:r>
            <a:endParaRPr lang="en-US" sz="2600" dirty="0"/>
          </a:p>
        </p:txBody>
      </p:sp>
      <p:sp>
        <p:nvSpPr>
          <p:cNvPr id="8" name="Text 5"/>
          <p:cNvSpPr/>
          <p:nvPr/>
        </p:nvSpPr>
        <p:spPr>
          <a:xfrm>
            <a:off x="457200" y="2423160"/>
            <a:ext cx="6217920" cy="640080"/>
          </a:xfrm>
          <a:prstGeom prst="rect">
            <a:avLst/>
          </a:prstGeom>
          <a:noFill/>
          <a:ln/>
        </p:spPr>
        <p:txBody>
          <a:bodyPr wrap="square" rtlCol="0" anchor="ctr"/>
          <a:lstStyle/>
          <a:p>
            <a:pPr indent="0" marL="0">
              <a:lnSpc>
                <a:spcPct val="140000"/>
              </a:lnSpc>
              <a:buNone/>
            </a:pPr>
            <a:r>
              <a:rPr lang="en-US" sz="1400" i="1" dirty="0">
                <a:solidFill>
                  <a:srgbClr val="8EB4C8"/>
                </a:solidFill>
                <a:latin typeface="Calibri" pitchFamily="34" charset="0"/>
                <a:ea typeface="Calibri" pitchFamily="34" charset="-122"/>
                <a:cs typeface="Calibri" pitchFamily="34" charset="-120"/>
              </a:rPr>
              <a:t>An AI-powered complaint portal built from a real</a:t>
            </a:r>
            <a:endParaRPr lang="en-US" sz="1400" dirty="0"/>
          </a:p>
          <a:p>
            <a:pPr indent="0" marL="0">
              <a:lnSpc>
                <a:spcPct val="140000"/>
              </a:lnSpc>
              <a:buNone/>
            </a:pPr>
            <a:r>
              <a:rPr lang="en-US" sz="1400" i="1" dirty="0">
                <a:solidFill>
                  <a:srgbClr val="8EB4C8"/>
                </a:solidFill>
                <a:latin typeface="Calibri" pitchFamily="34" charset="0"/>
                <a:ea typeface="Calibri" pitchFamily="34" charset="-122"/>
                <a:cs typeface="Calibri" pitchFamily="34" charset="-120"/>
              </a:rPr>
              <a:t>observed problem, shipped to a live multi-cloud deployment.</a:t>
            </a:r>
            <a:endParaRPr lang="en-US" sz="1400" dirty="0"/>
          </a:p>
        </p:txBody>
      </p:sp>
      <p:sp>
        <p:nvSpPr>
          <p:cNvPr id="9" name="Shape 6"/>
          <p:cNvSpPr/>
          <p:nvPr/>
        </p:nvSpPr>
        <p:spPr>
          <a:xfrm>
            <a:off x="0" y="4462272"/>
            <a:ext cx="9144000" cy="681228"/>
          </a:xfrm>
          <a:prstGeom prst="rect">
            <a:avLst/>
          </a:prstGeom>
          <a:solidFill>
            <a:srgbClr val="028090"/>
          </a:solidFill>
          <a:ln w="12700">
            <a:solidFill>
              <a:srgbClr val="028090"/>
            </a:solidFill>
            <a:prstDash val="solid"/>
          </a:ln>
        </p:spPr>
      </p:sp>
      <p:sp>
        <p:nvSpPr>
          <p:cNvPr id="10" name="Text 7"/>
          <p:cNvSpPr/>
          <p:nvPr/>
        </p:nvSpPr>
        <p:spPr>
          <a:xfrm>
            <a:off x="914400" y="4480560"/>
            <a:ext cx="2194560" cy="32918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 services</a:t>
            </a:r>
            <a:endParaRPr lang="en-US" sz="2000" dirty="0"/>
          </a:p>
        </p:txBody>
      </p:sp>
      <p:sp>
        <p:nvSpPr>
          <p:cNvPr id="11" name="Text 8"/>
          <p:cNvSpPr/>
          <p:nvPr/>
        </p:nvSpPr>
        <p:spPr>
          <a:xfrm>
            <a:off x="914400" y="4809744"/>
            <a:ext cx="2194560" cy="237744"/>
          </a:xfrm>
          <a:prstGeom prst="rect">
            <a:avLst/>
          </a:prstGeom>
          <a:noFill/>
          <a:ln/>
        </p:spPr>
        <p:txBody>
          <a:bodyPr wrap="square" rtlCol="0" anchor="ctr"/>
          <a:lstStyle/>
          <a:p>
            <a:pPr algn="ctr" indent="0" marL="0">
              <a:buNone/>
            </a:pPr>
            <a:r>
              <a:rPr lang="en-US" sz="950" dirty="0">
                <a:solidFill>
                  <a:srgbClr val="D0F0F5"/>
                </a:solidFill>
                <a:latin typeface="Calibri" pitchFamily="34" charset="0"/>
                <a:ea typeface="Calibri" pitchFamily="34" charset="-122"/>
                <a:cs typeface="Calibri" pitchFamily="34" charset="-120"/>
              </a:rPr>
              <a:t>deployed end-to-end</a:t>
            </a:r>
            <a:endParaRPr lang="en-US" sz="950" dirty="0"/>
          </a:p>
        </p:txBody>
      </p:sp>
      <p:sp>
        <p:nvSpPr>
          <p:cNvPr id="12" name="Text 9"/>
          <p:cNvSpPr/>
          <p:nvPr/>
        </p:nvSpPr>
        <p:spPr>
          <a:xfrm>
            <a:off x="3657600" y="4480560"/>
            <a:ext cx="2194560" cy="32918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$0/month</a:t>
            </a:r>
            <a:endParaRPr lang="en-US" sz="2000" dirty="0"/>
          </a:p>
        </p:txBody>
      </p:sp>
      <p:sp>
        <p:nvSpPr>
          <p:cNvPr id="13" name="Text 10"/>
          <p:cNvSpPr/>
          <p:nvPr/>
        </p:nvSpPr>
        <p:spPr>
          <a:xfrm>
            <a:off x="3657600" y="4809744"/>
            <a:ext cx="2194560" cy="237744"/>
          </a:xfrm>
          <a:prstGeom prst="rect">
            <a:avLst/>
          </a:prstGeom>
          <a:noFill/>
          <a:ln/>
        </p:spPr>
        <p:txBody>
          <a:bodyPr wrap="square" rtlCol="0" anchor="ctr"/>
          <a:lstStyle/>
          <a:p>
            <a:pPr algn="ctr" indent="0" marL="0">
              <a:buNone/>
            </a:pPr>
            <a:r>
              <a:rPr lang="en-US" sz="950" dirty="0">
                <a:solidFill>
                  <a:srgbClr val="D0F0F5"/>
                </a:solidFill>
                <a:latin typeface="Calibri" pitchFamily="34" charset="0"/>
                <a:ea typeface="Calibri" pitchFamily="34" charset="-122"/>
                <a:cs typeface="Calibri" pitchFamily="34" charset="-120"/>
              </a:rPr>
              <a:t>live infra cost</a:t>
            </a:r>
            <a:endParaRPr lang="en-US" sz="950" dirty="0"/>
          </a:p>
        </p:txBody>
      </p:sp>
      <p:sp>
        <p:nvSpPr>
          <p:cNvPr id="14" name="Text 11"/>
          <p:cNvSpPr/>
          <p:nvPr/>
        </p:nvSpPr>
        <p:spPr>
          <a:xfrm>
            <a:off x="6400800" y="4480560"/>
            <a:ext cx="2194560" cy="32918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14 feature MDs</a:t>
            </a:r>
            <a:endParaRPr lang="en-US" sz="2000" dirty="0"/>
          </a:p>
        </p:txBody>
      </p:sp>
      <p:sp>
        <p:nvSpPr>
          <p:cNvPr id="15" name="Text 12"/>
          <p:cNvSpPr/>
          <p:nvPr/>
        </p:nvSpPr>
        <p:spPr>
          <a:xfrm>
            <a:off x="6400800" y="4809744"/>
            <a:ext cx="2194560" cy="237744"/>
          </a:xfrm>
          <a:prstGeom prst="rect">
            <a:avLst/>
          </a:prstGeom>
          <a:noFill/>
          <a:ln/>
        </p:spPr>
        <p:txBody>
          <a:bodyPr wrap="square" rtlCol="0" anchor="ctr"/>
          <a:lstStyle/>
          <a:p>
            <a:pPr algn="ctr" indent="0" marL="0">
              <a:buNone/>
            </a:pPr>
            <a:r>
              <a:rPr lang="en-US" sz="950" dirty="0">
                <a:solidFill>
                  <a:srgbClr val="D0F0F5"/>
                </a:solidFill>
                <a:latin typeface="Calibri" pitchFamily="34" charset="0"/>
                <a:ea typeface="Calibri" pitchFamily="34" charset="-122"/>
                <a:cs typeface="Calibri" pitchFamily="34" charset="-120"/>
              </a:rPr>
              <a:t>fully specced &amp; built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8090"/>
                </a:solidFill>
                <a:latin typeface="Calibri" pitchFamily="34" charset="0"/>
                <a:ea typeface="Calibri" pitchFamily="34" charset="-122"/>
                <a:cs typeface="Calibri" pitchFamily="34" charset="-120"/>
              </a:rPr>
              <a:t>WHERE IT STARTED</a:t>
            </a:r>
            <a:endParaRPr lang="en-US" sz="900" dirty="0"/>
          </a:p>
        </p:txBody>
      </p:sp>
      <p:sp>
        <p:nvSpPr>
          <p:cNvPr id="3" name="Text 1"/>
          <p:cNvSpPr/>
          <p:nvPr/>
        </p:nvSpPr>
        <p:spPr>
          <a:xfrm>
            <a:off x="457200" y="457200"/>
            <a:ext cx="8229600" cy="548640"/>
          </a:xfrm>
          <a:prstGeom prst="rect">
            <a:avLst/>
          </a:prstGeom>
          <a:noFill/>
          <a:ln/>
        </p:spPr>
        <p:txBody>
          <a:bodyPr wrap="square"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A real problem. Two real people. One observation.</a:t>
            </a:r>
            <a:endParaRPr lang="en-US" sz="2600" dirty="0"/>
          </a:p>
        </p:txBody>
      </p:sp>
      <p:sp>
        <p:nvSpPr>
          <p:cNvPr id="4" name="Shape 2"/>
          <p:cNvSpPr/>
          <p:nvPr/>
        </p:nvSpPr>
        <p:spPr>
          <a:xfrm>
            <a:off x="365760" y="1170432"/>
            <a:ext cx="4023360" cy="3566160"/>
          </a:xfrm>
          <a:prstGeom prst="rect">
            <a:avLst/>
          </a:prstGeom>
          <a:solidFill>
            <a:srgbClr val="0D1B2A"/>
          </a:solidFill>
          <a:ln w="12700">
            <a:solidFill>
              <a:srgbClr val="E2E8F0"/>
            </a:solidFill>
            <a:prstDash val="solid"/>
          </a:ln>
          <a:effectLst>
            <a:outerShdw sx="100000" sy="100000" kx="0" ky="0" algn="bl" rotWithShape="0" blurRad="1016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566928" y="1335024"/>
            <a:ext cx="347472" cy="347472"/>
          </a:xfrm>
          <a:prstGeom prst="rect">
            <a:avLst/>
          </a:prstGeom>
        </p:spPr>
      </p:pic>
      <p:sp>
        <p:nvSpPr>
          <p:cNvPr id="6" name="Text 3"/>
          <p:cNvSpPr/>
          <p:nvPr/>
        </p:nvSpPr>
        <p:spPr>
          <a:xfrm>
            <a:off x="987552" y="1371600"/>
            <a:ext cx="3200400" cy="256032"/>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TNEB Customer Care</a:t>
            </a:r>
            <a:endParaRPr lang="en-US" sz="1100" dirty="0"/>
          </a:p>
        </p:txBody>
      </p:sp>
      <p:sp>
        <p:nvSpPr>
          <p:cNvPr id="7" name="Text 4"/>
          <p:cNvSpPr/>
          <p:nvPr/>
        </p:nvSpPr>
        <p:spPr>
          <a:xfrm>
            <a:off x="566928" y="1700784"/>
            <a:ext cx="3639312" cy="713232"/>
          </a:xfrm>
          <a:prstGeom prst="rect">
            <a:avLst/>
          </a:prstGeom>
          <a:noFill/>
          <a:ln/>
        </p:spPr>
        <p:txBody>
          <a:bodyPr wrap="square" rtlCol="0" anchor="ctr"/>
          <a:lstStyle/>
          <a:p>
            <a:pPr indent="0" marL="0">
              <a:lnSpc>
                <a:spcPct val="140000"/>
              </a:lnSpc>
              <a:buNone/>
            </a:pPr>
            <a:r>
              <a:rPr lang="en-US" sz="1200" i="1" dirty="0">
                <a:solidFill>
                  <a:srgbClr val="C8E4EC"/>
                </a:solidFill>
                <a:latin typeface="Calibri" pitchFamily="34" charset="0"/>
                <a:ea typeface="Calibri" pitchFamily="34" charset="-122"/>
                <a:cs typeface="Calibri" pitchFamily="34" charset="-120"/>
              </a:rPr>
              <a:t>"We get the same complaint on WhatsApp, IVR and email — three tickets, three agents, nobody knows it is the same person."</a:t>
            </a:r>
            <a:endParaRPr lang="en-US" sz="1200" dirty="0"/>
          </a:p>
        </p:txBody>
      </p:sp>
      <p:sp>
        <p:nvSpPr>
          <p:cNvPr id="8" name="Shape 5"/>
          <p:cNvSpPr/>
          <p:nvPr/>
        </p:nvSpPr>
        <p:spPr>
          <a:xfrm>
            <a:off x="566928" y="2505456"/>
            <a:ext cx="3657600" cy="18288"/>
          </a:xfrm>
          <a:prstGeom prst="rect">
            <a:avLst/>
          </a:prstGeom>
          <a:solidFill>
            <a:srgbClr val="2A4A6A"/>
          </a:solidFill>
          <a:ln w="12700">
            <a:solidFill>
              <a:srgbClr val="2A4A6A"/>
            </a:solidFill>
            <a:prstDash val="solid"/>
          </a:ln>
        </p:spPr>
      </p:sp>
      <p:pic>
        <p:nvPicPr>
          <p:cNvPr id="9" name="Image 1" descr="preencoded.png">    </p:cNvPr>
          <p:cNvPicPr>
            <a:picLocks noChangeAspect="1"/>
          </p:cNvPicPr>
          <p:nvPr/>
        </p:nvPicPr>
        <p:blipFill>
          <a:blip r:embed="rId2"/>
          <a:stretch>
            <a:fillRect/>
          </a:stretch>
        </p:blipFill>
        <p:spPr>
          <a:xfrm>
            <a:off x="566928" y="2615184"/>
            <a:ext cx="347472" cy="347472"/>
          </a:xfrm>
          <a:prstGeom prst="rect">
            <a:avLst/>
          </a:prstGeom>
        </p:spPr>
      </p:pic>
      <p:sp>
        <p:nvSpPr>
          <p:cNvPr id="10" name="Text 6"/>
          <p:cNvSpPr/>
          <p:nvPr/>
        </p:nvSpPr>
        <p:spPr>
          <a:xfrm>
            <a:off x="987552" y="2651760"/>
            <a:ext cx="3200400" cy="256032"/>
          </a:xfrm>
          <a:prstGeom prst="rect">
            <a:avLst/>
          </a:prstGeom>
          <a:noFill/>
          <a:ln/>
        </p:spPr>
        <p:txBody>
          <a:bodyPr wrap="square"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TNEB Social Media Monitor</a:t>
            </a:r>
            <a:endParaRPr lang="en-US" sz="1100" dirty="0"/>
          </a:p>
        </p:txBody>
      </p:sp>
      <p:sp>
        <p:nvSpPr>
          <p:cNvPr id="11" name="Text 7"/>
          <p:cNvSpPr/>
          <p:nvPr/>
        </p:nvSpPr>
        <p:spPr>
          <a:xfrm>
            <a:off x="566928" y="2980944"/>
            <a:ext cx="3639312" cy="841248"/>
          </a:xfrm>
          <a:prstGeom prst="rect">
            <a:avLst/>
          </a:prstGeom>
          <a:noFill/>
          <a:ln/>
        </p:spPr>
        <p:txBody>
          <a:bodyPr wrap="square" rtlCol="0" anchor="ctr"/>
          <a:lstStyle/>
          <a:p>
            <a:pPr indent="0" marL="0">
              <a:lnSpc>
                <a:spcPct val="140000"/>
              </a:lnSpc>
              <a:buNone/>
            </a:pPr>
            <a:r>
              <a:rPr lang="en-US" sz="1200" i="1" dirty="0">
                <a:solidFill>
                  <a:srgbClr val="C8E4EC"/>
                </a:solidFill>
                <a:latin typeface="Calibri" pitchFamily="34" charset="0"/>
                <a:ea typeface="Calibri" pitchFamily="34" charset="-122"/>
                <a:cs typeface="Calibri" pitchFamily="34" charset="-120"/>
              </a:rPr>
              <a:t>"If a complaint tags the Minister's handle and we don't respond in 15 minutes, it trends statewide. I watch Twitter manually. All day. There is no alert system."</a:t>
            </a:r>
            <a:endParaRPr lang="en-US" sz="1200" dirty="0"/>
          </a:p>
        </p:txBody>
      </p:sp>
      <p:sp>
        <p:nvSpPr>
          <p:cNvPr id="12" name="Text 8"/>
          <p:cNvSpPr/>
          <p:nvPr/>
        </p:nvSpPr>
        <p:spPr>
          <a:xfrm>
            <a:off x="566928" y="4169664"/>
            <a:ext cx="3639312" cy="329184"/>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Two in-person interviews. Real pain. Not assumed.</a:t>
            </a:r>
            <a:endParaRPr lang="en-US" sz="1050" dirty="0"/>
          </a:p>
        </p:txBody>
      </p:sp>
      <p:sp>
        <p:nvSpPr>
          <p:cNvPr id="13" name="Shape 9"/>
          <p:cNvSpPr/>
          <p:nvPr/>
        </p:nvSpPr>
        <p:spPr>
          <a:xfrm>
            <a:off x="4572000" y="1170432"/>
            <a:ext cx="4251960" cy="1078992"/>
          </a:xfrm>
          <a:prstGeom prst="rect">
            <a:avLst/>
          </a:prstGeom>
          <a:solidFill>
            <a:srgbClr val="FFF2F2"/>
          </a:solidFill>
          <a:ln w="12700">
            <a:solidFill>
              <a:srgbClr val="E2E8F0"/>
            </a:solidFill>
            <a:prstDash val="solid"/>
          </a:ln>
        </p:spPr>
      </p:sp>
      <p:sp>
        <p:nvSpPr>
          <p:cNvPr id="14" name="Shape 10"/>
          <p:cNvSpPr/>
          <p:nvPr/>
        </p:nvSpPr>
        <p:spPr>
          <a:xfrm>
            <a:off x="4681728" y="1389888"/>
            <a:ext cx="475488" cy="475488"/>
          </a:xfrm>
          <a:prstGeom prst="ellipse">
            <a:avLst/>
          </a:prstGeom>
          <a:solidFill>
            <a:srgbClr val="E07B54"/>
          </a:solidFill>
          <a:ln w="12700">
            <a:solidFill>
              <a:srgbClr val="E07B54"/>
            </a:solidFill>
            <a:prstDash val="solid"/>
          </a:ln>
        </p:spPr>
      </p:sp>
      <p:pic>
        <p:nvPicPr>
          <p:cNvPr id="15" name="Image 2" descr="preencoded.png">    </p:cNvPr>
          <p:cNvPicPr>
            <a:picLocks noChangeAspect="1"/>
          </p:cNvPicPr>
          <p:nvPr/>
        </p:nvPicPr>
        <p:blipFill>
          <a:blip r:embed="rId3"/>
          <a:stretch>
            <a:fillRect/>
          </a:stretch>
        </p:blipFill>
        <p:spPr>
          <a:xfrm>
            <a:off x="4773168" y="1481328"/>
            <a:ext cx="292608" cy="292608"/>
          </a:xfrm>
          <a:prstGeom prst="rect">
            <a:avLst/>
          </a:prstGeom>
        </p:spPr>
      </p:pic>
      <p:sp>
        <p:nvSpPr>
          <p:cNvPr id="16" name="Text 11"/>
          <p:cNvSpPr/>
          <p:nvPr/>
        </p:nvSpPr>
        <p:spPr>
          <a:xfrm>
            <a:off x="5248656" y="1298448"/>
            <a:ext cx="3401568" cy="27432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Duplicate tickets</a:t>
            </a:r>
            <a:endParaRPr lang="en-US" sz="1300" dirty="0"/>
          </a:p>
        </p:txBody>
      </p:sp>
      <p:sp>
        <p:nvSpPr>
          <p:cNvPr id="17" name="Text 12"/>
          <p:cNvSpPr/>
          <p:nvPr/>
        </p:nvSpPr>
        <p:spPr>
          <a:xfrm>
            <a:off x="5248656" y="1609344"/>
            <a:ext cx="3401568" cy="566928"/>
          </a:xfrm>
          <a:prstGeom prst="rect">
            <a:avLst/>
          </a:prstGeom>
          <a:noFill/>
          <a:ln/>
        </p:spPr>
        <p:txBody>
          <a:bodyPr wrap="square" rtlCol="0" anchor="ctr"/>
          <a:lstStyle/>
          <a:p>
            <a:pPr indent="0" marL="0">
              <a:lnSpc>
                <a:spcPct val="135000"/>
              </a:lnSpc>
              <a:buNone/>
            </a:pPr>
            <a:r>
              <a:rPr lang="en-US" sz="1050" dirty="0">
                <a:solidFill>
                  <a:srgbClr val="64748B"/>
                </a:solidFill>
                <a:latin typeface="Calibri" pitchFamily="34" charset="0"/>
                <a:ea typeface="Calibri" pitchFamily="34" charset="-122"/>
                <a:cs typeface="Calibri" pitchFamily="34" charset="-120"/>
              </a:rPr>
              <a:t>Same complaint across 5 channels creates 5 tickets. Agents work in isolation. 2+ hours/day lost on manual deduplication.</a:t>
            </a:r>
            <a:endParaRPr lang="en-US" sz="1050" dirty="0"/>
          </a:p>
        </p:txBody>
      </p:sp>
      <p:sp>
        <p:nvSpPr>
          <p:cNvPr id="18" name="Shape 13"/>
          <p:cNvSpPr/>
          <p:nvPr/>
        </p:nvSpPr>
        <p:spPr>
          <a:xfrm>
            <a:off x="4572000" y="2377440"/>
            <a:ext cx="4251960" cy="1078992"/>
          </a:xfrm>
          <a:prstGeom prst="rect">
            <a:avLst/>
          </a:prstGeom>
          <a:solidFill>
            <a:srgbClr val="FFF3E8"/>
          </a:solidFill>
          <a:ln w="12700">
            <a:solidFill>
              <a:srgbClr val="E2E8F0"/>
            </a:solidFill>
            <a:prstDash val="solid"/>
          </a:ln>
        </p:spPr>
      </p:sp>
      <p:sp>
        <p:nvSpPr>
          <p:cNvPr id="19" name="Shape 14"/>
          <p:cNvSpPr/>
          <p:nvPr/>
        </p:nvSpPr>
        <p:spPr>
          <a:xfrm>
            <a:off x="4681728" y="2596896"/>
            <a:ext cx="475488" cy="475488"/>
          </a:xfrm>
          <a:prstGeom prst="ellipse">
            <a:avLst/>
          </a:prstGeom>
          <a:solidFill>
            <a:srgbClr val="F4A261"/>
          </a:solidFill>
          <a:ln w="12700">
            <a:solidFill>
              <a:srgbClr val="F4A261"/>
            </a:solidFill>
            <a:prstDash val="solid"/>
          </a:ln>
        </p:spPr>
      </p:sp>
      <p:pic>
        <p:nvPicPr>
          <p:cNvPr id="20" name="Image 3" descr="preencoded.png">    </p:cNvPr>
          <p:cNvPicPr>
            <a:picLocks noChangeAspect="1"/>
          </p:cNvPicPr>
          <p:nvPr/>
        </p:nvPicPr>
        <p:blipFill>
          <a:blip r:embed="rId4"/>
          <a:stretch>
            <a:fillRect/>
          </a:stretch>
        </p:blipFill>
        <p:spPr>
          <a:xfrm>
            <a:off x="4773168" y="2688336"/>
            <a:ext cx="292608" cy="292608"/>
          </a:xfrm>
          <a:prstGeom prst="rect">
            <a:avLst/>
          </a:prstGeom>
        </p:spPr>
      </p:pic>
      <p:sp>
        <p:nvSpPr>
          <p:cNvPr id="21" name="Text 15"/>
          <p:cNvSpPr/>
          <p:nvPr/>
        </p:nvSpPr>
        <p:spPr>
          <a:xfrm>
            <a:off x="5248656" y="2505456"/>
            <a:ext cx="3401568" cy="27432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No alert engine</a:t>
            </a:r>
            <a:endParaRPr lang="en-US" sz="1300" dirty="0"/>
          </a:p>
        </p:txBody>
      </p:sp>
      <p:sp>
        <p:nvSpPr>
          <p:cNvPr id="22" name="Text 16"/>
          <p:cNvSpPr/>
          <p:nvPr/>
        </p:nvSpPr>
        <p:spPr>
          <a:xfrm>
            <a:off x="5248656" y="2816352"/>
            <a:ext cx="3401568" cy="566928"/>
          </a:xfrm>
          <a:prstGeom prst="rect">
            <a:avLst/>
          </a:prstGeom>
          <a:noFill/>
          <a:ln/>
        </p:spPr>
        <p:txBody>
          <a:bodyPr wrap="square" rtlCol="0" anchor="ctr"/>
          <a:lstStyle/>
          <a:p>
            <a:pPr indent="0" marL="0">
              <a:lnSpc>
                <a:spcPct val="135000"/>
              </a:lnSpc>
              <a:buNone/>
            </a:pPr>
            <a:r>
              <a:rPr lang="en-US" sz="1050" dirty="0">
                <a:solidFill>
                  <a:srgbClr val="64748B"/>
                </a:solidFill>
                <a:latin typeface="Calibri" pitchFamily="34" charset="0"/>
                <a:ea typeface="Calibri" pitchFamily="34" charset="-122"/>
                <a:cs typeface="Calibri" pitchFamily="34" charset="-120"/>
              </a:rPr>
              <a:t>Ministerial tweet sat unanswered 40 minutes. One person watching manually. No escalation path. No SLA.</a:t>
            </a:r>
            <a:endParaRPr lang="en-US" sz="1050" dirty="0"/>
          </a:p>
        </p:txBody>
      </p:sp>
      <p:sp>
        <p:nvSpPr>
          <p:cNvPr id="23" name="Shape 17"/>
          <p:cNvSpPr/>
          <p:nvPr/>
        </p:nvSpPr>
        <p:spPr>
          <a:xfrm>
            <a:off x="4572000" y="3584448"/>
            <a:ext cx="4251960" cy="1078992"/>
          </a:xfrm>
          <a:prstGeom prst="rect">
            <a:avLst/>
          </a:prstGeom>
          <a:solidFill>
            <a:srgbClr val="F0FDF4"/>
          </a:solidFill>
          <a:ln w="12700">
            <a:solidFill>
              <a:srgbClr val="E2E8F0"/>
            </a:solidFill>
            <a:prstDash val="solid"/>
          </a:ln>
        </p:spPr>
      </p:sp>
      <p:sp>
        <p:nvSpPr>
          <p:cNvPr id="24" name="Shape 18"/>
          <p:cNvSpPr/>
          <p:nvPr/>
        </p:nvSpPr>
        <p:spPr>
          <a:xfrm>
            <a:off x="4681728" y="3803904"/>
            <a:ext cx="475488" cy="475488"/>
          </a:xfrm>
          <a:prstGeom prst="ellipse">
            <a:avLst/>
          </a:prstGeom>
          <a:solidFill>
            <a:srgbClr val="1A936F"/>
          </a:solidFill>
          <a:ln w="12700">
            <a:solidFill>
              <a:srgbClr val="1A936F"/>
            </a:solidFill>
            <a:prstDash val="solid"/>
          </a:ln>
        </p:spPr>
      </p:sp>
      <p:pic>
        <p:nvPicPr>
          <p:cNvPr id="25" name="Image 4" descr="preencoded.png">    </p:cNvPr>
          <p:cNvPicPr>
            <a:picLocks noChangeAspect="1"/>
          </p:cNvPicPr>
          <p:nvPr/>
        </p:nvPicPr>
        <p:blipFill>
          <a:blip r:embed="rId5"/>
          <a:stretch>
            <a:fillRect/>
          </a:stretch>
        </p:blipFill>
        <p:spPr>
          <a:xfrm>
            <a:off x="4773168" y="3895344"/>
            <a:ext cx="292608" cy="292608"/>
          </a:xfrm>
          <a:prstGeom prst="rect">
            <a:avLst/>
          </a:prstGeom>
        </p:spPr>
      </p:pic>
      <p:sp>
        <p:nvSpPr>
          <p:cNvPr id="26" name="Text 19"/>
          <p:cNvSpPr/>
          <p:nvPr/>
        </p:nvSpPr>
        <p:spPr>
          <a:xfrm>
            <a:off x="5248656" y="3712464"/>
            <a:ext cx="3401568" cy="27432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30% incomplete tickets</a:t>
            </a:r>
            <a:endParaRPr lang="en-US" sz="1300" dirty="0"/>
          </a:p>
        </p:txBody>
      </p:sp>
      <p:sp>
        <p:nvSpPr>
          <p:cNvPr id="27" name="Text 20"/>
          <p:cNvSpPr/>
          <p:nvPr/>
        </p:nvSpPr>
        <p:spPr>
          <a:xfrm>
            <a:off x="5248656" y="4023360"/>
            <a:ext cx="3401568" cy="566928"/>
          </a:xfrm>
          <a:prstGeom prst="rect">
            <a:avLst/>
          </a:prstGeom>
          <a:noFill/>
          <a:ln/>
        </p:spPr>
        <p:txBody>
          <a:bodyPr wrap="square" rtlCol="0" anchor="ctr"/>
          <a:lstStyle/>
          <a:p>
            <a:pPr indent="0" marL="0">
              <a:lnSpc>
                <a:spcPct val="135000"/>
              </a:lnSpc>
              <a:buNone/>
            </a:pPr>
            <a:r>
              <a:rPr lang="en-US" sz="1050" dirty="0">
                <a:solidFill>
                  <a:srgbClr val="64748B"/>
                </a:solidFill>
                <a:latin typeface="Calibri" pitchFamily="34" charset="0"/>
                <a:ea typeface="Calibri" pitchFamily="34" charset="-122"/>
                <a:cs typeface="Calibri" pitchFamily="34" charset="-120"/>
              </a:rPr>
              <a:t>Agents create tickets with missing meter number, bill ref, date. Call-back required for what an AI could ask in 30 seconds.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C39A"/>
                </a:solidFill>
                <a:latin typeface="Calibri" pitchFamily="34" charset="0"/>
                <a:ea typeface="Calibri" pitchFamily="34" charset="-122"/>
                <a:cs typeface="Calibri" pitchFamily="34" charset="-120"/>
              </a:rPr>
              <a:t>HOW I STRUCTURED THE IDEA</a:t>
            </a:r>
            <a:endParaRPr lang="en-US" sz="900" dirty="0"/>
          </a:p>
        </p:txBody>
      </p:sp>
      <p:sp>
        <p:nvSpPr>
          <p:cNvPr id="3" name="Text 1"/>
          <p:cNvSpPr/>
          <p:nvPr/>
        </p:nvSpPr>
        <p:spPr>
          <a:xfrm>
            <a:off x="457200" y="45720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Multi-agent review before a line of code.</a:t>
            </a:r>
            <a:endParaRPr lang="en-US" sz="2600" dirty="0"/>
          </a:p>
        </p:txBody>
      </p:sp>
      <p:sp>
        <p:nvSpPr>
          <p:cNvPr id="4" name="Shape 2"/>
          <p:cNvSpPr/>
          <p:nvPr/>
        </p:nvSpPr>
        <p:spPr>
          <a:xfrm>
            <a:off x="365760" y="1152144"/>
            <a:ext cx="2651760" cy="2212848"/>
          </a:xfrm>
          <a:prstGeom prst="rect">
            <a:avLst/>
          </a:prstGeom>
          <a:solidFill>
            <a:srgbClr val="0A2A30"/>
          </a:solidFill>
          <a:ln w="12700">
            <a:solidFill>
              <a:srgbClr val="2A4A6A"/>
            </a:solidFill>
            <a:prstDash val="solid"/>
          </a:ln>
        </p:spPr>
      </p:sp>
      <p:sp>
        <p:nvSpPr>
          <p:cNvPr id="5" name="Text 3"/>
          <p:cNvSpPr/>
          <p:nvPr/>
        </p:nvSpPr>
        <p:spPr>
          <a:xfrm>
            <a:off x="512064" y="1243584"/>
            <a:ext cx="457200" cy="292608"/>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512064" y="1554480"/>
            <a:ext cx="2359152" cy="329184"/>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UniServe</a:t>
            </a:r>
            <a:endParaRPr lang="en-US" sz="1800" dirty="0"/>
          </a:p>
        </p:txBody>
      </p:sp>
      <p:sp>
        <p:nvSpPr>
          <p:cNvPr id="7" name="Shape 5"/>
          <p:cNvSpPr/>
          <p:nvPr/>
        </p:nvSpPr>
        <p:spPr>
          <a:xfrm>
            <a:off x="493776" y="1938528"/>
            <a:ext cx="1645920" cy="256032"/>
          </a:xfrm>
          <a:prstGeom prst="roundRect">
            <a:avLst>
              <a:gd name="adj" fmla="val 50000"/>
            </a:avLst>
          </a:prstGeom>
          <a:solidFill>
            <a:srgbClr val="000000"/>
          </a:solidFill>
          <a:ln w="12700">
            <a:solidFill>
              <a:srgbClr val="02C39A"/>
            </a:solidFill>
            <a:prstDash val="solid"/>
          </a:ln>
        </p:spPr>
      </p:sp>
      <p:sp>
        <p:nvSpPr>
          <p:cNvPr id="8" name="Text 6"/>
          <p:cNvSpPr/>
          <p:nvPr/>
        </p:nvSpPr>
        <p:spPr>
          <a:xfrm>
            <a:off x="493776" y="1956816"/>
            <a:ext cx="1645920" cy="219456"/>
          </a:xfrm>
          <a:prstGeom prst="rect">
            <a:avLst/>
          </a:prstGeom>
          <a:noFill/>
          <a:ln/>
        </p:spPr>
        <p:txBody>
          <a:bodyPr wrap="square" rtlCol="0" anchor="ctr"/>
          <a:lstStyle/>
          <a:p>
            <a:pPr algn="ctr" indent="0" marL="0">
              <a:buNone/>
            </a:pPr>
            <a:r>
              <a:rPr lang="en-US" sz="900" b="1" dirty="0">
                <a:solidFill>
                  <a:srgbClr val="02C39A"/>
                </a:solidFill>
                <a:latin typeface="Calibri" pitchFamily="34" charset="0"/>
                <a:ea typeface="Calibri" pitchFamily="34" charset="-122"/>
                <a:cs typeface="Calibri" pitchFamily="34" charset="-120"/>
              </a:rPr>
              <a:t>CHOSEN</a:t>
            </a:r>
            <a:endParaRPr lang="en-US" sz="900" dirty="0"/>
          </a:p>
        </p:txBody>
      </p:sp>
      <p:sp>
        <p:nvSpPr>
          <p:cNvPr id="9" name="Text 7"/>
          <p:cNvSpPr/>
          <p:nvPr/>
        </p:nvSpPr>
        <p:spPr>
          <a:xfrm>
            <a:off x="493776" y="2322576"/>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AI complaint portal</a:t>
            </a:r>
            <a:endParaRPr lang="en-US" sz="1000" dirty="0"/>
          </a:p>
        </p:txBody>
      </p:sp>
      <p:sp>
        <p:nvSpPr>
          <p:cNvPr id="10" name="Text 8"/>
          <p:cNvSpPr/>
          <p:nvPr/>
        </p:nvSpPr>
        <p:spPr>
          <a:xfrm>
            <a:off x="493776" y="2578608"/>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Anchored: TNEB interviews</a:t>
            </a:r>
            <a:endParaRPr lang="en-US" sz="1000" dirty="0"/>
          </a:p>
        </p:txBody>
      </p:sp>
      <p:sp>
        <p:nvSpPr>
          <p:cNvPr id="11" name="Text 9"/>
          <p:cNvSpPr/>
          <p:nvPr/>
        </p:nvSpPr>
        <p:spPr>
          <a:xfrm>
            <a:off x="493776" y="2834640"/>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Bottom-up from observed pain</a:t>
            </a:r>
            <a:endParaRPr lang="en-US" sz="1000" dirty="0"/>
          </a:p>
        </p:txBody>
      </p:sp>
      <p:sp>
        <p:nvSpPr>
          <p:cNvPr id="12" name="Shape 10"/>
          <p:cNvSpPr/>
          <p:nvPr/>
        </p:nvSpPr>
        <p:spPr>
          <a:xfrm>
            <a:off x="3200400" y="1152144"/>
            <a:ext cx="2651760" cy="2212848"/>
          </a:xfrm>
          <a:prstGeom prst="rect">
            <a:avLst/>
          </a:prstGeom>
          <a:solidFill>
            <a:srgbClr val="1A1000"/>
          </a:solidFill>
          <a:ln w="12700">
            <a:solidFill>
              <a:srgbClr val="2A4A6A"/>
            </a:solidFill>
            <a:prstDash val="solid"/>
          </a:ln>
        </p:spPr>
      </p:sp>
      <p:sp>
        <p:nvSpPr>
          <p:cNvPr id="13" name="Text 11"/>
          <p:cNvSpPr/>
          <p:nvPr/>
        </p:nvSpPr>
        <p:spPr>
          <a:xfrm>
            <a:off x="3346704" y="1243584"/>
            <a:ext cx="457200" cy="292608"/>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3346704" y="1554480"/>
            <a:ext cx="2359152" cy="329184"/>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DocForge</a:t>
            </a:r>
            <a:endParaRPr lang="en-US" sz="1800" dirty="0"/>
          </a:p>
        </p:txBody>
      </p:sp>
      <p:sp>
        <p:nvSpPr>
          <p:cNvPr id="15" name="Shape 13"/>
          <p:cNvSpPr/>
          <p:nvPr/>
        </p:nvSpPr>
        <p:spPr>
          <a:xfrm>
            <a:off x="3328416" y="1938528"/>
            <a:ext cx="1645920" cy="256032"/>
          </a:xfrm>
          <a:prstGeom prst="roundRect">
            <a:avLst>
              <a:gd name="adj" fmla="val 50000"/>
            </a:avLst>
          </a:prstGeom>
          <a:solidFill>
            <a:srgbClr val="000000"/>
          </a:solidFill>
          <a:ln w="12700">
            <a:solidFill>
              <a:srgbClr val="F4A261"/>
            </a:solidFill>
            <a:prstDash val="solid"/>
          </a:ln>
        </p:spPr>
      </p:sp>
      <p:sp>
        <p:nvSpPr>
          <p:cNvPr id="16" name="Text 14"/>
          <p:cNvSpPr/>
          <p:nvPr/>
        </p:nvSpPr>
        <p:spPr>
          <a:xfrm>
            <a:off x="3328416" y="1956816"/>
            <a:ext cx="1645920" cy="219456"/>
          </a:xfrm>
          <a:prstGeom prst="rect">
            <a:avLst/>
          </a:prstGeom>
          <a:noFill/>
          <a:ln/>
        </p:spPr>
        <p:txBody>
          <a:bodyPr wrap="square" rtlCol="0" anchor="ctr"/>
          <a:lstStyle/>
          <a:p>
            <a:pPr algn="ctr" indent="0" marL="0">
              <a:buNone/>
            </a:pPr>
            <a:r>
              <a:rPr lang="en-US" sz="900" b="1" dirty="0">
                <a:solidFill>
                  <a:srgbClr val="F4A261"/>
                </a:solidFill>
                <a:latin typeface="Calibri" pitchFamily="34" charset="0"/>
                <a:ea typeface="Calibri" pitchFamily="34" charset="-122"/>
                <a:cs typeface="Calibri" pitchFamily="34" charset="-120"/>
              </a:rPr>
              <a:t>Strong runner-up</a:t>
            </a:r>
            <a:endParaRPr lang="en-US" sz="900" dirty="0"/>
          </a:p>
        </p:txBody>
      </p:sp>
      <p:sp>
        <p:nvSpPr>
          <p:cNvPr id="17" name="Text 15"/>
          <p:cNvSpPr/>
          <p:nvPr/>
        </p:nvSpPr>
        <p:spPr>
          <a:xfrm>
            <a:off x="3328416" y="2322576"/>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AI engineering docs</a:t>
            </a:r>
            <a:endParaRPr lang="en-US" sz="1000" dirty="0"/>
          </a:p>
        </p:txBody>
      </p:sp>
      <p:sp>
        <p:nvSpPr>
          <p:cNvPr id="18" name="Text 16"/>
          <p:cNvSpPr/>
          <p:nvPr/>
        </p:nvSpPr>
        <p:spPr>
          <a:xfrm>
            <a:off x="3328416" y="2578608"/>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For semiconductor manufacturers</a:t>
            </a:r>
            <a:endParaRPr lang="en-US" sz="1000" dirty="0"/>
          </a:p>
        </p:txBody>
      </p:sp>
      <p:sp>
        <p:nvSpPr>
          <p:cNvPr id="19" name="Text 17"/>
          <p:cNvSpPr/>
          <p:nvPr/>
        </p:nvSpPr>
        <p:spPr>
          <a:xfrm>
            <a:off x="3328416" y="2834640"/>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No direct interview yet</a:t>
            </a:r>
            <a:endParaRPr lang="en-US" sz="1000" dirty="0"/>
          </a:p>
        </p:txBody>
      </p:sp>
      <p:sp>
        <p:nvSpPr>
          <p:cNvPr id="20" name="Shape 18"/>
          <p:cNvSpPr/>
          <p:nvPr/>
        </p:nvSpPr>
        <p:spPr>
          <a:xfrm>
            <a:off x="6035040" y="1152144"/>
            <a:ext cx="2651760" cy="2212848"/>
          </a:xfrm>
          <a:prstGeom prst="rect">
            <a:avLst/>
          </a:prstGeom>
          <a:solidFill>
            <a:srgbClr val="1A0A0A"/>
          </a:solidFill>
          <a:ln w="12700">
            <a:solidFill>
              <a:srgbClr val="2A4A6A"/>
            </a:solidFill>
            <a:prstDash val="solid"/>
          </a:ln>
        </p:spPr>
      </p:sp>
      <p:sp>
        <p:nvSpPr>
          <p:cNvPr id="21" name="Text 19"/>
          <p:cNvSpPr/>
          <p:nvPr/>
        </p:nvSpPr>
        <p:spPr>
          <a:xfrm>
            <a:off x="6181344" y="1243584"/>
            <a:ext cx="457200" cy="292608"/>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03</a:t>
            </a:r>
            <a:endParaRPr lang="en-US" sz="1300" dirty="0"/>
          </a:p>
        </p:txBody>
      </p:sp>
      <p:sp>
        <p:nvSpPr>
          <p:cNvPr id="22" name="Text 20"/>
          <p:cNvSpPr/>
          <p:nvPr/>
        </p:nvSpPr>
        <p:spPr>
          <a:xfrm>
            <a:off x="6181344" y="1554480"/>
            <a:ext cx="2359152" cy="329184"/>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Market Intel</a:t>
            </a:r>
            <a:endParaRPr lang="en-US" sz="1800" dirty="0"/>
          </a:p>
        </p:txBody>
      </p:sp>
      <p:sp>
        <p:nvSpPr>
          <p:cNvPr id="23" name="Shape 21"/>
          <p:cNvSpPr/>
          <p:nvPr/>
        </p:nvSpPr>
        <p:spPr>
          <a:xfrm>
            <a:off x="6163056" y="1938528"/>
            <a:ext cx="1645920" cy="256032"/>
          </a:xfrm>
          <a:prstGeom prst="roundRect">
            <a:avLst>
              <a:gd name="adj" fmla="val 50000"/>
            </a:avLst>
          </a:prstGeom>
          <a:solidFill>
            <a:srgbClr val="000000"/>
          </a:solidFill>
          <a:ln w="12700">
            <a:solidFill>
              <a:srgbClr val="E07B54"/>
            </a:solidFill>
            <a:prstDash val="solid"/>
          </a:ln>
        </p:spPr>
      </p:sp>
      <p:sp>
        <p:nvSpPr>
          <p:cNvPr id="24" name="Text 22"/>
          <p:cNvSpPr/>
          <p:nvPr/>
        </p:nvSpPr>
        <p:spPr>
          <a:xfrm>
            <a:off x="6163056" y="1956816"/>
            <a:ext cx="1645920" cy="219456"/>
          </a:xfrm>
          <a:prstGeom prst="rect">
            <a:avLst/>
          </a:prstGeom>
          <a:noFill/>
          <a:ln/>
        </p:spPr>
        <p:txBody>
          <a:bodyPr wrap="square" rtlCol="0" anchor="ctr"/>
          <a:lstStyle/>
          <a:p>
            <a:pPr algn="ctr" indent="0" marL="0">
              <a:buNone/>
            </a:pPr>
            <a:r>
              <a:rPr lang="en-US" sz="900" b="1" dirty="0">
                <a:solidFill>
                  <a:srgbClr val="E07B54"/>
                </a:solidFill>
                <a:latin typeface="Calibri" pitchFamily="34" charset="0"/>
                <a:ea typeface="Calibri" pitchFamily="34" charset="-122"/>
                <a:cs typeface="Calibri" pitchFamily="34" charset="-120"/>
              </a:rPr>
              <a:t>Eliminated early</a:t>
            </a:r>
            <a:endParaRPr lang="en-US" sz="900" dirty="0"/>
          </a:p>
        </p:txBody>
      </p:sp>
      <p:sp>
        <p:nvSpPr>
          <p:cNvPr id="25" name="Text 23"/>
          <p:cNvSpPr/>
          <p:nvPr/>
        </p:nvSpPr>
        <p:spPr>
          <a:xfrm>
            <a:off x="6163056" y="2322576"/>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Retail analytics</a:t>
            </a:r>
            <a:endParaRPr lang="en-US" sz="1000" dirty="0"/>
          </a:p>
        </p:txBody>
      </p:sp>
      <p:sp>
        <p:nvSpPr>
          <p:cNvPr id="26" name="Text 24"/>
          <p:cNvSpPr/>
          <p:nvPr/>
        </p:nvSpPr>
        <p:spPr>
          <a:xfrm>
            <a:off x="6163056" y="2578608"/>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Top-down concept</a:t>
            </a:r>
            <a:endParaRPr lang="en-US" sz="1000" dirty="0"/>
          </a:p>
        </p:txBody>
      </p:sp>
      <p:sp>
        <p:nvSpPr>
          <p:cNvPr id="27" name="Text 25"/>
          <p:cNvSpPr/>
          <p:nvPr/>
        </p:nvSpPr>
        <p:spPr>
          <a:xfrm>
            <a:off x="6163056" y="2834640"/>
            <a:ext cx="2395728" cy="219456"/>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No data anchor, no interviews</a:t>
            </a:r>
            <a:endParaRPr lang="en-US" sz="1000" dirty="0"/>
          </a:p>
        </p:txBody>
      </p:sp>
      <p:sp>
        <p:nvSpPr>
          <p:cNvPr id="28" name="Shape 26"/>
          <p:cNvSpPr/>
          <p:nvPr/>
        </p:nvSpPr>
        <p:spPr>
          <a:xfrm>
            <a:off x="365760" y="3493008"/>
            <a:ext cx="8412480" cy="1225296"/>
          </a:xfrm>
          <a:prstGeom prst="rect">
            <a:avLst/>
          </a:prstGeom>
          <a:solidFill>
            <a:srgbClr val="0A1628"/>
          </a:solidFill>
          <a:ln w="12700">
            <a:solidFill>
              <a:srgbClr val="028090"/>
            </a:solidFill>
            <a:prstDash val="solid"/>
          </a:ln>
        </p:spPr>
      </p:sp>
      <p:pic>
        <p:nvPicPr>
          <p:cNvPr id="29" name="Image 0" descr="preencoded.png">    </p:cNvPr>
          <p:cNvPicPr>
            <a:picLocks noChangeAspect="1"/>
          </p:cNvPicPr>
          <p:nvPr/>
        </p:nvPicPr>
        <p:blipFill>
          <a:blip r:embed="rId1"/>
          <a:stretch>
            <a:fillRect/>
          </a:stretch>
        </p:blipFill>
        <p:spPr>
          <a:xfrm>
            <a:off x="530352" y="3639312"/>
            <a:ext cx="329184" cy="329184"/>
          </a:xfrm>
          <a:prstGeom prst="rect">
            <a:avLst/>
          </a:prstGeom>
        </p:spPr>
      </p:pic>
      <p:sp>
        <p:nvSpPr>
          <p:cNvPr id="30" name="Text 27"/>
          <p:cNvSpPr/>
          <p:nvPr/>
        </p:nvSpPr>
        <p:spPr>
          <a:xfrm>
            <a:off x="932688" y="3547872"/>
            <a:ext cx="3657600" cy="274320"/>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Multi-agent review framework</a:t>
            </a:r>
            <a:endParaRPr lang="en-US" sz="1100" dirty="0"/>
          </a:p>
        </p:txBody>
      </p:sp>
      <p:sp>
        <p:nvSpPr>
          <p:cNvPr id="31" name="Text 28"/>
          <p:cNvSpPr/>
          <p:nvPr/>
        </p:nvSpPr>
        <p:spPr>
          <a:xfrm>
            <a:off x="932688" y="3858768"/>
            <a:ext cx="3840480" cy="219456"/>
          </a:xfrm>
          <a:prstGeom prst="rect">
            <a:avLst/>
          </a:prstGeom>
          <a:noFill/>
          <a:ln/>
        </p:spPr>
        <p:txBody>
          <a:bodyPr wrap="square" rtlCol="0" anchor="ctr"/>
          <a:lstStyle/>
          <a:p>
            <a:pPr indent="0" marL="0">
              <a:buNone/>
            </a:pPr>
            <a:r>
              <a:rPr lang="en-US" sz="1000" dirty="0">
                <a:solidFill>
                  <a:srgbClr val="C8E4EC"/>
                </a:solidFill>
                <a:latin typeface="Calibri" pitchFamily="34" charset="0"/>
                <a:ea typeface="Calibri" pitchFamily="34" charset="-122"/>
                <a:cs typeface="Calibri" pitchFamily="34" charset="-120"/>
              </a:rPr>
              <a:t>▸  Feasibility reviewer</a:t>
            </a:r>
            <a:endParaRPr lang="en-US" sz="1000" dirty="0"/>
          </a:p>
        </p:txBody>
      </p:sp>
      <p:sp>
        <p:nvSpPr>
          <p:cNvPr id="32" name="Text 29"/>
          <p:cNvSpPr/>
          <p:nvPr/>
        </p:nvSpPr>
        <p:spPr>
          <a:xfrm>
            <a:off x="932688" y="4096512"/>
            <a:ext cx="3840480" cy="219456"/>
          </a:xfrm>
          <a:prstGeom prst="rect">
            <a:avLst/>
          </a:prstGeom>
          <a:noFill/>
          <a:ln/>
        </p:spPr>
        <p:txBody>
          <a:bodyPr wrap="square" rtlCol="0" anchor="ctr"/>
          <a:lstStyle/>
          <a:p>
            <a:pPr indent="0" marL="0">
              <a:buNone/>
            </a:pPr>
            <a:r>
              <a:rPr lang="en-US" sz="1000" dirty="0">
                <a:solidFill>
                  <a:srgbClr val="C8E4EC"/>
                </a:solidFill>
                <a:latin typeface="Calibri" pitchFamily="34" charset="0"/>
                <a:ea typeface="Calibri" pitchFamily="34" charset="-122"/>
                <a:cs typeface="Calibri" pitchFamily="34" charset="-120"/>
              </a:rPr>
              <a:t>▸  Innovation reviewer</a:t>
            </a:r>
            <a:endParaRPr lang="en-US" sz="1000" dirty="0"/>
          </a:p>
        </p:txBody>
      </p:sp>
      <p:sp>
        <p:nvSpPr>
          <p:cNvPr id="33" name="Text 30"/>
          <p:cNvSpPr/>
          <p:nvPr/>
        </p:nvSpPr>
        <p:spPr>
          <a:xfrm>
            <a:off x="932688" y="4334256"/>
            <a:ext cx="3840480" cy="219456"/>
          </a:xfrm>
          <a:prstGeom prst="rect">
            <a:avLst/>
          </a:prstGeom>
          <a:noFill/>
          <a:ln/>
        </p:spPr>
        <p:txBody>
          <a:bodyPr wrap="square" rtlCol="0" anchor="ctr"/>
          <a:lstStyle/>
          <a:p>
            <a:pPr indent="0" marL="0">
              <a:buNone/>
            </a:pPr>
            <a:r>
              <a:rPr lang="en-US" sz="1000" dirty="0">
                <a:solidFill>
                  <a:srgbClr val="C8E4EC"/>
                </a:solidFill>
                <a:latin typeface="Calibri" pitchFamily="34" charset="0"/>
                <a:ea typeface="Calibri" pitchFamily="34" charset="-122"/>
                <a:cs typeface="Calibri" pitchFamily="34" charset="-120"/>
              </a:rPr>
              <a:t>▸  Impact reviewer</a:t>
            </a:r>
            <a:endParaRPr lang="en-US" sz="1000" dirty="0"/>
          </a:p>
        </p:txBody>
      </p:sp>
      <p:sp>
        <p:nvSpPr>
          <p:cNvPr id="34" name="Text 31"/>
          <p:cNvSpPr/>
          <p:nvPr/>
        </p:nvSpPr>
        <p:spPr>
          <a:xfrm>
            <a:off x="5047488" y="3858768"/>
            <a:ext cx="3840480" cy="219456"/>
          </a:xfrm>
          <a:prstGeom prst="rect">
            <a:avLst/>
          </a:prstGeom>
          <a:noFill/>
          <a:ln/>
        </p:spPr>
        <p:txBody>
          <a:bodyPr wrap="square" rtlCol="0" anchor="ctr"/>
          <a:lstStyle/>
          <a:p>
            <a:pPr indent="0" marL="0">
              <a:buNone/>
            </a:pPr>
            <a:r>
              <a:rPr lang="en-US" sz="1000" dirty="0">
                <a:solidFill>
                  <a:srgbClr val="C8E4EC"/>
                </a:solidFill>
                <a:latin typeface="Calibri" pitchFamily="34" charset="0"/>
                <a:ea typeface="Calibri" pitchFamily="34" charset="-122"/>
                <a:cs typeface="Calibri" pitchFamily="34" charset="-120"/>
              </a:rPr>
              <a:t>▸  Scope-risk reviewer</a:t>
            </a:r>
            <a:endParaRPr lang="en-US" sz="1000" dirty="0"/>
          </a:p>
        </p:txBody>
      </p:sp>
      <p:sp>
        <p:nvSpPr>
          <p:cNvPr id="35" name="Text 32"/>
          <p:cNvSpPr/>
          <p:nvPr/>
        </p:nvSpPr>
        <p:spPr>
          <a:xfrm>
            <a:off x="5047488" y="4096512"/>
            <a:ext cx="3840480" cy="219456"/>
          </a:xfrm>
          <a:prstGeom prst="rect">
            <a:avLst/>
          </a:prstGeom>
          <a:noFill/>
          <a:ln/>
        </p:spPr>
        <p:txBody>
          <a:bodyPr wrap="square" rtlCol="0" anchor="ctr"/>
          <a:lstStyle/>
          <a:p>
            <a:pPr indent="0" marL="0">
              <a:buNone/>
            </a:pPr>
            <a:r>
              <a:rPr lang="en-US" sz="1000" dirty="0">
                <a:solidFill>
                  <a:srgbClr val="C8E4EC"/>
                </a:solidFill>
                <a:latin typeface="Calibri" pitchFamily="34" charset="0"/>
                <a:ea typeface="Calibri" pitchFamily="34" charset="-122"/>
                <a:cs typeface="Calibri" pitchFamily="34" charset="-120"/>
              </a:rPr>
              <a:t>▸  Skeptic debater</a:t>
            </a:r>
            <a:endParaRPr lang="en-US" sz="1000" dirty="0"/>
          </a:p>
        </p:txBody>
      </p:sp>
      <p:sp>
        <p:nvSpPr>
          <p:cNvPr id="36" name="Text 33"/>
          <p:cNvSpPr/>
          <p:nvPr/>
        </p:nvSpPr>
        <p:spPr>
          <a:xfrm>
            <a:off x="5047488" y="4334256"/>
            <a:ext cx="3840480" cy="219456"/>
          </a:xfrm>
          <a:prstGeom prst="rect">
            <a:avLst/>
          </a:prstGeom>
          <a:noFill/>
          <a:ln/>
        </p:spPr>
        <p:txBody>
          <a:bodyPr wrap="square" rtlCol="0" anchor="ctr"/>
          <a:lstStyle/>
          <a:p>
            <a:pPr indent="0" marL="0">
              <a:buNone/>
            </a:pPr>
            <a:r>
              <a:rPr lang="en-US" sz="1000" dirty="0">
                <a:solidFill>
                  <a:srgbClr val="C8E4EC"/>
                </a:solidFill>
                <a:latin typeface="Calibri" pitchFamily="34" charset="0"/>
                <a:ea typeface="Calibri" pitchFamily="34" charset="-122"/>
                <a:cs typeface="Calibri" pitchFamily="34" charset="-120"/>
              </a:rPr>
              <a:t>▸  Champion debater</a:t>
            </a:r>
            <a:endParaRPr lang="en-US" sz="1000" dirty="0"/>
          </a:p>
        </p:txBody>
      </p:sp>
      <p:sp>
        <p:nvSpPr>
          <p:cNvPr id="37" name="Text 34"/>
          <p:cNvSpPr/>
          <p:nvPr/>
        </p:nvSpPr>
        <p:spPr>
          <a:xfrm>
            <a:off x="530352" y="4517136"/>
            <a:ext cx="8046720" cy="237744"/>
          </a:xfrm>
          <a:prstGeom prst="rect">
            <a:avLst/>
          </a:prstGeom>
          <a:noFill/>
          <a:ln/>
        </p:spPr>
        <p:txBody>
          <a:bodyPr wrap="square" rtlCol="0" anchor="ctr"/>
          <a:lstStyle/>
          <a:p>
            <a:pPr indent="0" marL="0">
              <a:buNone/>
            </a:pPr>
            <a:r>
              <a:rPr lang="en-US" sz="1000" i="1" dirty="0">
                <a:solidFill>
                  <a:srgbClr val="F4A261"/>
                </a:solidFill>
                <a:latin typeface="Calibri" pitchFamily="34" charset="0"/>
                <a:ea typeface="Calibri" pitchFamily="34" charset="-122"/>
                <a:cs typeface="Calibri" pitchFamily="34" charset="-120"/>
              </a:rPr>
              <a:t>Each idea scored independently → debated → moderated → decision documented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8090"/>
                </a:solidFill>
                <a:latin typeface="Calibri" pitchFamily="34" charset="0"/>
                <a:ea typeface="Calibri" pitchFamily="34" charset="-122"/>
                <a:cs typeface="Calibri" pitchFamily="34" charset="-120"/>
              </a:rPr>
              <a:t>ARCHITECTURE</a:t>
            </a:r>
            <a:endParaRPr lang="en-US" sz="900" dirty="0"/>
          </a:p>
        </p:txBody>
      </p:sp>
      <p:sp>
        <p:nvSpPr>
          <p:cNvPr id="3" name="Text 1"/>
          <p:cNvSpPr/>
          <p:nvPr/>
        </p:nvSpPr>
        <p:spPr>
          <a:xfrm>
            <a:off x="457200" y="457200"/>
            <a:ext cx="8229600" cy="530352"/>
          </a:xfrm>
          <a:prstGeom prst="rect">
            <a:avLst/>
          </a:prstGeom>
          <a:noFill/>
          <a:ln/>
        </p:spPr>
        <p:txBody>
          <a:bodyPr wrap="square" rtlCol="0" anchor="ctr"/>
          <a:lstStyle/>
          <a:p>
            <a:pPr indent="0" marL="0">
              <a:buNone/>
            </a:pPr>
            <a:r>
              <a:rPr lang="en-US" sz="2400" b="1" dirty="0">
                <a:solidFill>
                  <a:srgbClr val="0D1B2A"/>
                </a:solidFill>
                <a:latin typeface="Cambria" pitchFamily="34" charset="0"/>
                <a:ea typeface="Cambria" pitchFamily="34" charset="-122"/>
                <a:cs typeface="Cambria" pitchFamily="34" charset="-120"/>
              </a:rPr>
              <a:t>Four services. One event bus. No direct coupling.</a:t>
            </a:r>
            <a:endParaRPr lang="en-US" sz="2400" dirty="0"/>
          </a:p>
        </p:txBody>
      </p:sp>
      <p:sp>
        <p:nvSpPr>
          <p:cNvPr id="4" name="Shape 2"/>
          <p:cNvSpPr/>
          <p:nvPr/>
        </p:nvSpPr>
        <p:spPr>
          <a:xfrm>
            <a:off x="347472" y="1115568"/>
            <a:ext cx="2029968" cy="2487168"/>
          </a:xfrm>
          <a:prstGeom prst="rect">
            <a:avLst/>
          </a:prstGeom>
          <a:solidFill>
            <a:srgbClr val="E8F6F8"/>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475488" y="1225296"/>
            <a:ext cx="530352" cy="530352"/>
          </a:xfrm>
          <a:prstGeom prst="ellipse">
            <a:avLst/>
          </a:prstGeom>
          <a:solidFill>
            <a:srgbClr val="028090"/>
          </a:solidFill>
          <a:ln w="12700">
            <a:solidFill>
              <a:srgbClr val="028090"/>
            </a:solidFill>
            <a:prstDash val="solid"/>
          </a:ln>
        </p:spPr>
      </p:sp>
      <p:pic>
        <p:nvPicPr>
          <p:cNvPr id="6" name="Image 0" descr="preencoded.png">    </p:cNvPr>
          <p:cNvPicPr>
            <a:picLocks noChangeAspect="1"/>
          </p:cNvPicPr>
          <p:nvPr/>
        </p:nvPicPr>
        <p:blipFill>
          <a:blip r:embed="rId1"/>
          <a:stretch>
            <a:fillRect/>
          </a:stretch>
        </p:blipFill>
        <p:spPr>
          <a:xfrm>
            <a:off x="566928" y="1316736"/>
            <a:ext cx="347472" cy="347472"/>
          </a:xfrm>
          <a:prstGeom prst="rect">
            <a:avLst/>
          </a:prstGeom>
        </p:spPr>
      </p:pic>
      <p:sp>
        <p:nvSpPr>
          <p:cNvPr id="7" name="Text 4"/>
          <p:cNvSpPr/>
          <p:nvPr/>
        </p:nvSpPr>
        <p:spPr>
          <a:xfrm>
            <a:off x="475488" y="1847088"/>
            <a:ext cx="1773936" cy="274320"/>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api-gateway</a:t>
            </a:r>
            <a:endParaRPr lang="en-US" sz="1200" dirty="0"/>
          </a:p>
        </p:txBody>
      </p:sp>
      <p:sp>
        <p:nvSpPr>
          <p:cNvPr id="8" name="Text 5"/>
          <p:cNvSpPr/>
          <p:nvPr/>
        </p:nvSpPr>
        <p:spPr>
          <a:xfrm>
            <a:off x="475488" y="2121408"/>
            <a:ext cx="1773936" cy="219456"/>
          </a:xfrm>
          <a:prstGeom prst="rect">
            <a:avLst/>
          </a:prstGeom>
          <a:noFill/>
          <a:ln/>
        </p:spPr>
        <p:txBody>
          <a:bodyPr wrap="square" rtlCol="0" anchor="ctr"/>
          <a:lstStyle/>
          <a:p>
            <a:pPr indent="0" marL="0">
              <a:buNone/>
            </a:pPr>
            <a:r>
              <a:rPr lang="en-US" sz="950" b="1" dirty="0">
                <a:solidFill>
                  <a:srgbClr val="028090"/>
                </a:solidFill>
                <a:latin typeface="Calibri" pitchFamily="34" charset="0"/>
                <a:ea typeface="Calibri" pitchFamily="34" charset="-122"/>
                <a:cs typeface="Calibri" pitchFamily="34" charset="-120"/>
              </a:rPr>
              <a:t>Quarkus Java 21</a:t>
            </a:r>
            <a:endParaRPr lang="en-US" sz="950" dirty="0"/>
          </a:p>
        </p:txBody>
      </p:sp>
      <p:sp>
        <p:nvSpPr>
          <p:cNvPr id="9" name="Text 6"/>
          <p:cNvSpPr/>
          <p:nvPr/>
        </p:nvSpPr>
        <p:spPr>
          <a:xfrm>
            <a:off x="475488" y="2377440"/>
            <a:ext cx="1773936" cy="768096"/>
          </a:xfrm>
          <a:prstGeom prst="rect">
            <a:avLst/>
          </a:prstGeom>
          <a:noFill/>
          <a:ln/>
        </p:spPr>
        <p:txBody>
          <a:bodyPr wrap="square" rtlCol="0" anchor="ctr"/>
          <a:lstStyle/>
          <a:p>
            <a:pPr indent="0" marL="0">
              <a:lnSpc>
                <a:spcPct val="135000"/>
              </a:lnSpc>
              <a:buNone/>
            </a:pPr>
            <a:r>
              <a:rPr lang="en-US" sz="900" dirty="0">
                <a:solidFill>
                  <a:srgbClr val="64748B"/>
                </a:solidFill>
                <a:latin typeface="Calibri" pitchFamily="34" charset="0"/>
                <a:ea typeface="Calibri" pitchFamily="34" charset="-122"/>
                <a:cs typeface="Calibri" pitchFamily="34" charset="-120"/>
              </a:rPr>
              <a:t>Public-facing. Receives Email &amp; WhatsApp. JWT auth. Routes events to bus.</a:t>
            </a:r>
            <a:endParaRPr lang="en-US" sz="900" dirty="0"/>
          </a:p>
        </p:txBody>
      </p:sp>
      <p:sp>
        <p:nvSpPr>
          <p:cNvPr id="10" name="Shape 7"/>
          <p:cNvSpPr/>
          <p:nvPr/>
        </p:nvSpPr>
        <p:spPr>
          <a:xfrm>
            <a:off x="658368" y="3438144"/>
            <a:ext cx="1737360" cy="292608"/>
          </a:xfrm>
          <a:prstGeom prst="roundRect">
            <a:avLst>
              <a:gd name="adj" fmla="val 50000"/>
            </a:avLst>
          </a:prstGeom>
          <a:solidFill>
            <a:srgbClr val="1A2A3A"/>
          </a:solidFill>
          <a:ln w="12700">
            <a:solidFill>
              <a:srgbClr val="1A2A3A"/>
            </a:solidFill>
            <a:prstDash val="solid"/>
          </a:ln>
        </p:spPr>
      </p:sp>
      <p:sp>
        <p:nvSpPr>
          <p:cNvPr id="11" name="Text 8"/>
          <p:cNvSpPr/>
          <p:nvPr/>
        </p:nvSpPr>
        <p:spPr>
          <a:xfrm>
            <a:off x="658368" y="3438144"/>
            <a:ext cx="1737360" cy="292608"/>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Port: 8080</a:t>
            </a:r>
            <a:endParaRPr lang="en-US" sz="950" dirty="0"/>
          </a:p>
        </p:txBody>
      </p:sp>
      <p:sp>
        <p:nvSpPr>
          <p:cNvPr id="12" name="Shape 9"/>
          <p:cNvSpPr/>
          <p:nvPr/>
        </p:nvSpPr>
        <p:spPr>
          <a:xfrm>
            <a:off x="2523744" y="1115568"/>
            <a:ext cx="2029968" cy="2487168"/>
          </a:xfrm>
          <a:prstGeom prst="rect">
            <a:avLst/>
          </a:prstGeom>
          <a:solidFill>
            <a:srgbClr val="FFF3E8"/>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3" name="Shape 10"/>
          <p:cNvSpPr/>
          <p:nvPr/>
        </p:nvSpPr>
        <p:spPr>
          <a:xfrm>
            <a:off x="2651760" y="1225296"/>
            <a:ext cx="530352" cy="530352"/>
          </a:xfrm>
          <a:prstGeom prst="ellipse">
            <a:avLst/>
          </a:prstGeom>
          <a:solidFill>
            <a:srgbClr val="F4A261"/>
          </a:solidFill>
          <a:ln w="12700">
            <a:solidFill>
              <a:srgbClr val="F4A261"/>
            </a:solidFill>
            <a:prstDash val="solid"/>
          </a:ln>
        </p:spPr>
      </p:sp>
      <p:pic>
        <p:nvPicPr>
          <p:cNvPr id="14" name="Image 1" descr="preencoded.png">    </p:cNvPr>
          <p:cNvPicPr>
            <a:picLocks noChangeAspect="1"/>
          </p:cNvPicPr>
          <p:nvPr/>
        </p:nvPicPr>
        <p:blipFill>
          <a:blip r:embed="rId2"/>
          <a:stretch>
            <a:fillRect/>
          </a:stretch>
        </p:blipFill>
        <p:spPr>
          <a:xfrm>
            <a:off x="2743200" y="1316736"/>
            <a:ext cx="347472" cy="347472"/>
          </a:xfrm>
          <a:prstGeom prst="rect">
            <a:avLst/>
          </a:prstGeom>
        </p:spPr>
      </p:pic>
      <p:sp>
        <p:nvSpPr>
          <p:cNvPr id="15" name="Text 11"/>
          <p:cNvSpPr/>
          <p:nvPr/>
        </p:nvSpPr>
        <p:spPr>
          <a:xfrm>
            <a:off x="2651760" y="1847088"/>
            <a:ext cx="1773936" cy="274320"/>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ai-core</a:t>
            </a:r>
            <a:endParaRPr lang="en-US" sz="1200" dirty="0"/>
          </a:p>
        </p:txBody>
      </p:sp>
      <p:sp>
        <p:nvSpPr>
          <p:cNvPr id="16" name="Text 12"/>
          <p:cNvSpPr/>
          <p:nvPr/>
        </p:nvSpPr>
        <p:spPr>
          <a:xfrm>
            <a:off x="2651760" y="2121408"/>
            <a:ext cx="1773936" cy="219456"/>
          </a:xfrm>
          <a:prstGeom prst="rect">
            <a:avLst/>
          </a:prstGeom>
          <a:noFill/>
          <a:ln/>
        </p:spPr>
        <p:txBody>
          <a:bodyPr wrap="square" rtlCol="0" anchor="ctr"/>
          <a:lstStyle/>
          <a:p>
            <a:pPr indent="0" marL="0">
              <a:buNone/>
            </a:pPr>
            <a:r>
              <a:rPr lang="en-US" sz="950" b="1" dirty="0">
                <a:solidFill>
                  <a:srgbClr val="F4A261"/>
                </a:solidFill>
                <a:latin typeface="Calibri" pitchFamily="34" charset="0"/>
                <a:ea typeface="Calibri" pitchFamily="34" charset="-122"/>
                <a:cs typeface="Calibri" pitchFamily="34" charset="-120"/>
              </a:rPr>
              <a:t>Python FastAPI</a:t>
            </a:r>
            <a:endParaRPr lang="en-US" sz="950" dirty="0"/>
          </a:p>
        </p:txBody>
      </p:sp>
      <p:sp>
        <p:nvSpPr>
          <p:cNvPr id="17" name="Text 13"/>
          <p:cNvSpPr/>
          <p:nvPr/>
        </p:nvSpPr>
        <p:spPr>
          <a:xfrm>
            <a:off x="2651760" y="2377440"/>
            <a:ext cx="1773936" cy="768096"/>
          </a:xfrm>
          <a:prstGeom prst="rect">
            <a:avLst/>
          </a:prstGeom>
          <a:noFill/>
          <a:ln/>
        </p:spPr>
        <p:txBody>
          <a:bodyPr wrap="square" rtlCol="0" anchor="ctr"/>
          <a:lstStyle/>
          <a:p>
            <a:pPr indent="0" marL="0">
              <a:lnSpc>
                <a:spcPct val="135000"/>
              </a:lnSpc>
              <a:buNone/>
            </a:pPr>
            <a:r>
              <a:rPr lang="en-US" sz="900" dirty="0">
                <a:solidFill>
                  <a:srgbClr val="64748B"/>
                </a:solidFill>
                <a:latin typeface="Calibri" pitchFamily="34" charset="0"/>
                <a:ea typeface="Calibri" pitchFamily="34" charset="-122"/>
                <a:cs typeface="Calibri" pitchFamily="34" charset="-120"/>
              </a:rPr>
              <a:t>Identity gate. PII scrubber. LLM pipeline. Classification &amp; priority scoring.</a:t>
            </a:r>
            <a:endParaRPr lang="en-US" sz="900" dirty="0"/>
          </a:p>
        </p:txBody>
      </p:sp>
      <p:sp>
        <p:nvSpPr>
          <p:cNvPr id="18" name="Shape 14"/>
          <p:cNvSpPr/>
          <p:nvPr/>
        </p:nvSpPr>
        <p:spPr>
          <a:xfrm>
            <a:off x="2834640" y="3438144"/>
            <a:ext cx="1737360" cy="292608"/>
          </a:xfrm>
          <a:prstGeom prst="roundRect">
            <a:avLst>
              <a:gd name="adj" fmla="val 50000"/>
            </a:avLst>
          </a:prstGeom>
          <a:solidFill>
            <a:srgbClr val="1A2A3A"/>
          </a:solidFill>
          <a:ln w="12700">
            <a:solidFill>
              <a:srgbClr val="1A2A3A"/>
            </a:solidFill>
            <a:prstDash val="solid"/>
          </a:ln>
        </p:spPr>
      </p:sp>
      <p:sp>
        <p:nvSpPr>
          <p:cNvPr id="19" name="Text 15"/>
          <p:cNvSpPr/>
          <p:nvPr/>
        </p:nvSpPr>
        <p:spPr>
          <a:xfrm>
            <a:off x="2834640" y="3438144"/>
            <a:ext cx="1737360" cy="292608"/>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Port: 8001</a:t>
            </a:r>
            <a:endParaRPr lang="en-US" sz="950" dirty="0"/>
          </a:p>
        </p:txBody>
      </p:sp>
      <p:sp>
        <p:nvSpPr>
          <p:cNvPr id="20" name="Shape 16"/>
          <p:cNvSpPr/>
          <p:nvPr/>
        </p:nvSpPr>
        <p:spPr>
          <a:xfrm>
            <a:off x="4700016" y="1115568"/>
            <a:ext cx="2029968" cy="2487168"/>
          </a:xfrm>
          <a:prstGeom prst="rect">
            <a:avLst/>
          </a:prstGeom>
          <a:solidFill>
            <a:srgbClr val="F8FAFC"/>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1" name="Shape 17"/>
          <p:cNvSpPr/>
          <p:nvPr/>
        </p:nvSpPr>
        <p:spPr>
          <a:xfrm>
            <a:off x="4828032" y="1225296"/>
            <a:ext cx="530352" cy="530352"/>
          </a:xfrm>
          <a:prstGeom prst="ellipse">
            <a:avLst/>
          </a:prstGeom>
          <a:solidFill>
            <a:srgbClr val="0D1B2A"/>
          </a:solidFill>
          <a:ln w="12700">
            <a:solidFill>
              <a:srgbClr val="0D1B2A"/>
            </a:solidFill>
            <a:prstDash val="solid"/>
          </a:ln>
        </p:spPr>
      </p:sp>
      <p:pic>
        <p:nvPicPr>
          <p:cNvPr id="22" name="Image 2" descr="preencoded.png">    </p:cNvPr>
          <p:cNvPicPr>
            <a:picLocks noChangeAspect="1"/>
          </p:cNvPicPr>
          <p:nvPr/>
        </p:nvPicPr>
        <p:blipFill>
          <a:blip r:embed="rId3"/>
          <a:stretch>
            <a:fillRect/>
          </a:stretch>
        </p:blipFill>
        <p:spPr>
          <a:xfrm>
            <a:off x="4919472" y="1316736"/>
            <a:ext cx="347472" cy="347472"/>
          </a:xfrm>
          <a:prstGeom prst="rect">
            <a:avLst/>
          </a:prstGeom>
        </p:spPr>
      </p:pic>
      <p:sp>
        <p:nvSpPr>
          <p:cNvPr id="23" name="Text 18"/>
          <p:cNvSpPr/>
          <p:nvPr/>
        </p:nvSpPr>
        <p:spPr>
          <a:xfrm>
            <a:off x="4828032" y="1847088"/>
            <a:ext cx="1773936" cy="274320"/>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db-writer</a:t>
            </a:r>
            <a:endParaRPr lang="en-US" sz="1200" dirty="0"/>
          </a:p>
        </p:txBody>
      </p:sp>
      <p:sp>
        <p:nvSpPr>
          <p:cNvPr id="24" name="Text 19"/>
          <p:cNvSpPr/>
          <p:nvPr/>
        </p:nvSpPr>
        <p:spPr>
          <a:xfrm>
            <a:off x="4828032" y="2121408"/>
            <a:ext cx="1773936" cy="219456"/>
          </a:xfrm>
          <a:prstGeom prst="rect">
            <a:avLst/>
          </a:prstGeom>
          <a:noFill/>
          <a:ln/>
        </p:spPr>
        <p:txBody>
          <a:bodyPr wrap="square" rtlCol="0" anchor="ctr"/>
          <a:lstStyle/>
          <a:p>
            <a:pPr indent="0" marL="0">
              <a:buNone/>
            </a:pPr>
            <a:r>
              <a:rPr lang="en-US" sz="950" b="1" dirty="0">
                <a:solidFill>
                  <a:srgbClr val="0D1B2A"/>
                </a:solidFill>
                <a:latin typeface="Calibri" pitchFamily="34" charset="0"/>
                <a:ea typeface="Calibri" pitchFamily="34" charset="-122"/>
                <a:cs typeface="Calibri" pitchFamily="34" charset="-120"/>
              </a:rPr>
              <a:t>Quarkus Java 21</a:t>
            </a:r>
            <a:endParaRPr lang="en-US" sz="950" dirty="0"/>
          </a:p>
        </p:txBody>
      </p:sp>
      <p:sp>
        <p:nvSpPr>
          <p:cNvPr id="25" name="Text 20"/>
          <p:cNvSpPr/>
          <p:nvPr/>
        </p:nvSpPr>
        <p:spPr>
          <a:xfrm>
            <a:off x="4828032" y="2377440"/>
            <a:ext cx="1773936" cy="768096"/>
          </a:xfrm>
          <a:prstGeom prst="rect">
            <a:avLst/>
          </a:prstGeom>
          <a:noFill/>
          <a:ln/>
        </p:spPr>
        <p:txBody>
          <a:bodyPr wrap="square" rtlCol="0" anchor="ctr"/>
          <a:lstStyle/>
          <a:p>
            <a:pPr indent="0" marL="0">
              <a:lnSpc>
                <a:spcPct val="135000"/>
              </a:lnSpc>
              <a:buNone/>
            </a:pPr>
            <a:r>
              <a:rPr lang="en-US" sz="900" dirty="0">
                <a:solidFill>
                  <a:srgbClr val="64748B"/>
                </a:solidFill>
                <a:latin typeface="Calibri" pitchFamily="34" charset="0"/>
                <a:ea typeface="Calibri" pitchFamily="34" charset="-122"/>
                <a:cs typeface="Calibri" pitchFamily="34" charset="-120"/>
              </a:rPr>
              <a:t>Only service that writes to SQLite. Single pod. REST API. Caffeine cache.</a:t>
            </a:r>
            <a:endParaRPr lang="en-US" sz="900" dirty="0"/>
          </a:p>
        </p:txBody>
      </p:sp>
      <p:sp>
        <p:nvSpPr>
          <p:cNvPr id="26" name="Shape 21"/>
          <p:cNvSpPr/>
          <p:nvPr/>
        </p:nvSpPr>
        <p:spPr>
          <a:xfrm>
            <a:off x="5010912" y="3438144"/>
            <a:ext cx="1737360" cy="292608"/>
          </a:xfrm>
          <a:prstGeom prst="roundRect">
            <a:avLst>
              <a:gd name="adj" fmla="val 50000"/>
            </a:avLst>
          </a:prstGeom>
          <a:solidFill>
            <a:srgbClr val="1A2A3A"/>
          </a:solidFill>
          <a:ln w="12700">
            <a:solidFill>
              <a:srgbClr val="1A2A3A"/>
            </a:solidFill>
            <a:prstDash val="solid"/>
          </a:ln>
        </p:spPr>
      </p:sp>
      <p:sp>
        <p:nvSpPr>
          <p:cNvPr id="27" name="Text 22"/>
          <p:cNvSpPr/>
          <p:nvPr/>
        </p:nvSpPr>
        <p:spPr>
          <a:xfrm>
            <a:off x="5010912" y="3438144"/>
            <a:ext cx="1737360" cy="292608"/>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Port: 8090</a:t>
            </a:r>
            <a:endParaRPr lang="en-US" sz="950" dirty="0"/>
          </a:p>
        </p:txBody>
      </p:sp>
      <p:sp>
        <p:nvSpPr>
          <p:cNvPr id="28" name="Shape 23"/>
          <p:cNvSpPr/>
          <p:nvPr/>
        </p:nvSpPr>
        <p:spPr>
          <a:xfrm>
            <a:off x="6876288" y="1115568"/>
            <a:ext cx="2029968" cy="2487168"/>
          </a:xfrm>
          <a:prstGeom prst="rect">
            <a:avLst/>
          </a:prstGeom>
          <a:solidFill>
            <a:srgbClr val="FFF0EB"/>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9" name="Shape 24"/>
          <p:cNvSpPr/>
          <p:nvPr/>
        </p:nvSpPr>
        <p:spPr>
          <a:xfrm>
            <a:off x="7004304" y="1225296"/>
            <a:ext cx="530352" cy="530352"/>
          </a:xfrm>
          <a:prstGeom prst="ellipse">
            <a:avLst/>
          </a:prstGeom>
          <a:solidFill>
            <a:srgbClr val="E07B54"/>
          </a:solidFill>
          <a:ln w="12700">
            <a:solidFill>
              <a:srgbClr val="E07B54"/>
            </a:solidFill>
            <a:prstDash val="solid"/>
          </a:ln>
        </p:spPr>
      </p:sp>
      <p:pic>
        <p:nvPicPr>
          <p:cNvPr id="30" name="Image 3" descr="preencoded.png">    </p:cNvPr>
          <p:cNvPicPr>
            <a:picLocks noChangeAspect="1"/>
          </p:cNvPicPr>
          <p:nvPr/>
        </p:nvPicPr>
        <p:blipFill>
          <a:blip r:embed="rId4"/>
          <a:stretch>
            <a:fillRect/>
          </a:stretch>
        </p:blipFill>
        <p:spPr>
          <a:xfrm>
            <a:off x="7095744" y="1316736"/>
            <a:ext cx="347472" cy="347472"/>
          </a:xfrm>
          <a:prstGeom prst="rect">
            <a:avLst/>
          </a:prstGeom>
        </p:spPr>
      </p:pic>
      <p:sp>
        <p:nvSpPr>
          <p:cNvPr id="31" name="Text 25"/>
          <p:cNvSpPr/>
          <p:nvPr/>
        </p:nvSpPr>
        <p:spPr>
          <a:xfrm>
            <a:off x="7004304" y="1847088"/>
            <a:ext cx="1773936" cy="274320"/>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dashboard</a:t>
            </a:r>
            <a:endParaRPr lang="en-US" sz="1200" dirty="0"/>
          </a:p>
        </p:txBody>
      </p:sp>
      <p:sp>
        <p:nvSpPr>
          <p:cNvPr id="32" name="Text 26"/>
          <p:cNvSpPr/>
          <p:nvPr/>
        </p:nvSpPr>
        <p:spPr>
          <a:xfrm>
            <a:off x="7004304" y="2121408"/>
            <a:ext cx="1773936" cy="219456"/>
          </a:xfrm>
          <a:prstGeom prst="rect">
            <a:avLst/>
          </a:prstGeom>
          <a:noFill/>
          <a:ln/>
        </p:spPr>
        <p:txBody>
          <a:bodyPr wrap="square" rtlCol="0" anchor="ctr"/>
          <a:lstStyle/>
          <a:p>
            <a:pPr indent="0" marL="0">
              <a:buNone/>
            </a:pPr>
            <a:r>
              <a:rPr lang="en-US" sz="950" b="1" dirty="0">
                <a:solidFill>
                  <a:srgbClr val="E07B54"/>
                </a:solidFill>
                <a:latin typeface="Calibri" pitchFamily="34" charset="0"/>
                <a:ea typeface="Calibri" pitchFamily="34" charset="-122"/>
                <a:cs typeface="Calibri" pitchFamily="34" charset="-120"/>
              </a:rPr>
              <a:t>Next.js 14 PWA</a:t>
            </a:r>
            <a:endParaRPr lang="en-US" sz="950" dirty="0"/>
          </a:p>
        </p:txBody>
      </p:sp>
      <p:sp>
        <p:nvSpPr>
          <p:cNvPr id="33" name="Text 27"/>
          <p:cNvSpPr/>
          <p:nvPr/>
        </p:nvSpPr>
        <p:spPr>
          <a:xfrm>
            <a:off x="7004304" y="2377440"/>
            <a:ext cx="1773936" cy="768096"/>
          </a:xfrm>
          <a:prstGeom prst="rect">
            <a:avLst/>
          </a:prstGeom>
          <a:noFill/>
          <a:ln/>
        </p:spPr>
        <p:txBody>
          <a:bodyPr wrap="square" rtlCol="0" anchor="ctr"/>
          <a:lstStyle/>
          <a:p>
            <a:pPr indent="0" marL="0">
              <a:lnSpc>
                <a:spcPct val="135000"/>
              </a:lnSpc>
              <a:buNone/>
            </a:pPr>
            <a:r>
              <a:rPr lang="en-US" sz="900" dirty="0">
                <a:solidFill>
                  <a:srgbClr val="64748B"/>
                </a:solidFill>
                <a:latin typeface="Calibri" pitchFamily="34" charset="0"/>
                <a:ea typeface="Calibri" pitchFamily="34" charset="-122"/>
                <a:cs typeface="Calibri" pitchFamily="34" charset="-120"/>
              </a:rPr>
              <a:t>Agent inbox. Analytics. Admin panel. Citizen status portal. Role-gated.</a:t>
            </a:r>
            <a:endParaRPr lang="en-US" sz="900" dirty="0"/>
          </a:p>
        </p:txBody>
      </p:sp>
      <p:sp>
        <p:nvSpPr>
          <p:cNvPr id="34" name="Shape 28"/>
          <p:cNvSpPr/>
          <p:nvPr/>
        </p:nvSpPr>
        <p:spPr>
          <a:xfrm>
            <a:off x="7187184" y="3438144"/>
            <a:ext cx="1737360" cy="292608"/>
          </a:xfrm>
          <a:prstGeom prst="roundRect">
            <a:avLst>
              <a:gd name="adj" fmla="val 50000"/>
            </a:avLst>
          </a:prstGeom>
          <a:solidFill>
            <a:srgbClr val="1A2A3A"/>
          </a:solidFill>
          <a:ln w="12700">
            <a:solidFill>
              <a:srgbClr val="1A2A3A"/>
            </a:solidFill>
            <a:prstDash val="solid"/>
          </a:ln>
        </p:spPr>
      </p:sp>
      <p:sp>
        <p:nvSpPr>
          <p:cNvPr id="35" name="Text 29"/>
          <p:cNvSpPr/>
          <p:nvPr/>
        </p:nvSpPr>
        <p:spPr>
          <a:xfrm>
            <a:off x="7187184" y="3438144"/>
            <a:ext cx="1737360" cy="292608"/>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Port: 3000</a:t>
            </a:r>
            <a:endParaRPr lang="en-US" sz="950" dirty="0"/>
          </a:p>
        </p:txBody>
      </p:sp>
      <p:sp>
        <p:nvSpPr>
          <p:cNvPr id="36" name="Shape 30"/>
          <p:cNvSpPr/>
          <p:nvPr/>
        </p:nvSpPr>
        <p:spPr>
          <a:xfrm>
            <a:off x="347472" y="3749040"/>
            <a:ext cx="8449056" cy="438912"/>
          </a:xfrm>
          <a:prstGeom prst="rect">
            <a:avLst/>
          </a:prstGeom>
          <a:solidFill>
            <a:srgbClr val="0D1B2A"/>
          </a:solidFill>
          <a:ln w="12700">
            <a:solidFill>
              <a:srgbClr val="0D1B2A"/>
            </a:solidFill>
            <a:prstDash val="solid"/>
          </a:ln>
        </p:spPr>
      </p:sp>
      <p:pic>
        <p:nvPicPr>
          <p:cNvPr id="37" name="Image 4" descr="preencoded.png">    </p:cNvPr>
          <p:cNvPicPr>
            <a:picLocks noChangeAspect="1"/>
          </p:cNvPicPr>
          <p:nvPr/>
        </p:nvPicPr>
        <p:blipFill>
          <a:blip r:embed="rId5"/>
          <a:stretch>
            <a:fillRect/>
          </a:stretch>
        </p:blipFill>
        <p:spPr>
          <a:xfrm>
            <a:off x="475488" y="3822192"/>
            <a:ext cx="274320" cy="274320"/>
          </a:xfrm>
          <a:prstGeom prst="rect">
            <a:avLst/>
          </a:prstGeom>
        </p:spPr>
      </p:pic>
      <p:sp>
        <p:nvSpPr>
          <p:cNvPr id="38" name="Text 31"/>
          <p:cNvSpPr/>
          <p:nvPr/>
        </p:nvSpPr>
        <p:spPr>
          <a:xfrm>
            <a:off x="822960" y="3822192"/>
            <a:ext cx="7863840" cy="274320"/>
          </a:xfrm>
          <a:prstGeom prst="rect">
            <a:avLst/>
          </a:prstGeom>
          <a:noFill/>
          <a:ln/>
        </p:spPr>
        <p:txBody>
          <a:bodyPr wrap="square" rtlCol="0" anchor="ctr"/>
          <a:lstStyle/>
          <a:p>
            <a:pPr indent="0" marL="0">
              <a:buNone/>
            </a:pPr>
            <a:r>
              <a:rPr lang="en-US" sz="1000" dirty="0">
                <a:solidFill>
                  <a:srgbClr val="02C39A"/>
                </a:solidFill>
                <a:latin typeface="Calibri" pitchFamily="34" charset="0"/>
                <a:ea typeface="Calibri" pitchFamily="34" charset="-122"/>
                <a:cs typeface="Calibri" pitchFamily="34" charset="-120"/>
              </a:rPr>
              <a:t>Valkey event bus (MIT-licensed Redis-compatible)  ·  All services communicate asynchronously through streams  ·  No direct service-to-service calls</a:t>
            </a:r>
            <a:endParaRPr lang="en-US" sz="1000" dirty="0"/>
          </a:p>
        </p:txBody>
      </p:sp>
      <p:sp>
        <p:nvSpPr>
          <p:cNvPr id="39" name="Shape 32"/>
          <p:cNvSpPr/>
          <p:nvPr/>
        </p:nvSpPr>
        <p:spPr>
          <a:xfrm>
            <a:off x="347472" y="4224528"/>
            <a:ext cx="8449056" cy="365760"/>
          </a:xfrm>
          <a:prstGeom prst="rect">
            <a:avLst/>
          </a:prstGeom>
          <a:solidFill>
            <a:srgbClr val="E8F6F8"/>
          </a:solidFill>
          <a:ln w="12700">
            <a:solidFill>
              <a:srgbClr val="E2E8F0"/>
            </a:solidFill>
            <a:prstDash val="solid"/>
          </a:ln>
        </p:spPr>
      </p:sp>
      <p:sp>
        <p:nvSpPr>
          <p:cNvPr id="40" name="Text 33"/>
          <p:cNvSpPr/>
          <p:nvPr/>
        </p:nvSpPr>
        <p:spPr>
          <a:xfrm>
            <a:off x="457200" y="4279392"/>
            <a:ext cx="8229600" cy="256032"/>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Multi-tenant throughout  ·  Every event, table, and request carries a tenantId  ·  Full transaction tracing via shared traceId across all 4 services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8090"/>
                </a:solidFill>
                <a:latin typeface="Calibri" pitchFamily="34" charset="0"/>
                <a:ea typeface="Calibri" pitchFamily="34" charset="-122"/>
                <a:cs typeface="Calibri" pitchFamily="34" charset="-120"/>
              </a:rPr>
              <a:t>SERVICE DEEP DIVE  ·  API-GATEWAY</a:t>
            </a:r>
            <a:endParaRPr lang="en-US" sz="900" dirty="0"/>
          </a:p>
        </p:txBody>
      </p:sp>
      <p:sp>
        <p:nvSpPr>
          <p:cNvPr id="3" name="Text 1"/>
          <p:cNvSpPr/>
          <p:nvPr/>
        </p:nvSpPr>
        <p:spPr>
          <a:xfrm>
            <a:off x="457200" y="457200"/>
            <a:ext cx="8229600" cy="530352"/>
          </a:xfrm>
          <a:prstGeom prst="rect">
            <a:avLst/>
          </a:prstGeom>
          <a:noFill/>
          <a:ln/>
        </p:spPr>
        <p:txBody>
          <a:bodyPr wrap="square"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The public-facing hub. Every channel. One entry point.</a:t>
            </a:r>
            <a:endParaRPr lang="en-US" sz="2600" dirty="0"/>
          </a:p>
        </p:txBody>
      </p:sp>
      <p:sp>
        <p:nvSpPr>
          <p:cNvPr id="4" name="Shape 2"/>
          <p:cNvSpPr/>
          <p:nvPr/>
        </p:nvSpPr>
        <p:spPr>
          <a:xfrm>
            <a:off x="7132320" y="164592"/>
            <a:ext cx="1828800" cy="566928"/>
          </a:xfrm>
          <a:prstGeom prst="rect">
            <a:avLst/>
          </a:prstGeom>
          <a:solidFill>
            <a:srgbClr val="0D1B2A"/>
          </a:solidFill>
          <a:ln w="12700">
            <a:solidFill>
              <a:srgbClr val="0D1B2A"/>
            </a:solidFill>
            <a:prstDash val="solid"/>
          </a:ln>
        </p:spPr>
      </p:sp>
      <p:pic>
        <p:nvPicPr>
          <p:cNvPr id="5" name="Image 0" descr="preencoded.png">    </p:cNvPr>
          <p:cNvPicPr>
            <a:picLocks noChangeAspect="1"/>
          </p:cNvPicPr>
          <p:nvPr/>
        </p:nvPicPr>
        <p:blipFill>
          <a:blip r:embed="rId1"/>
          <a:stretch>
            <a:fillRect/>
          </a:stretch>
        </p:blipFill>
        <p:spPr>
          <a:xfrm>
            <a:off x="7242048" y="274320"/>
            <a:ext cx="274320" cy="274320"/>
          </a:xfrm>
          <a:prstGeom prst="rect">
            <a:avLst/>
          </a:prstGeom>
        </p:spPr>
      </p:pic>
      <p:sp>
        <p:nvSpPr>
          <p:cNvPr id="6" name="Text 3"/>
          <p:cNvSpPr/>
          <p:nvPr/>
        </p:nvSpPr>
        <p:spPr>
          <a:xfrm>
            <a:off x="7571232" y="274320"/>
            <a:ext cx="1298448" cy="256032"/>
          </a:xfrm>
          <a:prstGeom prst="rect">
            <a:avLst/>
          </a:prstGeom>
          <a:noFill/>
          <a:ln/>
        </p:spPr>
        <p:txBody>
          <a:bodyPr wrap="square" rtlCol="0" anchor="ctr"/>
          <a:lstStyle/>
          <a:p>
            <a:pPr indent="0" marL="0">
              <a:buNone/>
            </a:pPr>
            <a:r>
              <a:rPr lang="en-US" sz="950" b="1" dirty="0">
                <a:solidFill>
                  <a:srgbClr val="02C39A"/>
                </a:solidFill>
                <a:latin typeface="Calibri" pitchFamily="34" charset="0"/>
                <a:ea typeface="Calibri" pitchFamily="34" charset="-122"/>
                <a:cs typeface="Calibri" pitchFamily="34" charset="-120"/>
              </a:rPr>
              <a:t>Quarkus Java 21</a:t>
            </a:r>
            <a:endParaRPr lang="en-US" sz="950" dirty="0"/>
          </a:p>
        </p:txBody>
      </p:sp>
      <p:sp>
        <p:nvSpPr>
          <p:cNvPr id="7" name="Text 4"/>
          <p:cNvSpPr/>
          <p:nvPr/>
        </p:nvSpPr>
        <p:spPr>
          <a:xfrm>
            <a:off x="7205472" y="475488"/>
            <a:ext cx="1664208" cy="182880"/>
          </a:xfrm>
          <a:prstGeom prst="rect">
            <a:avLst/>
          </a:prstGeom>
          <a:noFill/>
          <a:ln/>
        </p:spPr>
        <p:txBody>
          <a:bodyPr wrap="square" rtlCol="0" anchor="ctr"/>
          <a:lstStyle/>
          <a:p>
            <a:pPr algn="ctr" indent="0" marL="0">
              <a:buNone/>
            </a:pPr>
            <a:r>
              <a:rPr lang="en-US" sz="800" dirty="0">
                <a:solidFill>
                  <a:srgbClr val="8EB4C8"/>
                </a:solidFill>
                <a:latin typeface="Calibri" pitchFamily="34" charset="0"/>
                <a:ea typeface="Calibri" pitchFamily="34" charset="-122"/>
                <a:cs typeface="Calibri" pitchFamily="34" charset="-120"/>
              </a:rPr>
              <a:t>Port 8080  ·  N replicas</a:t>
            </a:r>
            <a:endParaRPr lang="en-US" sz="800" dirty="0"/>
          </a:p>
        </p:txBody>
      </p:sp>
      <p:sp>
        <p:nvSpPr>
          <p:cNvPr id="8" name="Shape 5"/>
          <p:cNvSpPr/>
          <p:nvPr/>
        </p:nvSpPr>
        <p:spPr>
          <a:xfrm>
            <a:off x="365760" y="1115568"/>
            <a:ext cx="2029968" cy="1792224"/>
          </a:xfrm>
          <a:prstGeom prst="rect">
            <a:avLst/>
          </a:prstGeom>
          <a:solidFill>
            <a:srgbClr val="E8F6F8"/>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9" name="Shape 6"/>
          <p:cNvSpPr/>
          <p:nvPr/>
        </p:nvSpPr>
        <p:spPr>
          <a:xfrm>
            <a:off x="493776" y="1243584"/>
            <a:ext cx="438912" cy="438912"/>
          </a:xfrm>
          <a:prstGeom prst="ellipse">
            <a:avLst/>
          </a:prstGeom>
          <a:solidFill>
            <a:srgbClr val="028090"/>
          </a:solidFill>
          <a:ln w="12700">
            <a:solidFill>
              <a:srgbClr val="028090"/>
            </a:solidFill>
            <a:prstDash val="solid"/>
          </a:ln>
        </p:spPr>
      </p:sp>
      <p:pic>
        <p:nvPicPr>
          <p:cNvPr id="10" name="Image 1" descr="preencoded.png">    </p:cNvPr>
          <p:cNvPicPr>
            <a:picLocks noChangeAspect="1"/>
          </p:cNvPicPr>
          <p:nvPr/>
        </p:nvPicPr>
        <p:blipFill>
          <a:blip r:embed="rId2"/>
          <a:stretch>
            <a:fillRect/>
          </a:stretch>
        </p:blipFill>
        <p:spPr>
          <a:xfrm>
            <a:off x="585216" y="1335024"/>
            <a:ext cx="256032" cy="256032"/>
          </a:xfrm>
          <a:prstGeom prst="rect">
            <a:avLst/>
          </a:prstGeom>
        </p:spPr>
      </p:pic>
      <p:sp>
        <p:nvSpPr>
          <p:cNvPr id="11" name="Text 7"/>
          <p:cNvSpPr/>
          <p:nvPr/>
        </p:nvSpPr>
        <p:spPr>
          <a:xfrm>
            <a:off x="1024128" y="1243584"/>
            <a:ext cx="1243584" cy="237744"/>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Email Adapter</a:t>
            </a:r>
            <a:endParaRPr lang="en-US" sz="1100" dirty="0"/>
          </a:p>
        </p:txBody>
      </p:sp>
      <p:sp>
        <p:nvSpPr>
          <p:cNvPr id="12" name="Text 8"/>
          <p:cNvSpPr/>
          <p:nvPr/>
        </p:nvSpPr>
        <p:spPr>
          <a:xfrm>
            <a:off x="493776" y="1572768"/>
            <a:ext cx="1773936" cy="1207008"/>
          </a:xfrm>
          <a:prstGeom prst="rect">
            <a:avLst/>
          </a:prstGeom>
          <a:noFill/>
          <a:ln/>
        </p:spPr>
        <p:txBody>
          <a:bodyPr wrap="square" rtlCol="0" anchor="ctr"/>
          <a:lstStyle/>
          <a:p>
            <a:pPr indent="0" marL="0">
              <a:lnSpc>
                <a:spcPct val="135000"/>
              </a:lnSpc>
              <a:buNone/>
            </a:pPr>
            <a:r>
              <a:rPr lang="en-US" sz="950" dirty="0">
                <a:solidFill>
                  <a:srgbClr val="64748B"/>
                </a:solidFill>
                <a:latin typeface="Calibri" pitchFamily="34" charset="0"/>
                <a:ea typeface="Calibri" pitchFamily="34" charset="-122"/>
                <a:cs typeface="Calibri" pitchFamily="34" charset="-120"/>
              </a:rPr>
              <a:t>IMAP polling + SMTP/Resend outbound. Auto-generated mail dropped. RFC 5322 reply threading. origin_message_id captured.</a:t>
            </a:r>
            <a:endParaRPr lang="en-US" sz="950" dirty="0"/>
          </a:p>
        </p:txBody>
      </p:sp>
      <p:sp>
        <p:nvSpPr>
          <p:cNvPr id="13" name="Shape 9"/>
          <p:cNvSpPr/>
          <p:nvPr/>
        </p:nvSpPr>
        <p:spPr>
          <a:xfrm>
            <a:off x="2542032" y="1115568"/>
            <a:ext cx="2029968" cy="1792224"/>
          </a:xfrm>
          <a:prstGeom prst="rect">
            <a:avLst/>
          </a:prstGeom>
          <a:solidFill>
            <a:srgbClr val="F0FDF4"/>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4" name="Shape 10"/>
          <p:cNvSpPr/>
          <p:nvPr/>
        </p:nvSpPr>
        <p:spPr>
          <a:xfrm>
            <a:off x="2670048" y="1243584"/>
            <a:ext cx="438912" cy="438912"/>
          </a:xfrm>
          <a:prstGeom prst="ellipse">
            <a:avLst/>
          </a:prstGeom>
          <a:solidFill>
            <a:srgbClr val="1A5C2A"/>
          </a:solidFill>
          <a:ln w="12700">
            <a:solidFill>
              <a:srgbClr val="1A5C2A"/>
            </a:solidFill>
            <a:prstDash val="solid"/>
          </a:ln>
        </p:spPr>
      </p:sp>
      <p:pic>
        <p:nvPicPr>
          <p:cNvPr id="15" name="Image 2" descr="preencoded.png">    </p:cNvPr>
          <p:cNvPicPr>
            <a:picLocks noChangeAspect="1"/>
          </p:cNvPicPr>
          <p:nvPr/>
        </p:nvPicPr>
        <p:blipFill>
          <a:blip r:embed="rId3"/>
          <a:stretch>
            <a:fillRect/>
          </a:stretch>
        </p:blipFill>
        <p:spPr>
          <a:xfrm>
            <a:off x="2761488" y="1335024"/>
            <a:ext cx="256032" cy="256032"/>
          </a:xfrm>
          <a:prstGeom prst="rect">
            <a:avLst/>
          </a:prstGeom>
        </p:spPr>
      </p:pic>
      <p:sp>
        <p:nvSpPr>
          <p:cNvPr id="16" name="Text 11"/>
          <p:cNvSpPr/>
          <p:nvPr/>
        </p:nvSpPr>
        <p:spPr>
          <a:xfrm>
            <a:off x="3200400" y="1243584"/>
            <a:ext cx="1243584" cy="237744"/>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WhatsApp Adapter</a:t>
            </a:r>
            <a:endParaRPr lang="en-US" sz="1100" dirty="0"/>
          </a:p>
        </p:txBody>
      </p:sp>
      <p:sp>
        <p:nvSpPr>
          <p:cNvPr id="17" name="Text 12"/>
          <p:cNvSpPr/>
          <p:nvPr/>
        </p:nvSpPr>
        <p:spPr>
          <a:xfrm>
            <a:off x="2670048" y="1572768"/>
            <a:ext cx="1773936" cy="1207008"/>
          </a:xfrm>
          <a:prstGeom prst="rect">
            <a:avLst/>
          </a:prstGeom>
          <a:noFill/>
          <a:ln/>
        </p:spPr>
        <p:txBody>
          <a:bodyPr wrap="square" rtlCol="0" anchor="ctr"/>
          <a:lstStyle/>
          <a:p>
            <a:pPr indent="0" marL="0">
              <a:lnSpc>
                <a:spcPct val="135000"/>
              </a:lnSpc>
              <a:buNone/>
            </a:pPr>
            <a:r>
              <a:rPr lang="en-US" sz="950" dirty="0">
                <a:solidFill>
                  <a:srgbClr val="64748B"/>
                </a:solidFill>
                <a:latin typeface="Calibri" pitchFamily="34" charset="0"/>
                <a:ea typeface="Calibri" pitchFamily="34" charset="-122"/>
                <a:cs typeface="Calibri" pitchFamily="34" charset="-120"/>
              </a:rPr>
              <a:t>Meta webhook + HMAC-SHA256 validation. Phone pre-confirmed (identity gate skipped). Graph API outbound. 200 OK in &lt;5s.</a:t>
            </a:r>
            <a:endParaRPr lang="en-US" sz="950" dirty="0"/>
          </a:p>
        </p:txBody>
      </p:sp>
      <p:sp>
        <p:nvSpPr>
          <p:cNvPr id="18" name="Shape 13"/>
          <p:cNvSpPr/>
          <p:nvPr/>
        </p:nvSpPr>
        <p:spPr>
          <a:xfrm>
            <a:off x="4718304" y="1115568"/>
            <a:ext cx="2029968" cy="1792224"/>
          </a:xfrm>
          <a:prstGeom prst="rect">
            <a:avLst/>
          </a:prstGeom>
          <a:solidFill>
            <a:srgbClr val="F1F5F9"/>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9" name="Shape 14"/>
          <p:cNvSpPr/>
          <p:nvPr/>
        </p:nvSpPr>
        <p:spPr>
          <a:xfrm>
            <a:off x="4846320" y="1243584"/>
            <a:ext cx="438912" cy="438912"/>
          </a:xfrm>
          <a:prstGeom prst="ellipse">
            <a:avLst/>
          </a:prstGeom>
          <a:solidFill>
            <a:srgbClr val="0D1B2A"/>
          </a:solidFill>
          <a:ln w="12700">
            <a:solidFill>
              <a:srgbClr val="0D1B2A"/>
            </a:solidFill>
            <a:prstDash val="solid"/>
          </a:ln>
        </p:spPr>
      </p:sp>
      <p:pic>
        <p:nvPicPr>
          <p:cNvPr id="20" name="Image 3" descr="preencoded.png">    </p:cNvPr>
          <p:cNvPicPr>
            <a:picLocks noChangeAspect="1"/>
          </p:cNvPicPr>
          <p:nvPr/>
        </p:nvPicPr>
        <p:blipFill>
          <a:blip r:embed="rId4"/>
          <a:stretch>
            <a:fillRect/>
          </a:stretch>
        </p:blipFill>
        <p:spPr>
          <a:xfrm>
            <a:off x="4937760" y="1335024"/>
            <a:ext cx="256032" cy="256032"/>
          </a:xfrm>
          <a:prstGeom prst="rect">
            <a:avLst/>
          </a:prstGeom>
        </p:spPr>
      </p:pic>
      <p:sp>
        <p:nvSpPr>
          <p:cNvPr id="21" name="Text 15"/>
          <p:cNvSpPr/>
          <p:nvPr/>
        </p:nvSpPr>
        <p:spPr>
          <a:xfrm>
            <a:off x="5376672" y="1243584"/>
            <a:ext cx="1243584" cy="237744"/>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JWT Auth &amp; RBAC</a:t>
            </a:r>
            <a:endParaRPr lang="en-US" sz="1100" dirty="0"/>
          </a:p>
        </p:txBody>
      </p:sp>
      <p:sp>
        <p:nvSpPr>
          <p:cNvPr id="22" name="Text 16"/>
          <p:cNvSpPr/>
          <p:nvPr/>
        </p:nvSpPr>
        <p:spPr>
          <a:xfrm>
            <a:off x="4846320" y="1572768"/>
            <a:ext cx="1773936" cy="1207008"/>
          </a:xfrm>
          <a:prstGeom prst="rect">
            <a:avLst/>
          </a:prstGeom>
          <a:noFill/>
          <a:ln/>
        </p:spPr>
        <p:txBody>
          <a:bodyPr wrap="square" rtlCol="0" anchor="ctr"/>
          <a:lstStyle/>
          <a:p>
            <a:pPr indent="0" marL="0">
              <a:lnSpc>
                <a:spcPct val="135000"/>
              </a:lnSpc>
              <a:buNone/>
            </a:pPr>
            <a:r>
              <a:rPr lang="en-US" sz="950" dirty="0">
                <a:solidFill>
                  <a:srgbClr val="64748B"/>
                </a:solidFill>
                <a:latin typeface="Calibri" pitchFamily="34" charset="0"/>
                <a:ea typeface="Calibri" pitchFamily="34" charset="-122"/>
                <a:cs typeface="Calibri" pitchFamily="34" charset="-120"/>
              </a:rPr>
              <a:t>auth0 java-jwt + custom AuthFilter. 15-min access / 7-day refresh. Revocation list in Valkey. 3 roles enforced.</a:t>
            </a:r>
            <a:endParaRPr lang="en-US" sz="950" dirty="0"/>
          </a:p>
        </p:txBody>
      </p:sp>
      <p:sp>
        <p:nvSpPr>
          <p:cNvPr id="23" name="Shape 17"/>
          <p:cNvSpPr/>
          <p:nvPr/>
        </p:nvSpPr>
        <p:spPr>
          <a:xfrm>
            <a:off x="6894576" y="1115568"/>
            <a:ext cx="2029968" cy="1792224"/>
          </a:xfrm>
          <a:prstGeom prst="rect">
            <a:avLst/>
          </a:prstGeom>
          <a:solidFill>
            <a:srgbClr val="FFF0EB"/>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4" name="Shape 18"/>
          <p:cNvSpPr/>
          <p:nvPr/>
        </p:nvSpPr>
        <p:spPr>
          <a:xfrm>
            <a:off x="7022592" y="1243584"/>
            <a:ext cx="438912" cy="438912"/>
          </a:xfrm>
          <a:prstGeom prst="ellipse">
            <a:avLst/>
          </a:prstGeom>
          <a:solidFill>
            <a:srgbClr val="E07B54"/>
          </a:solidFill>
          <a:ln w="12700">
            <a:solidFill>
              <a:srgbClr val="E07B54"/>
            </a:solidFill>
            <a:prstDash val="solid"/>
          </a:ln>
        </p:spPr>
      </p:sp>
      <p:pic>
        <p:nvPicPr>
          <p:cNvPr id="25" name="Image 4" descr="preencoded.png">    </p:cNvPr>
          <p:cNvPicPr>
            <a:picLocks noChangeAspect="1"/>
          </p:cNvPicPr>
          <p:nvPr/>
        </p:nvPicPr>
        <p:blipFill>
          <a:blip r:embed="rId5"/>
          <a:stretch>
            <a:fillRect/>
          </a:stretch>
        </p:blipFill>
        <p:spPr>
          <a:xfrm>
            <a:off x="7114032" y="1335024"/>
            <a:ext cx="256032" cy="256032"/>
          </a:xfrm>
          <a:prstGeom prst="rect">
            <a:avLst/>
          </a:prstGeom>
        </p:spPr>
      </p:pic>
      <p:sp>
        <p:nvSpPr>
          <p:cNvPr id="26" name="Text 19"/>
          <p:cNvSpPr/>
          <p:nvPr/>
        </p:nvSpPr>
        <p:spPr>
          <a:xfrm>
            <a:off x="7552944" y="1243584"/>
            <a:ext cx="1243584" cy="237744"/>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Valkey Publisher</a:t>
            </a:r>
            <a:endParaRPr lang="en-US" sz="1100" dirty="0"/>
          </a:p>
        </p:txBody>
      </p:sp>
      <p:sp>
        <p:nvSpPr>
          <p:cNvPr id="27" name="Text 20"/>
          <p:cNvSpPr/>
          <p:nvPr/>
        </p:nvSpPr>
        <p:spPr>
          <a:xfrm>
            <a:off x="7022592" y="1572768"/>
            <a:ext cx="1773936" cy="1207008"/>
          </a:xfrm>
          <a:prstGeom prst="rect">
            <a:avLst/>
          </a:prstGeom>
          <a:noFill/>
          <a:ln/>
        </p:spPr>
        <p:txBody>
          <a:bodyPr wrap="square" rtlCol="0" anchor="ctr"/>
          <a:lstStyle/>
          <a:p>
            <a:pPr indent="0" marL="0">
              <a:lnSpc>
                <a:spcPct val="135000"/>
              </a:lnSpc>
              <a:buNone/>
            </a:pPr>
            <a:r>
              <a:rPr lang="en-US" sz="950" dirty="0">
                <a:solidFill>
                  <a:srgbClr val="64748B"/>
                </a:solidFill>
                <a:latin typeface="Calibri" pitchFamily="34" charset="0"/>
                <a:ea typeface="Calibri" pitchFamily="34" charset="-122"/>
                <a:cs typeface="Calibri" pitchFamily="34" charset="-120"/>
              </a:rPr>
              <a:t>Publishes ChannelMessageReceived events to streams. traceId assigned at ingestion and carried through all services.</a:t>
            </a:r>
            <a:endParaRPr lang="en-US" sz="950" dirty="0"/>
          </a:p>
        </p:txBody>
      </p:sp>
      <p:sp>
        <p:nvSpPr>
          <p:cNvPr id="28" name="Shape 21"/>
          <p:cNvSpPr/>
          <p:nvPr/>
        </p:nvSpPr>
        <p:spPr>
          <a:xfrm>
            <a:off x="365760" y="2999232"/>
            <a:ext cx="8412480" cy="347472"/>
          </a:xfrm>
          <a:prstGeom prst="rect">
            <a:avLst/>
          </a:prstGeom>
          <a:solidFill>
            <a:srgbClr val="0D1B2A"/>
          </a:solidFill>
          <a:ln w="12700">
            <a:solidFill>
              <a:srgbClr val="0D1B2A"/>
            </a:solidFill>
            <a:prstDash val="solid"/>
          </a:ln>
        </p:spPr>
      </p:sp>
      <p:pic>
        <p:nvPicPr>
          <p:cNvPr id="29" name="Image 5" descr="preencoded.png">    </p:cNvPr>
          <p:cNvPicPr>
            <a:picLocks noChangeAspect="1"/>
          </p:cNvPicPr>
          <p:nvPr/>
        </p:nvPicPr>
        <p:blipFill>
          <a:blip r:embed="rId6"/>
          <a:stretch>
            <a:fillRect/>
          </a:stretch>
        </p:blipFill>
        <p:spPr>
          <a:xfrm>
            <a:off x="475488" y="3072384"/>
            <a:ext cx="201168" cy="201168"/>
          </a:xfrm>
          <a:prstGeom prst="rect">
            <a:avLst/>
          </a:prstGeom>
        </p:spPr>
      </p:pic>
      <p:sp>
        <p:nvSpPr>
          <p:cNvPr id="30" name="Text 22"/>
          <p:cNvSpPr/>
          <p:nvPr/>
        </p:nvSpPr>
        <p:spPr>
          <a:xfrm>
            <a:off x="731520" y="3072384"/>
            <a:ext cx="7955280" cy="219456"/>
          </a:xfrm>
          <a:prstGeom prst="rect">
            <a:avLst/>
          </a:prstGeom>
          <a:noFill/>
          <a:ln/>
        </p:spPr>
        <p:txBody>
          <a:bodyPr wrap="square" rtlCol="0" anchor="ctr"/>
          <a:lstStyle/>
          <a:p>
            <a:pPr indent="0" marL="0">
              <a:buNone/>
            </a:pPr>
            <a:r>
              <a:rPr lang="en-US" sz="950" dirty="0">
                <a:solidFill>
                  <a:srgbClr val="02C39A"/>
                </a:solidFill>
                <a:latin typeface="Calibri" pitchFamily="34" charset="0"/>
                <a:ea typeface="Calibri" pitchFamily="34" charset="-122"/>
                <a:cs typeface="Calibri" pitchFamily="34" charset="-120"/>
              </a:rPr>
              <a:t>Quarkus native binary  ·  ~50MB RAM per pod  ·  Sub-second cold start  ·  GraalVM compiled  ·  Never touches SQLite directly</a:t>
            </a:r>
            <a:endParaRPr lang="en-US" sz="950" dirty="0"/>
          </a:p>
        </p:txBody>
      </p:sp>
      <p:sp>
        <p:nvSpPr>
          <p:cNvPr id="31" name="Text 23"/>
          <p:cNvSpPr/>
          <p:nvPr/>
        </p:nvSpPr>
        <p:spPr>
          <a:xfrm>
            <a:off x="457200" y="3493008"/>
            <a:ext cx="1828800" cy="237744"/>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Inbound Flow:</a:t>
            </a:r>
            <a:endParaRPr lang="en-US" sz="1000" dirty="0"/>
          </a:p>
        </p:txBody>
      </p:sp>
      <p:sp>
        <p:nvSpPr>
          <p:cNvPr id="32" name="Shape 24"/>
          <p:cNvSpPr/>
          <p:nvPr/>
        </p:nvSpPr>
        <p:spPr>
          <a:xfrm>
            <a:off x="365760" y="3767328"/>
            <a:ext cx="1481328" cy="621792"/>
          </a:xfrm>
          <a:prstGeom prst="rect">
            <a:avLst/>
          </a:prstGeom>
          <a:solidFill>
            <a:srgbClr val="028090"/>
          </a:solidFill>
          <a:ln w="12700">
            <a:solidFill>
              <a:srgbClr val="028090"/>
            </a:solidFill>
            <a:prstDash val="solid"/>
          </a:ln>
        </p:spPr>
      </p:sp>
      <p:sp>
        <p:nvSpPr>
          <p:cNvPr id="33" name="Text 25"/>
          <p:cNvSpPr/>
          <p:nvPr/>
        </p:nvSpPr>
        <p:spPr>
          <a:xfrm>
            <a:off x="365760" y="3822192"/>
            <a:ext cx="1481328" cy="51206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Email /</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WhatsApp</a:t>
            </a:r>
            <a:endParaRPr lang="en-US" sz="1000" dirty="0"/>
          </a:p>
        </p:txBody>
      </p:sp>
      <p:sp>
        <p:nvSpPr>
          <p:cNvPr id="34" name="Text 26"/>
          <p:cNvSpPr/>
          <p:nvPr/>
        </p:nvSpPr>
        <p:spPr>
          <a:xfrm>
            <a:off x="1901952" y="3895344"/>
            <a:ext cx="219456" cy="329184"/>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35" name="Shape 27"/>
          <p:cNvSpPr/>
          <p:nvPr/>
        </p:nvSpPr>
        <p:spPr>
          <a:xfrm>
            <a:off x="2048256" y="3767328"/>
            <a:ext cx="1481328" cy="621792"/>
          </a:xfrm>
          <a:prstGeom prst="rect">
            <a:avLst/>
          </a:prstGeom>
          <a:solidFill>
            <a:srgbClr val="0D1B2A"/>
          </a:solidFill>
          <a:ln w="12700">
            <a:solidFill>
              <a:srgbClr val="0D1B2A"/>
            </a:solidFill>
            <a:prstDash val="solid"/>
          </a:ln>
        </p:spPr>
      </p:sp>
      <p:sp>
        <p:nvSpPr>
          <p:cNvPr id="36" name="Text 28"/>
          <p:cNvSpPr/>
          <p:nvPr/>
        </p:nvSpPr>
        <p:spPr>
          <a:xfrm>
            <a:off x="2048256" y="3822192"/>
            <a:ext cx="1481328" cy="51206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Signature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Validate</a:t>
            </a:r>
            <a:endParaRPr lang="en-US" sz="1000" dirty="0"/>
          </a:p>
        </p:txBody>
      </p:sp>
      <p:sp>
        <p:nvSpPr>
          <p:cNvPr id="37" name="Text 29"/>
          <p:cNvSpPr/>
          <p:nvPr/>
        </p:nvSpPr>
        <p:spPr>
          <a:xfrm>
            <a:off x="3584448" y="3895344"/>
            <a:ext cx="219456" cy="329184"/>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38" name="Shape 30"/>
          <p:cNvSpPr/>
          <p:nvPr/>
        </p:nvSpPr>
        <p:spPr>
          <a:xfrm>
            <a:off x="3730752" y="3767328"/>
            <a:ext cx="1481328" cy="621792"/>
          </a:xfrm>
          <a:prstGeom prst="rect">
            <a:avLst/>
          </a:prstGeom>
          <a:solidFill>
            <a:srgbClr val="8B4000"/>
          </a:solidFill>
          <a:ln w="12700">
            <a:solidFill>
              <a:srgbClr val="8B4000"/>
            </a:solidFill>
            <a:prstDash val="solid"/>
          </a:ln>
        </p:spPr>
      </p:sp>
      <p:sp>
        <p:nvSpPr>
          <p:cNvPr id="39" name="Text 31"/>
          <p:cNvSpPr/>
          <p:nvPr/>
        </p:nvSpPr>
        <p:spPr>
          <a:xfrm>
            <a:off x="3730752" y="3822192"/>
            <a:ext cx="1481328" cy="51206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Parse →</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Canonical</a:t>
            </a:r>
            <a:endParaRPr lang="en-US" sz="1000" dirty="0"/>
          </a:p>
        </p:txBody>
      </p:sp>
      <p:sp>
        <p:nvSpPr>
          <p:cNvPr id="40" name="Text 32"/>
          <p:cNvSpPr/>
          <p:nvPr/>
        </p:nvSpPr>
        <p:spPr>
          <a:xfrm>
            <a:off x="5266944" y="3895344"/>
            <a:ext cx="219456" cy="329184"/>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41" name="Shape 33"/>
          <p:cNvSpPr/>
          <p:nvPr/>
        </p:nvSpPr>
        <p:spPr>
          <a:xfrm>
            <a:off x="5413248" y="3767328"/>
            <a:ext cx="1481328" cy="621792"/>
          </a:xfrm>
          <a:prstGeom prst="rect">
            <a:avLst/>
          </a:prstGeom>
          <a:solidFill>
            <a:srgbClr val="E07B54"/>
          </a:solidFill>
          <a:ln w="12700">
            <a:solidFill>
              <a:srgbClr val="E07B54"/>
            </a:solidFill>
            <a:prstDash val="solid"/>
          </a:ln>
        </p:spPr>
      </p:sp>
      <p:sp>
        <p:nvSpPr>
          <p:cNvPr id="42" name="Text 34"/>
          <p:cNvSpPr/>
          <p:nvPr/>
        </p:nvSpPr>
        <p:spPr>
          <a:xfrm>
            <a:off x="5413248" y="3822192"/>
            <a:ext cx="1481328" cy="51206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Publish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Valkey</a:t>
            </a:r>
            <a:endParaRPr lang="en-US" sz="1000" dirty="0"/>
          </a:p>
        </p:txBody>
      </p:sp>
      <p:sp>
        <p:nvSpPr>
          <p:cNvPr id="43" name="Text 35"/>
          <p:cNvSpPr/>
          <p:nvPr/>
        </p:nvSpPr>
        <p:spPr>
          <a:xfrm>
            <a:off x="6949440" y="3895344"/>
            <a:ext cx="219456" cy="329184"/>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44" name="Shape 36"/>
          <p:cNvSpPr/>
          <p:nvPr/>
        </p:nvSpPr>
        <p:spPr>
          <a:xfrm>
            <a:off x="7095744" y="3767328"/>
            <a:ext cx="1481328" cy="621792"/>
          </a:xfrm>
          <a:prstGeom prst="rect">
            <a:avLst/>
          </a:prstGeom>
          <a:solidFill>
            <a:srgbClr val="1A936F"/>
          </a:solidFill>
          <a:ln w="12700">
            <a:solidFill>
              <a:srgbClr val="1A936F"/>
            </a:solidFill>
            <a:prstDash val="solid"/>
          </a:ln>
        </p:spPr>
      </p:sp>
      <p:sp>
        <p:nvSpPr>
          <p:cNvPr id="45" name="Text 37"/>
          <p:cNvSpPr/>
          <p:nvPr/>
        </p:nvSpPr>
        <p:spPr>
          <a:xfrm>
            <a:off x="7095744" y="3822192"/>
            <a:ext cx="1481328" cy="51206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200 OK</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&lt;5 sec</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C39A"/>
                </a:solidFill>
                <a:latin typeface="Calibri" pitchFamily="34" charset="0"/>
                <a:ea typeface="Calibri" pitchFamily="34" charset="-122"/>
                <a:cs typeface="Calibri" pitchFamily="34" charset="-120"/>
              </a:rPr>
              <a:t>SERVICE DEEP DIVE  ·  AI-CORE  ·  THIS IS THE HEART OF UNISERVE</a:t>
            </a:r>
            <a:endParaRPr lang="en-US" sz="900" dirty="0"/>
          </a:p>
        </p:txBody>
      </p:sp>
      <p:sp>
        <p:nvSpPr>
          <p:cNvPr id="3" name="Text 1"/>
          <p:cNvSpPr/>
          <p:nvPr/>
        </p:nvSpPr>
        <p:spPr>
          <a:xfrm>
            <a:off x="457200" y="457200"/>
            <a:ext cx="6583680" cy="566928"/>
          </a:xfrm>
          <a:prstGeom prst="rect">
            <a:avLst/>
          </a:prstGeom>
          <a:noFill/>
          <a:ln/>
        </p:spPr>
        <p:txBody>
          <a:bodyPr wrap="square" rtlCol="0" anchor="ctr"/>
          <a:lstStyle/>
          <a:p>
            <a:pPr indent="0" marL="0">
              <a:lnSpc>
                <a:spcPct val="110000"/>
              </a:lnSpc>
              <a:buNone/>
            </a:pPr>
            <a:r>
              <a:rPr lang="en-US" sz="2600" b="1" dirty="0">
                <a:solidFill>
                  <a:srgbClr val="FFFFFF"/>
                </a:solidFill>
                <a:latin typeface="Cambria" pitchFamily="34" charset="0"/>
                <a:ea typeface="Cambria" pitchFamily="34" charset="-122"/>
                <a:cs typeface="Cambria" pitchFamily="34" charset="-120"/>
              </a:rPr>
              <a:t>Five AI stages. Every complaint. Zero hallucination.</a:t>
            </a:r>
            <a:endParaRPr lang="en-US" sz="2600" dirty="0"/>
          </a:p>
        </p:txBody>
      </p:sp>
      <p:sp>
        <p:nvSpPr>
          <p:cNvPr id="4" name="Shape 2"/>
          <p:cNvSpPr/>
          <p:nvPr/>
        </p:nvSpPr>
        <p:spPr>
          <a:xfrm>
            <a:off x="7132320" y="164592"/>
            <a:ext cx="1828800" cy="566928"/>
          </a:xfrm>
          <a:prstGeom prst="rect">
            <a:avLst/>
          </a:prstGeom>
          <a:solidFill>
            <a:srgbClr val="028090"/>
          </a:solidFill>
          <a:ln w="12700">
            <a:solidFill>
              <a:srgbClr val="028090"/>
            </a:solidFill>
            <a:prstDash val="solid"/>
          </a:ln>
        </p:spPr>
      </p:sp>
      <p:pic>
        <p:nvPicPr>
          <p:cNvPr id="5" name="Image 0" descr="preencoded.png">    </p:cNvPr>
          <p:cNvPicPr>
            <a:picLocks noChangeAspect="1"/>
          </p:cNvPicPr>
          <p:nvPr/>
        </p:nvPicPr>
        <p:blipFill>
          <a:blip r:embed="rId1"/>
          <a:stretch>
            <a:fillRect/>
          </a:stretch>
        </p:blipFill>
        <p:spPr>
          <a:xfrm>
            <a:off x="7242048" y="274320"/>
            <a:ext cx="274320" cy="274320"/>
          </a:xfrm>
          <a:prstGeom prst="rect">
            <a:avLst/>
          </a:prstGeom>
        </p:spPr>
      </p:pic>
      <p:sp>
        <p:nvSpPr>
          <p:cNvPr id="6" name="Text 3"/>
          <p:cNvSpPr/>
          <p:nvPr/>
        </p:nvSpPr>
        <p:spPr>
          <a:xfrm>
            <a:off x="7571232" y="274320"/>
            <a:ext cx="1298448" cy="25603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Python 3.11 FastAPI</a:t>
            </a:r>
            <a:endParaRPr lang="en-US" sz="950" dirty="0"/>
          </a:p>
        </p:txBody>
      </p:sp>
      <p:sp>
        <p:nvSpPr>
          <p:cNvPr id="7" name="Text 4"/>
          <p:cNvSpPr/>
          <p:nvPr/>
        </p:nvSpPr>
        <p:spPr>
          <a:xfrm>
            <a:off x="7205472" y="475488"/>
            <a:ext cx="1664208" cy="182880"/>
          </a:xfrm>
          <a:prstGeom prst="rect">
            <a:avLst/>
          </a:prstGeom>
          <a:noFill/>
          <a:ln/>
        </p:spPr>
        <p:txBody>
          <a:bodyPr wrap="square" rtlCol="0" anchor="ctr"/>
          <a:lstStyle/>
          <a:p>
            <a:pPr algn="ctr" indent="0" marL="0">
              <a:buNone/>
            </a:pPr>
            <a:r>
              <a:rPr lang="en-US" sz="800" dirty="0">
                <a:solidFill>
                  <a:srgbClr val="D0F0F5"/>
                </a:solidFill>
                <a:latin typeface="Calibri" pitchFamily="34" charset="0"/>
                <a:ea typeface="Calibri" pitchFamily="34" charset="-122"/>
                <a:cs typeface="Calibri" pitchFamily="34" charset="-120"/>
              </a:rPr>
              <a:t>Port 8001  ·  N replicas</a:t>
            </a:r>
            <a:endParaRPr lang="en-US" sz="800" dirty="0"/>
          </a:p>
        </p:txBody>
      </p:sp>
      <p:sp>
        <p:nvSpPr>
          <p:cNvPr id="8" name="Shape 5"/>
          <p:cNvSpPr/>
          <p:nvPr/>
        </p:nvSpPr>
        <p:spPr>
          <a:xfrm>
            <a:off x="731520" y="1115568"/>
            <a:ext cx="969264" cy="969264"/>
          </a:xfrm>
          <a:prstGeom prst="ellipse">
            <a:avLst/>
          </a:prstGeom>
          <a:solidFill>
            <a:srgbClr val="0D1B2A"/>
          </a:solidFill>
          <a:ln w="12700">
            <a:solidFill>
              <a:srgbClr val="0D1B2A"/>
            </a:solidFill>
            <a:prstDash val="solid"/>
          </a:ln>
        </p:spPr>
      </p:sp>
      <p:pic>
        <p:nvPicPr>
          <p:cNvPr id="9" name="Image 1" descr="preencoded.png">    </p:cNvPr>
          <p:cNvPicPr>
            <a:picLocks noChangeAspect="1"/>
          </p:cNvPicPr>
          <p:nvPr/>
        </p:nvPicPr>
        <p:blipFill>
          <a:blip r:embed="rId2"/>
          <a:stretch>
            <a:fillRect/>
          </a:stretch>
        </p:blipFill>
        <p:spPr>
          <a:xfrm>
            <a:off x="914400" y="1298448"/>
            <a:ext cx="603504" cy="603504"/>
          </a:xfrm>
          <a:prstGeom prst="rect">
            <a:avLst/>
          </a:prstGeom>
        </p:spPr>
      </p:pic>
      <p:sp>
        <p:nvSpPr>
          <p:cNvPr id="10" name="Text 6"/>
          <p:cNvSpPr/>
          <p:nvPr/>
        </p:nvSpPr>
        <p:spPr>
          <a:xfrm>
            <a:off x="1773936" y="1335024"/>
            <a:ext cx="219456" cy="329184"/>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11" name="Text 7"/>
          <p:cNvSpPr/>
          <p:nvPr/>
        </p:nvSpPr>
        <p:spPr>
          <a:xfrm>
            <a:off x="347472" y="2176272"/>
            <a:ext cx="173736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1. Identity Gate</a:t>
            </a:r>
            <a:endParaRPr lang="en-US" sz="1000" dirty="0"/>
          </a:p>
        </p:txBody>
      </p:sp>
      <p:sp>
        <p:nvSpPr>
          <p:cNvPr id="12" name="Text 8"/>
          <p:cNvSpPr/>
          <p:nvPr/>
        </p:nvSpPr>
        <p:spPr>
          <a:xfrm>
            <a:off x="347472" y="2487168"/>
            <a:ext cx="1737360" cy="566928"/>
          </a:xfrm>
          <a:prstGeom prst="rect">
            <a:avLst/>
          </a:prstGeom>
          <a:noFill/>
          <a:ln/>
        </p:spPr>
        <p:txBody>
          <a:bodyPr wrap="square" rtlCol="0" anchor="ctr"/>
          <a:lstStyle/>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Decision tree:</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WhatsApp → skip</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Email → ask</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Anon → allow</a:t>
            </a:r>
            <a:endParaRPr lang="en-US" sz="850" dirty="0"/>
          </a:p>
        </p:txBody>
      </p:sp>
      <p:sp>
        <p:nvSpPr>
          <p:cNvPr id="13" name="Shape 9"/>
          <p:cNvSpPr/>
          <p:nvPr/>
        </p:nvSpPr>
        <p:spPr>
          <a:xfrm>
            <a:off x="347472" y="3145536"/>
            <a:ext cx="1700784" cy="859536"/>
          </a:xfrm>
          <a:prstGeom prst="rect">
            <a:avLst/>
          </a:prstGeom>
          <a:solidFill>
            <a:srgbClr val="0A1628"/>
          </a:solidFill>
          <a:ln w="12700">
            <a:solidFill>
              <a:srgbClr val="2A4A6A"/>
            </a:solidFill>
            <a:prstDash val="solid"/>
          </a:ln>
        </p:spPr>
      </p:sp>
      <p:sp>
        <p:nvSpPr>
          <p:cNvPr id="14" name="Text 10"/>
          <p:cNvSpPr/>
          <p:nvPr/>
        </p:nvSpPr>
        <p:spPr>
          <a:xfrm>
            <a:off x="438912" y="3218688"/>
            <a:ext cx="1517904" cy="713232"/>
          </a:xfrm>
          <a:prstGeom prst="rect">
            <a:avLst/>
          </a:prstGeom>
          <a:noFill/>
          <a:ln/>
        </p:spPr>
        <p:txBody>
          <a:bodyPr wrap="square" rtlCol="0" anchor="ctr"/>
          <a:lstStyle/>
          <a:p>
            <a:pPr indent="0" marL="0">
              <a:lnSpc>
                <a:spcPct val="130000"/>
              </a:lnSpc>
              <a:buNone/>
            </a:pPr>
            <a:r>
              <a:rPr lang="en-US" sz="850" dirty="0">
                <a:solidFill>
                  <a:srgbClr val="8EB4C8"/>
                </a:solidFill>
                <a:latin typeface="Calibri" pitchFamily="34" charset="0"/>
                <a:ea typeface="Calibri" pitchFamily="34" charset="-122"/>
                <a:cs typeface="Calibri" pitchFamily="34" charset="-120"/>
              </a:rPr>
              <a:t>looks_like_intake_answer() — LLM-free gating. Intake answers never create new tickets.</a:t>
            </a:r>
            <a:endParaRPr lang="en-US" sz="850" dirty="0"/>
          </a:p>
        </p:txBody>
      </p:sp>
      <p:sp>
        <p:nvSpPr>
          <p:cNvPr id="15" name="Shape 11"/>
          <p:cNvSpPr/>
          <p:nvPr/>
        </p:nvSpPr>
        <p:spPr>
          <a:xfrm>
            <a:off x="2468880" y="1115568"/>
            <a:ext cx="969264" cy="969264"/>
          </a:xfrm>
          <a:prstGeom prst="ellipse">
            <a:avLst/>
          </a:prstGeom>
          <a:solidFill>
            <a:srgbClr val="1A5C2A"/>
          </a:solidFill>
          <a:ln w="12700">
            <a:solidFill>
              <a:srgbClr val="1A5C2A"/>
            </a:solidFill>
            <a:prstDash val="solid"/>
          </a:ln>
        </p:spPr>
      </p:sp>
      <p:pic>
        <p:nvPicPr>
          <p:cNvPr id="16" name="Image 2" descr="preencoded.png">    </p:cNvPr>
          <p:cNvPicPr>
            <a:picLocks noChangeAspect="1"/>
          </p:cNvPicPr>
          <p:nvPr/>
        </p:nvPicPr>
        <p:blipFill>
          <a:blip r:embed="rId3"/>
          <a:stretch>
            <a:fillRect/>
          </a:stretch>
        </p:blipFill>
        <p:spPr>
          <a:xfrm>
            <a:off x="2651760" y="1298448"/>
            <a:ext cx="603504" cy="603504"/>
          </a:xfrm>
          <a:prstGeom prst="rect">
            <a:avLst/>
          </a:prstGeom>
        </p:spPr>
      </p:pic>
      <p:sp>
        <p:nvSpPr>
          <p:cNvPr id="17" name="Text 12"/>
          <p:cNvSpPr/>
          <p:nvPr/>
        </p:nvSpPr>
        <p:spPr>
          <a:xfrm>
            <a:off x="3511296" y="1335024"/>
            <a:ext cx="219456" cy="329184"/>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18" name="Text 13"/>
          <p:cNvSpPr/>
          <p:nvPr/>
        </p:nvSpPr>
        <p:spPr>
          <a:xfrm>
            <a:off x="2084832" y="2176272"/>
            <a:ext cx="173736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2. PII Scrubber</a:t>
            </a:r>
            <a:endParaRPr lang="en-US" sz="1000" dirty="0"/>
          </a:p>
        </p:txBody>
      </p:sp>
      <p:sp>
        <p:nvSpPr>
          <p:cNvPr id="19" name="Text 14"/>
          <p:cNvSpPr/>
          <p:nvPr/>
        </p:nvSpPr>
        <p:spPr>
          <a:xfrm>
            <a:off x="2084832" y="2487168"/>
            <a:ext cx="1737360" cy="566928"/>
          </a:xfrm>
          <a:prstGeom prst="rect">
            <a:avLst/>
          </a:prstGeom>
          <a:noFill/>
          <a:ln/>
        </p:spPr>
        <p:txBody>
          <a:bodyPr wrap="square" rtlCol="0" anchor="ctr"/>
          <a:lstStyle/>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Presidio + India</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Aadhaar, PAN</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mobile, email</a:t>
            </a:r>
            <a:endParaRPr lang="en-US" sz="850" dirty="0"/>
          </a:p>
        </p:txBody>
      </p:sp>
      <p:sp>
        <p:nvSpPr>
          <p:cNvPr id="20" name="Shape 15"/>
          <p:cNvSpPr/>
          <p:nvPr/>
        </p:nvSpPr>
        <p:spPr>
          <a:xfrm>
            <a:off x="2084832" y="3145536"/>
            <a:ext cx="1700784" cy="859536"/>
          </a:xfrm>
          <a:prstGeom prst="rect">
            <a:avLst/>
          </a:prstGeom>
          <a:solidFill>
            <a:srgbClr val="0A1628"/>
          </a:solidFill>
          <a:ln w="12700">
            <a:solidFill>
              <a:srgbClr val="2A4A6A"/>
            </a:solidFill>
            <a:prstDash val="solid"/>
          </a:ln>
        </p:spPr>
      </p:sp>
      <p:sp>
        <p:nvSpPr>
          <p:cNvPr id="21" name="Text 16"/>
          <p:cNvSpPr/>
          <p:nvPr/>
        </p:nvSpPr>
        <p:spPr>
          <a:xfrm>
            <a:off x="2176272" y="3218688"/>
            <a:ext cx="1517904" cy="713232"/>
          </a:xfrm>
          <a:prstGeom prst="rect">
            <a:avLst/>
          </a:prstGeom>
          <a:noFill/>
          <a:ln/>
        </p:spPr>
        <p:txBody>
          <a:bodyPr wrap="square" rtlCol="0" anchor="ctr"/>
          <a:lstStyle/>
          <a:p>
            <a:pPr indent="0" marL="0">
              <a:lnSpc>
                <a:spcPct val="130000"/>
              </a:lnSpc>
              <a:buNone/>
            </a:pPr>
            <a:r>
              <a:rPr lang="en-US" sz="850" dirty="0">
                <a:solidFill>
                  <a:srgbClr val="8EB4C8"/>
                </a:solidFill>
                <a:latin typeface="Calibri" pitchFamily="34" charset="0"/>
                <a:ea typeface="Calibri" pitchFamily="34" charset="-122"/>
                <a:cs typeface="Calibri" pitchFamily="34" charset="-120"/>
              </a:rPr>
              <a:t>Tokens before every LLM call. Rehydrates after. PHASE_2: AES-256-GCM field encryption.</a:t>
            </a:r>
            <a:endParaRPr lang="en-US" sz="850" dirty="0"/>
          </a:p>
        </p:txBody>
      </p:sp>
      <p:sp>
        <p:nvSpPr>
          <p:cNvPr id="22" name="Shape 17"/>
          <p:cNvSpPr/>
          <p:nvPr/>
        </p:nvSpPr>
        <p:spPr>
          <a:xfrm>
            <a:off x="4206240" y="1115568"/>
            <a:ext cx="969264" cy="969264"/>
          </a:xfrm>
          <a:prstGeom prst="ellipse">
            <a:avLst/>
          </a:prstGeom>
          <a:solidFill>
            <a:srgbClr val="028090"/>
          </a:solidFill>
          <a:ln w="12700">
            <a:solidFill>
              <a:srgbClr val="028090"/>
            </a:solidFill>
            <a:prstDash val="solid"/>
          </a:ln>
        </p:spPr>
      </p:sp>
      <p:pic>
        <p:nvPicPr>
          <p:cNvPr id="23" name="Image 3" descr="preencoded.png">    </p:cNvPr>
          <p:cNvPicPr>
            <a:picLocks noChangeAspect="1"/>
          </p:cNvPicPr>
          <p:nvPr/>
        </p:nvPicPr>
        <p:blipFill>
          <a:blip r:embed="rId4"/>
          <a:stretch>
            <a:fillRect/>
          </a:stretch>
        </p:blipFill>
        <p:spPr>
          <a:xfrm>
            <a:off x="4389120" y="1298448"/>
            <a:ext cx="603504" cy="603504"/>
          </a:xfrm>
          <a:prstGeom prst="rect">
            <a:avLst/>
          </a:prstGeom>
        </p:spPr>
      </p:pic>
      <p:sp>
        <p:nvSpPr>
          <p:cNvPr id="24" name="Text 18"/>
          <p:cNvSpPr/>
          <p:nvPr/>
        </p:nvSpPr>
        <p:spPr>
          <a:xfrm>
            <a:off x="5248656" y="1335024"/>
            <a:ext cx="219456" cy="329184"/>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25" name="Text 19"/>
          <p:cNvSpPr/>
          <p:nvPr/>
        </p:nvSpPr>
        <p:spPr>
          <a:xfrm>
            <a:off x="3822192" y="2176272"/>
            <a:ext cx="173736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3. Conversation Agent</a:t>
            </a:r>
            <a:endParaRPr lang="en-US" sz="1000" dirty="0"/>
          </a:p>
        </p:txBody>
      </p:sp>
      <p:sp>
        <p:nvSpPr>
          <p:cNvPr id="26" name="Text 20"/>
          <p:cNvSpPr/>
          <p:nvPr/>
        </p:nvSpPr>
        <p:spPr>
          <a:xfrm>
            <a:off x="3822192" y="2487168"/>
            <a:ext cx="1737360" cy="566928"/>
          </a:xfrm>
          <a:prstGeom prst="rect">
            <a:avLst/>
          </a:prstGeom>
          <a:noFill/>
          <a:ln/>
        </p:spPr>
        <p:txBody>
          <a:bodyPr wrap="square" rtlCol="0" anchor="ctr"/>
          <a:lstStyle/>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OpenAI Assistants</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Tool: confirm_identity</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Tool: submit_complaint</a:t>
            </a:r>
            <a:endParaRPr lang="en-US" sz="850" dirty="0"/>
          </a:p>
        </p:txBody>
      </p:sp>
      <p:sp>
        <p:nvSpPr>
          <p:cNvPr id="27" name="Shape 21"/>
          <p:cNvSpPr/>
          <p:nvPr/>
        </p:nvSpPr>
        <p:spPr>
          <a:xfrm>
            <a:off x="3822192" y="3145536"/>
            <a:ext cx="1700784" cy="859536"/>
          </a:xfrm>
          <a:prstGeom prst="rect">
            <a:avLst/>
          </a:prstGeom>
          <a:solidFill>
            <a:srgbClr val="0A1628"/>
          </a:solidFill>
          <a:ln w="12700">
            <a:solidFill>
              <a:srgbClr val="2A4A6A"/>
            </a:solidFill>
            <a:prstDash val="solid"/>
          </a:ln>
        </p:spPr>
      </p:sp>
      <p:sp>
        <p:nvSpPr>
          <p:cNvPr id="28" name="Text 22"/>
          <p:cNvSpPr/>
          <p:nvPr/>
        </p:nvSpPr>
        <p:spPr>
          <a:xfrm>
            <a:off x="3913632" y="3218688"/>
            <a:ext cx="1517904" cy="713232"/>
          </a:xfrm>
          <a:prstGeom prst="rect">
            <a:avLst/>
          </a:prstGeom>
          <a:noFill/>
          <a:ln/>
        </p:spPr>
        <p:txBody>
          <a:bodyPr wrap="square" rtlCol="0" anchor="ctr"/>
          <a:lstStyle/>
          <a:p>
            <a:pPr indent="0" marL="0">
              <a:lnSpc>
                <a:spcPct val="130000"/>
              </a:lnSpc>
              <a:buNone/>
            </a:pPr>
            <a:r>
              <a:rPr lang="en-US" sz="850" dirty="0">
                <a:solidFill>
                  <a:srgbClr val="8EB4C8"/>
                </a:solidFill>
                <a:latin typeface="Calibri" pitchFamily="34" charset="0"/>
                <a:ea typeface="Calibri" pitchFamily="34" charset="-122"/>
                <a:cs typeface="Calibri" pitchFamily="34" charset="-120"/>
              </a:rPr>
              <a:t>Thread state in Valkey keyed by phone (E.164). Email typo detection via Damerau-Levenshtein.</a:t>
            </a:r>
            <a:endParaRPr lang="en-US" sz="850" dirty="0"/>
          </a:p>
        </p:txBody>
      </p:sp>
      <p:sp>
        <p:nvSpPr>
          <p:cNvPr id="29" name="Shape 23"/>
          <p:cNvSpPr/>
          <p:nvPr/>
        </p:nvSpPr>
        <p:spPr>
          <a:xfrm>
            <a:off x="5943600" y="1115568"/>
            <a:ext cx="969264" cy="969264"/>
          </a:xfrm>
          <a:prstGeom prst="ellipse">
            <a:avLst/>
          </a:prstGeom>
          <a:solidFill>
            <a:srgbClr val="8B4000"/>
          </a:solidFill>
          <a:ln w="12700">
            <a:solidFill>
              <a:srgbClr val="8B4000"/>
            </a:solidFill>
            <a:prstDash val="solid"/>
          </a:ln>
        </p:spPr>
      </p:sp>
      <p:pic>
        <p:nvPicPr>
          <p:cNvPr id="30" name="Image 4" descr="preencoded.png">    </p:cNvPr>
          <p:cNvPicPr>
            <a:picLocks noChangeAspect="1"/>
          </p:cNvPicPr>
          <p:nvPr/>
        </p:nvPicPr>
        <p:blipFill>
          <a:blip r:embed="rId5"/>
          <a:stretch>
            <a:fillRect/>
          </a:stretch>
        </p:blipFill>
        <p:spPr>
          <a:xfrm>
            <a:off x="6126480" y="1298448"/>
            <a:ext cx="603504" cy="603504"/>
          </a:xfrm>
          <a:prstGeom prst="rect">
            <a:avLst/>
          </a:prstGeom>
        </p:spPr>
      </p:pic>
      <p:sp>
        <p:nvSpPr>
          <p:cNvPr id="31" name="Text 24"/>
          <p:cNvSpPr/>
          <p:nvPr/>
        </p:nvSpPr>
        <p:spPr>
          <a:xfrm>
            <a:off x="6986016" y="1335024"/>
            <a:ext cx="219456" cy="329184"/>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32" name="Text 25"/>
          <p:cNvSpPr/>
          <p:nvPr/>
        </p:nvSpPr>
        <p:spPr>
          <a:xfrm>
            <a:off x="5559552" y="2176272"/>
            <a:ext cx="173736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4. Classify &amp; Dedup</a:t>
            </a:r>
            <a:endParaRPr lang="en-US" sz="1000" dirty="0"/>
          </a:p>
        </p:txBody>
      </p:sp>
      <p:sp>
        <p:nvSpPr>
          <p:cNvPr id="33" name="Text 26"/>
          <p:cNvSpPr/>
          <p:nvPr/>
        </p:nvSpPr>
        <p:spPr>
          <a:xfrm>
            <a:off x="5559552" y="2487168"/>
            <a:ext cx="1737360" cy="566928"/>
          </a:xfrm>
          <a:prstGeom prst="rect">
            <a:avLst/>
          </a:prstGeom>
          <a:noFill/>
          <a:ln/>
        </p:spPr>
        <p:txBody>
          <a:bodyPr wrap="square" rtlCol="0" anchor="ctr"/>
          <a:lstStyle/>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Intent · Category</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Sentiment score</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Cross-channel dedup</a:t>
            </a:r>
            <a:endParaRPr lang="en-US" sz="850" dirty="0"/>
          </a:p>
        </p:txBody>
      </p:sp>
      <p:sp>
        <p:nvSpPr>
          <p:cNvPr id="34" name="Shape 27"/>
          <p:cNvSpPr/>
          <p:nvPr/>
        </p:nvSpPr>
        <p:spPr>
          <a:xfrm>
            <a:off x="5559552" y="3145536"/>
            <a:ext cx="1700784" cy="859536"/>
          </a:xfrm>
          <a:prstGeom prst="rect">
            <a:avLst/>
          </a:prstGeom>
          <a:solidFill>
            <a:srgbClr val="0A1628"/>
          </a:solidFill>
          <a:ln w="12700">
            <a:solidFill>
              <a:srgbClr val="2A4A6A"/>
            </a:solidFill>
            <a:prstDash val="solid"/>
          </a:ln>
        </p:spPr>
      </p:sp>
      <p:sp>
        <p:nvSpPr>
          <p:cNvPr id="35" name="Text 28"/>
          <p:cNvSpPr/>
          <p:nvPr/>
        </p:nvSpPr>
        <p:spPr>
          <a:xfrm>
            <a:off x="5650992" y="3218688"/>
            <a:ext cx="1517904" cy="713232"/>
          </a:xfrm>
          <a:prstGeom prst="rect">
            <a:avLst/>
          </a:prstGeom>
          <a:noFill/>
          <a:ln/>
        </p:spPr>
        <p:txBody>
          <a:bodyPr wrap="square" rtlCol="0" anchor="ctr"/>
          <a:lstStyle/>
          <a:p>
            <a:pPr indent="0" marL="0">
              <a:lnSpc>
                <a:spcPct val="130000"/>
              </a:lnSpc>
              <a:buNone/>
            </a:pPr>
            <a:r>
              <a:rPr lang="en-US" sz="850" dirty="0">
                <a:solidFill>
                  <a:srgbClr val="8EB4C8"/>
                </a:solidFill>
                <a:latin typeface="Calibri" pitchFamily="34" charset="0"/>
                <a:ea typeface="Calibri" pitchFamily="34" charset="-122"/>
                <a:cs typeface="Calibri" pitchFamily="34" charset="-120"/>
              </a:rPr>
              <a:t>LLM classification + deterministic fallback. Same identity+category = append not new ticket.</a:t>
            </a:r>
            <a:endParaRPr lang="en-US" sz="850" dirty="0"/>
          </a:p>
        </p:txBody>
      </p:sp>
      <p:sp>
        <p:nvSpPr>
          <p:cNvPr id="36" name="Shape 29"/>
          <p:cNvSpPr/>
          <p:nvPr/>
        </p:nvSpPr>
        <p:spPr>
          <a:xfrm>
            <a:off x="7680960" y="1115568"/>
            <a:ext cx="969264" cy="969264"/>
          </a:xfrm>
          <a:prstGeom prst="ellipse">
            <a:avLst/>
          </a:prstGeom>
          <a:solidFill>
            <a:srgbClr val="E07B54"/>
          </a:solidFill>
          <a:ln w="12700">
            <a:solidFill>
              <a:srgbClr val="E07B54"/>
            </a:solidFill>
            <a:prstDash val="solid"/>
          </a:ln>
        </p:spPr>
      </p:sp>
      <p:pic>
        <p:nvPicPr>
          <p:cNvPr id="37" name="Image 5" descr="preencoded.png">    </p:cNvPr>
          <p:cNvPicPr>
            <a:picLocks noChangeAspect="1"/>
          </p:cNvPicPr>
          <p:nvPr/>
        </p:nvPicPr>
        <p:blipFill>
          <a:blip r:embed="rId6"/>
          <a:stretch>
            <a:fillRect/>
          </a:stretch>
        </p:blipFill>
        <p:spPr>
          <a:xfrm>
            <a:off x="7863840" y="1298448"/>
            <a:ext cx="603504" cy="603504"/>
          </a:xfrm>
          <a:prstGeom prst="rect">
            <a:avLst/>
          </a:prstGeom>
        </p:spPr>
      </p:pic>
      <p:sp>
        <p:nvSpPr>
          <p:cNvPr id="38" name="Text 30"/>
          <p:cNvSpPr/>
          <p:nvPr/>
        </p:nvSpPr>
        <p:spPr>
          <a:xfrm>
            <a:off x="7296912" y="2176272"/>
            <a:ext cx="1737360" cy="274320"/>
          </a:xfrm>
          <a:prstGeom prst="rect">
            <a:avLst/>
          </a:prstGeom>
          <a:noFill/>
          <a:ln/>
        </p:spPr>
        <p:txBody>
          <a:bodyPr wrap="square"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5. Priority Score</a:t>
            </a:r>
            <a:endParaRPr lang="en-US" sz="1000" dirty="0"/>
          </a:p>
        </p:txBody>
      </p:sp>
      <p:sp>
        <p:nvSpPr>
          <p:cNvPr id="39" name="Text 31"/>
          <p:cNvSpPr/>
          <p:nvPr/>
        </p:nvSpPr>
        <p:spPr>
          <a:xfrm>
            <a:off x="7296912" y="2487168"/>
            <a:ext cx="1737360" cy="566928"/>
          </a:xfrm>
          <a:prstGeom prst="rect">
            <a:avLst/>
          </a:prstGeom>
          <a:noFill/>
          <a:ln/>
        </p:spPr>
        <p:txBody>
          <a:bodyPr wrap="square" rtlCol="0" anchor="ctr"/>
          <a:lstStyle/>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Sentiment × SLA</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 repeat contact</a:t>
            </a:r>
            <a:endParaRPr lang="en-US" sz="850" dirty="0"/>
          </a:p>
          <a:p>
            <a:pPr algn="ctr" indent="0" marL="0">
              <a:lnSpc>
                <a:spcPct val="130000"/>
              </a:lnSpc>
              <a:buNone/>
            </a:pPr>
            <a:r>
              <a:rPr lang="en-US" sz="850" dirty="0">
                <a:solidFill>
                  <a:srgbClr val="8EB4C8"/>
                </a:solidFill>
                <a:latin typeface="Calibri" pitchFamily="34" charset="0"/>
                <a:ea typeface="Calibri" pitchFamily="34" charset="-122"/>
                <a:cs typeface="Calibri" pitchFamily="34" charset="-120"/>
              </a:rPr>
              <a:t>× channel severity</a:t>
            </a:r>
            <a:endParaRPr lang="en-US" sz="850" dirty="0"/>
          </a:p>
        </p:txBody>
      </p:sp>
      <p:sp>
        <p:nvSpPr>
          <p:cNvPr id="40" name="Shape 32"/>
          <p:cNvSpPr/>
          <p:nvPr/>
        </p:nvSpPr>
        <p:spPr>
          <a:xfrm>
            <a:off x="7296912" y="3145536"/>
            <a:ext cx="1700784" cy="859536"/>
          </a:xfrm>
          <a:prstGeom prst="rect">
            <a:avLst/>
          </a:prstGeom>
          <a:solidFill>
            <a:srgbClr val="0A1628"/>
          </a:solidFill>
          <a:ln w="12700">
            <a:solidFill>
              <a:srgbClr val="2A4A6A"/>
            </a:solidFill>
            <a:prstDash val="solid"/>
          </a:ln>
        </p:spPr>
      </p:sp>
      <p:sp>
        <p:nvSpPr>
          <p:cNvPr id="41" name="Text 33"/>
          <p:cNvSpPr/>
          <p:nvPr/>
        </p:nvSpPr>
        <p:spPr>
          <a:xfrm>
            <a:off x="7388352" y="3218688"/>
            <a:ext cx="1517904" cy="713232"/>
          </a:xfrm>
          <a:prstGeom prst="rect">
            <a:avLst/>
          </a:prstGeom>
          <a:noFill/>
          <a:ln/>
        </p:spPr>
        <p:txBody>
          <a:bodyPr wrap="square" rtlCol="0" anchor="ctr"/>
          <a:lstStyle/>
          <a:p>
            <a:pPr indent="0" marL="0">
              <a:lnSpc>
                <a:spcPct val="130000"/>
              </a:lnSpc>
              <a:buNone/>
            </a:pPr>
            <a:r>
              <a:rPr lang="en-US" sz="850" dirty="0">
                <a:solidFill>
                  <a:srgbClr val="8EB4C8"/>
                </a:solidFill>
                <a:latin typeface="Calibri" pitchFamily="34" charset="0"/>
                <a:ea typeface="Calibri" pitchFamily="34" charset="-122"/>
                <a:cs typeface="Calibri" pitchFamily="34" charset="-120"/>
              </a:rPr>
              <a:t>Weighted 0–10 score. Critical/High/Medium/Low label. WhatsApp = 5, Email = 4 severity.</a:t>
            </a:r>
            <a:endParaRPr lang="en-US" sz="850" dirty="0"/>
          </a:p>
        </p:txBody>
      </p:sp>
      <p:sp>
        <p:nvSpPr>
          <p:cNvPr id="42" name="Shape 34"/>
          <p:cNvSpPr/>
          <p:nvPr/>
        </p:nvSpPr>
        <p:spPr>
          <a:xfrm>
            <a:off x="0" y="4096512"/>
            <a:ext cx="9144000" cy="1046988"/>
          </a:xfrm>
          <a:prstGeom prst="rect">
            <a:avLst/>
          </a:prstGeom>
          <a:solidFill>
            <a:srgbClr val="051020"/>
          </a:solidFill>
          <a:ln w="12700">
            <a:solidFill>
              <a:srgbClr val="028090"/>
            </a:solidFill>
            <a:prstDash val="solid"/>
          </a:ln>
        </p:spPr>
      </p:sp>
      <p:sp>
        <p:nvSpPr>
          <p:cNvPr id="43" name="Shape 35"/>
          <p:cNvSpPr/>
          <p:nvPr/>
        </p:nvSpPr>
        <p:spPr>
          <a:xfrm>
            <a:off x="274320" y="4224528"/>
            <a:ext cx="347472" cy="347472"/>
          </a:xfrm>
          <a:prstGeom prst="ellipse">
            <a:avLst/>
          </a:prstGeom>
          <a:solidFill>
            <a:srgbClr val="028090"/>
          </a:solidFill>
          <a:ln w="12700">
            <a:solidFill>
              <a:srgbClr val="028090"/>
            </a:solidFill>
            <a:prstDash val="solid"/>
          </a:ln>
        </p:spPr>
      </p:sp>
      <p:pic>
        <p:nvPicPr>
          <p:cNvPr id="44" name="Image 6" descr="preencoded.png">    </p:cNvPr>
          <p:cNvPicPr>
            <a:picLocks noChangeAspect="1"/>
          </p:cNvPicPr>
          <p:nvPr/>
        </p:nvPicPr>
        <p:blipFill>
          <a:blip r:embed="rId7"/>
          <a:stretch>
            <a:fillRect/>
          </a:stretch>
        </p:blipFill>
        <p:spPr>
          <a:xfrm>
            <a:off x="356616" y="4306824"/>
            <a:ext cx="182880" cy="182880"/>
          </a:xfrm>
          <a:prstGeom prst="rect">
            <a:avLst/>
          </a:prstGeom>
        </p:spPr>
      </p:pic>
      <p:sp>
        <p:nvSpPr>
          <p:cNvPr id="45" name="Text 36"/>
          <p:cNvSpPr/>
          <p:nvPr/>
        </p:nvSpPr>
        <p:spPr>
          <a:xfrm>
            <a:off x="713232" y="4206240"/>
            <a:ext cx="2377440" cy="237744"/>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Never fabricates</a:t>
            </a:r>
            <a:endParaRPr lang="en-US" sz="1050" dirty="0"/>
          </a:p>
        </p:txBody>
      </p:sp>
      <p:sp>
        <p:nvSpPr>
          <p:cNvPr id="46" name="Text 37"/>
          <p:cNvSpPr/>
          <p:nvPr/>
        </p:nvSpPr>
        <p:spPr>
          <a:xfrm>
            <a:off x="713232" y="4462272"/>
            <a:ext cx="2377440" cy="493776"/>
          </a:xfrm>
          <a:prstGeom prst="rect">
            <a:avLst/>
          </a:prstGeom>
          <a:noFill/>
          <a:ln/>
        </p:spPr>
        <p:txBody>
          <a:bodyPr wrap="square" rtlCol="0" anchor="ctr"/>
          <a:lstStyle/>
          <a:p>
            <a:pPr indent="0" marL="0">
              <a:lnSpc>
                <a:spcPct val="130000"/>
              </a:lnSpc>
              <a:buNone/>
            </a:pPr>
            <a:r>
              <a:rPr lang="en-US" sz="950" dirty="0">
                <a:solidFill>
                  <a:srgbClr val="8EB4C8"/>
                </a:solidFill>
                <a:latin typeface="Calibri" pitchFamily="34" charset="0"/>
                <a:ea typeface="Calibri" pitchFamily="34" charset="-122"/>
                <a:cs typeface="Calibri" pitchFamily="34" charset="-120"/>
              </a:rPr>
              <a:t>Deterministic rule-based fallback when LLM is unavailable. AI is helpful but never the only path.</a:t>
            </a:r>
            <a:endParaRPr lang="en-US" sz="950" dirty="0"/>
          </a:p>
        </p:txBody>
      </p:sp>
      <p:sp>
        <p:nvSpPr>
          <p:cNvPr id="47" name="Shape 38"/>
          <p:cNvSpPr/>
          <p:nvPr/>
        </p:nvSpPr>
        <p:spPr>
          <a:xfrm>
            <a:off x="3200400" y="4224528"/>
            <a:ext cx="347472" cy="347472"/>
          </a:xfrm>
          <a:prstGeom prst="ellipse">
            <a:avLst/>
          </a:prstGeom>
          <a:solidFill>
            <a:srgbClr val="F4A261"/>
          </a:solidFill>
          <a:ln w="12700">
            <a:solidFill>
              <a:srgbClr val="F4A261"/>
            </a:solidFill>
            <a:prstDash val="solid"/>
          </a:ln>
        </p:spPr>
      </p:sp>
      <p:pic>
        <p:nvPicPr>
          <p:cNvPr id="48" name="Image 7" descr="preencoded.png">    </p:cNvPr>
          <p:cNvPicPr>
            <a:picLocks noChangeAspect="1"/>
          </p:cNvPicPr>
          <p:nvPr/>
        </p:nvPicPr>
        <p:blipFill>
          <a:blip r:embed="rId8"/>
          <a:stretch>
            <a:fillRect/>
          </a:stretch>
        </p:blipFill>
        <p:spPr>
          <a:xfrm>
            <a:off x="3282696" y="4306824"/>
            <a:ext cx="182880" cy="182880"/>
          </a:xfrm>
          <a:prstGeom prst="rect">
            <a:avLst/>
          </a:prstGeom>
        </p:spPr>
      </p:pic>
      <p:sp>
        <p:nvSpPr>
          <p:cNvPr id="49" name="Text 39"/>
          <p:cNvSpPr/>
          <p:nvPr/>
        </p:nvSpPr>
        <p:spPr>
          <a:xfrm>
            <a:off x="3639312" y="4206240"/>
            <a:ext cx="2377440" cy="237744"/>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PII never reaches LLM</a:t>
            </a:r>
            <a:endParaRPr lang="en-US" sz="1050" dirty="0"/>
          </a:p>
        </p:txBody>
      </p:sp>
      <p:sp>
        <p:nvSpPr>
          <p:cNvPr id="50" name="Text 40"/>
          <p:cNvSpPr/>
          <p:nvPr/>
        </p:nvSpPr>
        <p:spPr>
          <a:xfrm>
            <a:off x="3639312" y="4462272"/>
            <a:ext cx="2377440" cy="493776"/>
          </a:xfrm>
          <a:prstGeom prst="rect">
            <a:avLst/>
          </a:prstGeom>
          <a:noFill/>
          <a:ln/>
        </p:spPr>
        <p:txBody>
          <a:bodyPr wrap="square" rtlCol="0" anchor="ctr"/>
          <a:lstStyle/>
          <a:p>
            <a:pPr indent="0" marL="0">
              <a:lnSpc>
                <a:spcPct val="130000"/>
              </a:lnSpc>
              <a:buNone/>
            </a:pPr>
            <a:r>
              <a:rPr lang="en-US" sz="950" dirty="0">
                <a:solidFill>
                  <a:srgbClr val="8EB4C8"/>
                </a:solidFill>
                <a:latin typeface="Calibri" pitchFamily="34" charset="0"/>
                <a:ea typeface="Calibri" pitchFamily="34" charset="-122"/>
                <a:cs typeface="Calibri" pitchFamily="34" charset="-120"/>
              </a:rPr>
              <a:t>Every field stripped and tokenised before the API call. Rehydrated from a short-TTL Valkey token map after.</a:t>
            </a:r>
            <a:endParaRPr lang="en-US" sz="950" dirty="0"/>
          </a:p>
        </p:txBody>
      </p:sp>
      <p:sp>
        <p:nvSpPr>
          <p:cNvPr id="51" name="Shape 41"/>
          <p:cNvSpPr/>
          <p:nvPr/>
        </p:nvSpPr>
        <p:spPr>
          <a:xfrm>
            <a:off x="6126480" y="4224528"/>
            <a:ext cx="347472" cy="347472"/>
          </a:xfrm>
          <a:prstGeom prst="ellipse">
            <a:avLst/>
          </a:prstGeom>
          <a:solidFill>
            <a:srgbClr val="E07B54"/>
          </a:solidFill>
          <a:ln w="12700">
            <a:solidFill>
              <a:srgbClr val="E07B54"/>
            </a:solidFill>
            <a:prstDash val="solid"/>
          </a:ln>
        </p:spPr>
      </p:sp>
      <p:pic>
        <p:nvPicPr>
          <p:cNvPr id="52" name="Image 8" descr="preencoded.png">    </p:cNvPr>
          <p:cNvPicPr>
            <a:picLocks noChangeAspect="1"/>
          </p:cNvPicPr>
          <p:nvPr/>
        </p:nvPicPr>
        <p:blipFill>
          <a:blip r:embed="rId9"/>
          <a:stretch>
            <a:fillRect/>
          </a:stretch>
        </p:blipFill>
        <p:spPr>
          <a:xfrm>
            <a:off x="6208776" y="4306824"/>
            <a:ext cx="182880" cy="182880"/>
          </a:xfrm>
          <a:prstGeom prst="rect">
            <a:avLst/>
          </a:prstGeom>
        </p:spPr>
      </p:pic>
      <p:sp>
        <p:nvSpPr>
          <p:cNvPr id="53" name="Text 42"/>
          <p:cNvSpPr/>
          <p:nvPr/>
        </p:nvSpPr>
        <p:spPr>
          <a:xfrm>
            <a:off x="6565392" y="4206240"/>
            <a:ext cx="2377440" cy="237744"/>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Fully configurable per tenant</a:t>
            </a:r>
            <a:endParaRPr lang="en-US" sz="1050" dirty="0"/>
          </a:p>
        </p:txBody>
      </p:sp>
      <p:sp>
        <p:nvSpPr>
          <p:cNvPr id="54" name="Text 43"/>
          <p:cNvSpPr/>
          <p:nvPr/>
        </p:nvSpPr>
        <p:spPr>
          <a:xfrm>
            <a:off x="6565392" y="4462272"/>
            <a:ext cx="2377440" cy="493776"/>
          </a:xfrm>
          <a:prstGeom prst="rect">
            <a:avLst/>
          </a:prstGeom>
          <a:noFill/>
          <a:ln/>
        </p:spPr>
        <p:txBody>
          <a:bodyPr wrap="square" rtlCol="0" anchor="ctr"/>
          <a:lstStyle/>
          <a:p>
            <a:pPr indent="0" marL="0">
              <a:lnSpc>
                <a:spcPct val="130000"/>
              </a:lnSpc>
              <a:buNone/>
            </a:pPr>
            <a:r>
              <a:rPr lang="en-US" sz="950" dirty="0">
                <a:solidFill>
                  <a:srgbClr val="8EB4C8"/>
                </a:solidFill>
                <a:latin typeface="Calibri" pitchFamily="34" charset="0"/>
                <a:ea typeface="Calibri" pitchFamily="34" charset="-122"/>
                <a:cs typeface="Calibri" pitchFamily="34" charset="-120"/>
              </a:rPr>
              <a:t>Priority rubric is free-text. Intake fields are admin-set. Max follow-up questions is a runtime setting.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8090"/>
                </a:solidFill>
                <a:latin typeface="Calibri" pitchFamily="34" charset="0"/>
                <a:ea typeface="Calibri" pitchFamily="34" charset="-122"/>
                <a:cs typeface="Calibri" pitchFamily="34" charset="-120"/>
              </a:rPr>
              <a:t>SERVICE DEEP DIVE  ·  DB-WRITER</a:t>
            </a:r>
            <a:endParaRPr lang="en-US" sz="900" dirty="0"/>
          </a:p>
        </p:txBody>
      </p:sp>
      <p:sp>
        <p:nvSpPr>
          <p:cNvPr id="3" name="Text 1"/>
          <p:cNvSpPr/>
          <p:nvPr/>
        </p:nvSpPr>
        <p:spPr>
          <a:xfrm>
            <a:off x="457200" y="457200"/>
            <a:ext cx="6583680" cy="566928"/>
          </a:xfrm>
          <a:prstGeom prst="rect">
            <a:avLst/>
          </a:prstGeom>
          <a:noFill/>
          <a:ln/>
        </p:spPr>
        <p:txBody>
          <a:bodyPr wrap="square" rtlCol="0" anchor="ctr"/>
          <a:lstStyle/>
          <a:p>
            <a:pPr indent="0" marL="0">
              <a:lnSpc>
                <a:spcPct val="110000"/>
              </a:lnSpc>
              <a:buNone/>
            </a:pPr>
            <a:r>
              <a:rPr lang="en-US" sz="2600" b="1" dirty="0">
                <a:solidFill>
                  <a:srgbClr val="0D1B2A"/>
                </a:solidFill>
                <a:latin typeface="Cambria" pitchFamily="34" charset="0"/>
                <a:ea typeface="Cambria" pitchFamily="34" charset="-122"/>
                <a:cs typeface="Cambria" pitchFamily="34" charset="-120"/>
              </a:rPr>
              <a:t>One pod. One writer. All writes go through here.</a:t>
            </a:r>
            <a:endParaRPr lang="en-US" sz="2600" dirty="0"/>
          </a:p>
        </p:txBody>
      </p:sp>
      <p:sp>
        <p:nvSpPr>
          <p:cNvPr id="4" name="Shape 2"/>
          <p:cNvSpPr/>
          <p:nvPr/>
        </p:nvSpPr>
        <p:spPr>
          <a:xfrm>
            <a:off x="7132320" y="164592"/>
            <a:ext cx="1828800" cy="566928"/>
          </a:xfrm>
          <a:prstGeom prst="rect">
            <a:avLst/>
          </a:prstGeom>
          <a:solidFill>
            <a:srgbClr val="0D1B2A"/>
          </a:solidFill>
          <a:ln w="12700">
            <a:solidFill>
              <a:srgbClr val="0D1B2A"/>
            </a:solidFill>
            <a:prstDash val="solid"/>
          </a:ln>
        </p:spPr>
      </p:sp>
      <p:pic>
        <p:nvPicPr>
          <p:cNvPr id="5" name="Image 0" descr="preencoded.png">    </p:cNvPr>
          <p:cNvPicPr>
            <a:picLocks noChangeAspect="1"/>
          </p:cNvPicPr>
          <p:nvPr/>
        </p:nvPicPr>
        <p:blipFill>
          <a:blip r:embed="rId1"/>
          <a:stretch>
            <a:fillRect/>
          </a:stretch>
        </p:blipFill>
        <p:spPr>
          <a:xfrm>
            <a:off x="7242048" y="274320"/>
            <a:ext cx="274320" cy="274320"/>
          </a:xfrm>
          <a:prstGeom prst="rect">
            <a:avLst/>
          </a:prstGeom>
        </p:spPr>
      </p:pic>
      <p:sp>
        <p:nvSpPr>
          <p:cNvPr id="6" name="Text 3"/>
          <p:cNvSpPr/>
          <p:nvPr/>
        </p:nvSpPr>
        <p:spPr>
          <a:xfrm>
            <a:off x="7571232" y="274320"/>
            <a:ext cx="1298448" cy="256032"/>
          </a:xfrm>
          <a:prstGeom prst="rect">
            <a:avLst/>
          </a:prstGeom>
          <a:noFill/>
          <a:ln/>
        </p:spPr>
        <p:txBody>
          <a:bodyPr wrap="square" rtlCol="0" anchor="ctr"/>
          <a:lstStyle/>
          <a:p>
            <a:pPr indent="0" marL="0">
              <a:buNone/>
            </a:pPr>
            <a:r>
              <a:rPr lang="en-US" sz="950" b="1" dirty="0">
                <a:solidFill>
                  <a:srgbClr val="02C39A"/>
                </a:solidFill>
                <a:latin typeface="Calibri" pitchFamily="34" charset="0"/>
                <a:ea typeface="Calibri" pitchFamily="34" charset="-122"/>
                <a:cs typeface="Calibri" pitchFamily="34" charset="-120"/>
              </a:rPr>
              <a:t>Quarkus Java 21</a:t>
            </a:r>
            <a:endParaRPr lang="en-US" sz="950" dirty="0"/>
          </a:p>
        </p:txBody>
      </p:sp>
      <p:sp>
        <p:nvSpPr>
          <p:cNvPr id="7" name="Text 4"/>
          <p:cNvSpPr/>
          <p:nvPr/>
        </p:nvSpPr>
        <p:spPr>
          <a:xfrm>
            <a:off x="7205472" y="475488"/>
            <a:ext cx="1664208" cy="182880"/>
          </a:xfrm>
          <a:prstGeom prst="rect">
            <a:avLst/>
          </a:prstGeom>
          <a:noFill/>
          <a:ln/>
        </p:spPr>
        <p:txBody>
          <a:bodyPr wrap="square" rtlCol="0" anchor="ctr"/>
          <a:lstStyle/>
          <a:p>
            <a:pPr algn="ctr" indent="0" marL="0">
              <a:buNone/>
            </a:pPr>
            <a:r>
              <a:rPr lang="en-US" sz="800" dirty="0">
                <a:solidFill>
                  <a:srgbClr val="8EB4C8"/>
                </a:solidFill>
                <a:latin typeface="Calibri" pitchFamily="34" charset="0"/>
                <a:ea typeface="Calibri" pitchFamily="34" charset="-122"/>
                <a:cs typeface="Calibri" pitchFamily="34" charset="-120"/>
              </a:rPr>
              <a:t>Port 8090  ·  Single pod</a:t>
            </a:r>
            <a:endParaRPr lang="en-US" sz="800" dirty="0"/>
          </a:p>
        </p:txBody>
      </p:sp>
      <p:sp>
        <p:nvSpPr>
          <p:cNvPr id="8" name="Shape 5"/>
          <p:cNvSpPr/>
          <p:nvPr/>
        </p:nvSpPr>
        <p:spPr>
          <a:xfrm>
            <a:off x="365760" y="1115568"/>
            <a:ext cx="8412480" cy="457200"/>
          </a:xfrm>
          <a:prstGeom prst="rect">
            <a:avLst/>
          </a:prstGeom>
          <a:solidFill>
            <a:srgbClr val="E8F6F8"/>
          </a:solidFill>
          <a:ln w="12700">
            <a:solidFill>
              <a:srgbClr val="028090"/>
            </a:solidFill>
            <a:prstDash val="solid"/>
          </a:ln>
        </p:spPr>
      </p:sp>
      <p:sp>
        <p:nvSpPr>
          <p:cNvPr id="9" name="Text 6"/>
          <p:cNvSpPr/>
          <p:nvPr/>
        </p:nvSpPr>
        <p:spPr>
          <a:xfrm>
            <a:off x="457200" y="1225296"/>
            <a:ext cx="8229600" cy="256032"/>
          </a:xfrm>
          <a:prstGeom prst="rect">
            <a:avLst/>
          </a:prstGeom>
          <a:noFill/>
          <a:ln/>
        </p:spPr>
        <p:txBody>
          <a:bodyPr wrap="square" rtlCol="0" anchor="ctr"/>
          <a:lstStyle/>
          <a:p>
            <a:pPr indent="0" marL="0">
              <a:buNone/>
            </a:pPr>
            <a:r>
              <a:rPr lang="en-US" sz="950" b="1" dirty="0">
                <a:solidFill>
                  <a:srgbClr val="0D1B2A"/>
                </a:solidFill>
                <a:latin typeface="Calibri" pitchFamily="34" charset="0"/>
                <a:ea typeface="Calibri" pitchFamily="34" charset="-122"/>
                <a:cs typeface="Calibri" pitchFamily="34" charset="-120"/>
              </a:rPr>
              <a:t>Any pod (api-gateway, ai-core, dashboard BFF)  →  REST  →  db-writer  →  Caffeine cache hit → return  |  cache miss → SQLite WAL read/write</a:t>
            </a:r>
            <a:endParaRPr lang="en-US" sz="950" dirty="0"/>
          </a:p>
        </p:txBody>
      </p:sp>
      <p:sp>
        <p:nvSpPr>
          <p:cNvPr id="10" name="Shape 7"/>
          <p:cNvSpPr/>
          <p:nvPr/>
        </p:nvSpPr>
        <p:spPr>
          <a:xfrm>
            <a:off x="365760" y="1719072"/>
            <a:ext cx="2029968" cy="1627632"/>
          </a:xfrm>
          <a:prstGeom prst="rect">
            <a:avLst/>
          </a:prstGeom>
          <a:solidFill>
            <a:srgbClr val="F1F5F9"/>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1" name="Shape 8"/>
          <p:cNvSpPr/>
          <p:nvPr/>
        </p:nvSpPr>
        <p:spPr>
          <a:xfrm>
            <a:off x="493776" y="1847088"/>
            <a:ext cx="438912" cy="438912"/>
          </a:xfrm>
          <a:prstGeom prst="ellipse">
            <a:avLst/>
          </a:prstGeom>
          <a:solidFill>
            <a:srgbClr val="0D1B2A"/>
          </a:solidFill>
          <a:ln w="12700">
            <a:solidFill>
              <a:srgbClr val="0D1B2A"/>
            </a:solidFill>
            <a:prstDash val="solid"/>
          </a:ln>
        </p:spPr>
      </p:sp>
      <p:pic>
        <p:nvPicPr>
          <p:cNvPr id="12" name="Image 1" descr="preencoded.png">    </p:cNvPr>
          <p:cNvPicPr>
            <a:picLocks noChangeAspect="1"/>
          </p:cNvPicPr>
          <p:nvPr/>
        </p:nvPicPr>
        <p:blipFill>
          <a:blip r:embed="rId2"/>
          <a:stretch>
            <a:fillRect/>
          </a:stretch>
        </p:blipFill>
        <p:spPr>
          <a:xfrm>
            <a:off x="585216" y="1938528"/>
            <a:ext cx="256032" cy="256032"/>
          </a:xfrm>
          <a:prstGeom prst="rect">
            <a:avLst/>
          </a:prstGeom>
        </p:spPr>
      </p:pic>
      <p:sp>
        <p:nvSpPr>
          <p:cNvPr id="13" name="Text 9"/>
          <p:cNvSpPr/>
          <p:nvPr/>
        </p:nvSpPr>
        <p:spPr>
          <a:xfrm>
            <a:off x="1024128" y="1847088"/>
            <a:ext cx="1243584" cy="237744"/>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SQLite WAL Mode</a:t>
            </a:r>
            <a:endParaRPr lang="en-US" sz="1100" dirty="0"/>
          </a:p>
        </p:txBody>
      </p:sp>
      <p:sp>
        <p:nvSpPr>
          <p:cNvPr id="14" name="Text 10"/>
          <p:cNvSpPr/>
          <p:nvPr/>
        </p:nvSpPr>
        <p:spPr>
          <a:xfrm>
            <a:off x="493776" y="2176272"/>
            <a:ext cx="1773936" cy="1042416"/>
          </a:xfrm>
          <a:prstGeom prst="rect">
            <a:avLst/>
          </a:prstGeom>
          <a:noFill/>
          <a:ln/>
        </p:spPr>
        <p:txBody>
          <a:bodyPr wrap="square" rtlCol="0" anchor="ctr"/>
          <a:lstStyle/>
          <a:p>
            <a:pPr indent="0" marL="0">
              <a:lnSpc>
                <a:spcPct val="135000"/>
              </a:lnSpc>
              <a:buNone/>
            </a:pPr>
            <a:r>
              <a:rPr lang="en-US" sz="950" dirty="0">
                <a:solidFill>
                  <a:srgbClr val="64748B"/>
                </a:solidFill>
                <a:latin typeface="Calibri" pitchFamily="34" charset="0"/>
                <a:ea typeface="Calibri" pitchFamily="34" charset="-122"/>
                <a:cs typeface="Calibri" pitchFamily="34" charset="-120"/>
              </a:rPr>
              <a:t>WAL journal = concurrent readers, single writer. No contention. Persistent Volume Claim survives pod restarts. Backup sidecar copies to cloud storage every 15 minutes.</a:t>
            </a:r>
            <a:endParaRPr lang="en-US" sz="950" dirty="0"/>
          </a:p>
        </p:txBody>
      </p:sp>
      <p:sp>
        <p:nvSpPr>
          <p:cNvPr id="15" name="Shape 11"/>
          <p:cNvSpPr/>
          <p:nvPr/>
        </p:nvSpPr>
        <p:spPr>
          <a:xfrm>
            <a:off x="2542032" y="1719072"/>
            <a:ext cx="2029968" cy="1627632"/>
          </a:xfrm>
          <a:prstGeom prst="rect">
            <a:avLst/>
          </a:prstGeom>
          <a:solidFill>
            <a:srgbClr val="E8F6F8"/>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6" name="Shape 12"/>
          <p:cNvSpPr/>
          <p:nvPr/>
        </p:nvSpPr>
        <p:spPr>
          <a:xfrm>
            <a:off x="2670048" y="1847088"/>
            <a:ext cx="438912" cy="438912"/>
          </a:xfrm>
          <a:prstGeom prst="ellipse">
            <a:avLst/>
          </a:prstGeom>
          <a:solidFill>
            <a:srgbClr val="028090"/>
          </a:solidFill>
          <a:ln w="12700">
            <a:solidFill>
              <a:srgbClr val="028090"/>
            </a:solidFill>
            <a:prstDash val="solid"/>
          </a:ln>
        </p:spPr>
      </p:sp>
      <p:pic>
        <p:nvPicPr>
          <p:cNvPr id="17" name="Image 2" descr="preencoded.png">    </p:cNvPr>
          <p:cNvPicPr>
            <a:picLocks noChangeAspect="1"/>
          </p:cNvPicPr>
          <p:nvPr/>
        </p:nvPicPr>
        <p:blipFill>
          <a:blip r:embed="rId3"/>
          <a:stretch>
            <a:fillRect/>
          </a:stretch>
        </p:blipFill>
        <p:spPr>
          <a:xfrm>
            <a:off x="2761488" y="1938528"/>
            <a:ext cx="256032" cy="256032"/>
          </a:xfrm>
          <a:prstGeom prst="rect">
            <a:avLst/>
          </a:prstGeom>
        </p:spPr>
      </p:pic>
      <p:sp>
        <p:nvSpPr>
          <p:cNvPr id="18" name="Text 13"/>
          <p:cNvSpPr/>
          <p:nvPr/>
        </p:nvSpPr>
        <p:spPr>
          <a:xfrm>
            <a:off x="3200400" y="1847088"/>
            <a:ext cx="1243584" cy="237744"/>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Caffeine Cache</a:t>
            </a:r>
            <a:endParaRPr lang="en-US" sz="1100" dirty="0"/>
          </a:p>
        </p:txBody>
      </p:sp>
      <p:sp>
        <p:nvSpPr>
          <p:cNvPr id="19" name="Text 14"/>
          <p:cNvSpPr/>
          <p:nvPr/>
        </p:nvSpPr>
        <p:spPr>
          <a:xfrm>
            <a:off x="2670048" y="2176272"/>
            <a:ext cx="1773936" cy="1042416"/>
          </a:xfrm>
          <a:prstGeom prst="rect">
            <a:avLst/>
          </a:prstGeom>
          <a:noFill/>
          <a:ln/>
        </p:spPr>
        <p:txBody>
          <a:bodyPr wrap="square" rtlCol="0" anchor="ctr"/>
          <a:lstStyle/>
          <a:p>
            <a:pPr indent="0" marL="0">
              <a:lnSpc>
                <a:spcPct val="135000"/>
              </a:lnSpc>
              <a:buNone/>
            </a:pPr>
            <a:r>
              <a:rPr lang="en-US" sz="950" dirty="0">
                <a:solidFill>
                  <a:srgbClr val="64748B"/>
                </a:solidFill>
                <a:latin typeface="Calibri" pitchFamily="34" charset="0"/>
                <a:ea typeface="Calibri" pitchFamily="34" charset="-122"/>
                <a:cs typeface="Calibri" pitchFamily="34" charset="-120"/>
              </a:rPr>
              <a:t>2-minute TTL in-memory cache. Keys: ticket:{id}, tenant_config:{id}, agent:{id}. Max 1000 entries. Invalidated on every write. Absorbs hot read load before SQLite.</a:t>
            </a:r>
            <a:endParaRPr lang="en-US" sz="950" dirty="0"/>
          </a:p>
        </p:txBody>
      </p:sp>
      <p:sp>
        <p:nvSpPr>
          <p:cNvPr id="20" name="Shape 15"/>
          <p:cNvSpPr/>
          <p:nvPr/>
        </p:nvSpPr>
        <p:spPr>
          <a:xfrm>
            <a:off x="4718304" y="1719072"/>
            <a:ext cx="2029968" cy="1627632"/>
          </a:xfrm>
          <a:prstGeom prst="rect">
            <a:avLst/>
          </a:prstGeom>
          <a:solidFill>
            <a:srgbClr val="FFF3E8"/>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1" name="Shape 16"/>
          <p:cNvSpPr/>
          <p:nvPr/>
        </p:nvSpPr>
        <p:spPr>
          <a:xfrm>
            <a:off x="4846320" y="1847088"/>
            <a:ext cx="438912" cy="438912"/>
          </a:xfrm>
          <a:prstGeom prst="ellipse">
            <a:avLst/>
          </a:prstGeom>
          <a:solidFill>
            <a:srgbClr val="8B4000"/>
          </a:solidFill>
          <a:ln w="12700">
            <a:solidFill>
              <a:srgbClr val="8B4000"/>
            </a:solidFill>
            <a:prstDash val="solid"/>
          </a:ln>
        </p:spPr>
      </p:sp>
      <p:pic>
        <p:nvPicPr>
          <p:cNvPr id="22" name="Image 3" descr="preencoded.png">    </p:cNvPr>
          <p:cNvPicPr>
            <a:picLocks noChangeAspect="1"/>
          </p:cNvPicPr>
          <p:nvPr/>
        </p:nvPicPr>
        <p:blipFill>
          <a:blip r:embed="rId4"/>
          <a:stretch>
            <a:fillRect/>
          </a:stretch>
        </p:blipFill>
        <p:spPr>
          <a:xfrm>
            <a:off x="4937760" y="1938528"/>
            <a:ext cx="256032" cy="256032"/>
          </a:xfrm>
          <a:prstGeom prst="rect">
            <a:avLst/>
          </a:prstGeom>
        </p:spPr>
      </p:pic>
      <p:sp>
        <p:nvSpPr>
          <p:cNvPr id="23" name="Text 17"/>
          <p:cNvSpPr/>
          <p:nvPr/>
        </p:nvSpPr>
        <p:spPr>
          <a:xfrm>
            <a:off x="5376672" y="1847088"/>
            <a:ext cx="1243584" cy="237744"/>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Mandatory Note Enforcement</a:t>
            </a:r>
            <a:endParaRPr lang="en-US" sz="1100" dirty="0"/>
          </a:p>
        </p:txBody>
      </p:sp>
      <p:sp>
        <p:nvSpPr>
          <p:cNvPr id="24" name="Text 18"/>
          <p:cNvSpPr/>
          <p:nvPr/>
        </p:nvSpPr>
        <p:spPr>
          <a:xfrm>
            <a:off x="4846320" y="2176272"/>
            <a:ext cx="1773936" cy="1042416"/>
          </a:xfrm>
          <a:prstGeom prst="rect">
            <a:avLst/>
          </a:prstGeom>
          <a:noFill/>
          <a:ln/>
        </p:spPr>
        <p:txBody>
          <a:bodyPr wrap="square" rtlCol="0" anchor="ctr"/>
          <a:lstStyle/>
          <a:p>
            <a:pPr indent="0" marL="0">
              <a:lnSpc>
                <a:spcPct val="135000"/>
              </a:lnSpc>
              <a:buNone/>
            </a:pPr>
            <a:r>
              <a:rPr lang="en-US" sz="950" dirty="0">
                <a:solidFill>
                  <a:srgbClr val="64748B"/>
                </a:solidFill>
                <a:latin typeface="Calibri" pitchFamily="34" charset="0"/>
                <a:ea typeface="Calibri" pitchFamily="34" charset="-122"/>
                <a:cs typeface="Calibri" pitchFamily="34" charset="-120"/>
              </a:rPr>
              <a:t>Status transitions In-Progress→Resolved, Resolved→Closed, Closed→Reopened require a 20-char minimum note. Enforced in db-writer API before write — not just in the UI.</a:t>
            </a:r>
            <a:endParaRPr lang="en-US" sz="950" dirty="0"/>
          </a:p>
        </p:txBody>
      </p:sp>
      <p:sp>
        <p:nvSpPr>
          <p:cNvPr id="25" name="Shape 19"/>
          <p:cNvSpPr/>
          <p:nvPr/>
        </p:nvSpPr>
        <p:spPr>
          <a:xfrm>
            <a:off x="6894576" y="1719072"/>
            <a:ext cx="2029968" cy="1627632"/>
          </a:xfrm>
          <a:prstGeom prst="rect">
            <a:avLst/>
          </a:prstGeom>
          <a:solidFill>
            <a:srgbClr val="F1F5F9"/>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6" name="Shape 20"/>
          <p:cNvSpPr/>
          <p:nvPr/>
        </p:nvSpPr>
        <p:spPr>
          <a:xfrm>
            <a:off x="7022592" y="1847088"/>
            <a:ext cx="438912" cy="438912"/>
          </a:xfrm>
          <a:prstGeom prst="ellipse">
            <a:avLst/>
          </a:prstGeom>
          <a:solidFill>
            <a:srgbClr val="1A936F"/>
          </a:solidFill>
          <a:ln w="12700">
            <a:solidFill>
              <a:srgbClr val="1A936F"/>
            </a:solidFill>
            <a:prstDash val="solid"/>
          </a:ln>
        </p:spPr>
      </p:sp>
      <p:pic>
        <p:nvPicPr>
          <p:cNvPr id="27" name="Image 4" descr="preencoded.png">    </p:cNvPr>
          <p:cNvPicPr>
            <a:picLocks noChangeAspect="1"/>
          </p:cNvPicPr>
          <p:nvPr/>
        </p:nvPicPr>
        <p:blipFill>
          <a:blip r:embed="rId5"/>
          <a:stretch>
            <a:fillRect/>
          </a:stretch>
        </p:blipFill>
        <p:spPr>
          <a:xfrm>
            <a:off x="7114032" y="1938528"/>
            <a:ext cx="256032" cy="256032"/>
          </a:xfrm>
          <a:prstGeom prst="rect">
            <a:avLst/>
          </a:prstGeom>
        </p:spPr>
      </p:pic>
      <p:sp>
        <p:nvSpPr>
          <p:cNvPr id="28" name="Text 21"/>
          <p:cNvSpPr/>
          <p:nvPr/>
        </p:nvSpPr>
        <p:spPr>
          <a:xfrm>
            <a:off x="7552944" y="1847088"/>
            <a:ext cx="1243584" cy="237744"/>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Scale-out Path</a:t>
            </a:r>
            <a:endParaRPr lang="en-US" sz="1100" dirty="0"/>
          </a:p>
        </p:txBody>
      </p:sp>
      <p:sp>
        <p:nvSpPr>
          <p:cNvPr id="29" name="Text 22"/>
          <p:cNvSpPr/>
          <p:nvPr/>
        </p:nvSpPr>
        <p:spPr>
          <a:xfrm>
            <a:off x="7022592" y="2176272"/>
            <a:ext cx="1773936" cy="1042416"/>
          </a:xfrm>
          <a:prstGeom prst="rect">
            <a:avLst/>
          </a:prstGeom>
          <a:noFill/>
          <a:ln/>
        </p:spPr>
        <p:txBody>
          <a:bodyPr wrap="square" rtlCol="0" anchor="ctr"/>
          <a:lstStyle/>
          <a:p>
            <a:pPr indent="0" marL="0">
              <a:lnSpc>
                <a:spcPct val="135000"/>
              </a:lnSpc>
              <a:buNone/>
            </a:pPr>
            <a:r>
              <a:rPr lang="en-US" sz="950" dirty="0">
                <a:solidFill>
                  <a:srgbClr val="64748B"/>
                </a:solidFill>
                <a:latin typeface="Calibri" pitchFamily="34" charset="0"/>
                <a:ea typeface="Calibri" pitchFamily="34" charset="-122"/>
                <a:cs typeface="Calibri" pitchFamily="34" charset="-120"/>
              </a:rPr>
              <a:t>Hibernate Panache. When writes exceed 5,000/day: swap dialect to PostgreSQL only. No other service knows or cares — all traffic goes through db-writer's REST API.</a:t>
            </a:r>
            <a:endParaRPr lang="en-US" sz="950" dirty="0"/>
          </a:p>
        </p:txBody>
      </p:sp>
      <p:sp>
        <p:nvSpPr>
          <p:cNvPr id="30" name="Shape 23"/>
          <p:cNvSpPr/>
          <p:nvPr/>
        </p:nvSpPr>
        <p:spPr>
          <a:xfrm>
            <a:off x="365760" y="3456432"/>
            <a:ext cx="8412480" cy="1444752"/>
          </a:xfrm>
          <a:prstGeom prst="rect">
            <a:avLst/>
          </a:prstGeom>
          <a:solidFill>
            <a:srgbClr val="0D1B2A"/>
          </a:solidFill>
          <a:ln w="12700">
            <a:solidFill>
              <a:srgbClr val="028090"/>
            </a:solidFill>
            <a:prstDash val="solid"/>
          </a:ln>
        </p:spPr>
      </p:sp>
      <p:pic>
        <p:nvPicPr>
          <p:cNvPr id="31" name="Image 5" descr="preencoded.png">    </p:cNvPr>
          <p:cNvPicPr>
            <a:picLocks noChangeAspect="1"/>
          </p:cNvPicPr>
          <p:nvPr/>
        </p:nvPicPr>
        <p:blipFill>
          <a:blip r:embed="rId6"/>
          <a:stretch>
            <a:fillRect/>
          </a:stretch>
        </p:blipFill>
        <p:spPr>
          <a:xfrm>
            <a:off x="493776" y="3602736"/>
            <a:ext cx="329184" cy="329184"/>
          </a:xfrm>
          <a:prstGeom prst="rect">
            <a:avLst/>
          </a:prstGeom>
        </p:spPr>
      </p:pic>
      <p:sp>
        <p:nvSpPr>
          <p:cNvPr id="32" name="Text 24"/>
          <p:cNvSpPr/>
          <p:nvPr/>
        </p:nvSpPr>
        <p:spPr>
          <a:xfrm>
            <a:off x="914400" y="3566160"/>
            <a:ext cx="4572000" cy="256032"/>
          </a:xfrm>
          <a:prstGeom prst="rect">
            <a:avLst/>
          </a:prstGeom>
          <a:noFill/>
          <a:ln/>
        </p:spPr>
        <p:txBody>
          <a:bodyPr wrap="square"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Phase 2 — PII Encryption (planned, markers in schema)</a:t>
            </a:r>
            <a:endParaRPr lang="en-US" sz="1100" dirty="0"/>
          </a:p>
        </p:txBody>
      </p:sp>
      <p:sp>
        <p:nvSpPr>
          <p:cNvPr id="33" name="Text 25"/>
          <p:cNvSpPr/>
          <p:nvPr/>
        </p:nvSpPr>
        <p:spPr>
          <a:xfrm>
            <a:off x="914400" y="3877056"/>
            <a:ext cx="3840480" cy="274320"/>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  Every PII column marked -- PHASE_2_ENCRYPT in schema</a:t>
            </a:r>
            <a:endParaRPr lang="en-US" sz="1000" dirty="0"/>
          </a:p>
        </p:txBody>
      </p:sp>
      <p:sp>
        <p:nvSpPr>
          <p:cNvPr id="34" name="Text 26"/>
          <p:cNvSpPr/>
          <p:nvPr/>
        </p:nvSpPr>
        <p:spPr>
          <a:xfrm>
            <a:off x="914400" y="4206240"/>
            <a:ext cx="3840480" cy="274320"/>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  PiiEncryptionService (AES-256-GCM) added to db-writer only</a:t>
            </a:r>
            <a:endParaRPr lang="en-US" sz="1000" dirty="0"/>
          </a:p>
        </p:txBody>
      </p:sp>
      <p:sp>
        <p:nvSpPr>
          <p:cNvPr id="35" name="Text 27"/>
          <p:cNvSpPr/>
          <p:nvPr/>
        </p:nvSpPr>
        <p:spPr>
          <a:xfrm>
            <a:off x="5029200" y="3877056"/>
            <a:ext cx="3840480" cy="274320"/>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  Blind indexes for encrypted field search (HMAC-SHA256)</a:t>
            </a:r>
            <a:endParaRPr lang="en-US" sz="1000" dirty="0"/>
          </a:p>
        </p:txBody>
      </p:sp>
      <p:sp>
        <p:nvSpPr>
          <p:cNvPr id="36" name="Text 28"/>
          <p:cNvSpPr/>
          <p:nvPr/>
        </p:nvSpPr>
        <p:spPr>
          <a:xfrm>
            <a:off x="5029200" y="4206240"/>
            <a:ext cx="3840480" cy="274320"/>
          </a:xfrm>
          <a:prstGeom prst="rect">
            <a:avLst/>
          </a:prstGeom>
          <a:noFill/>
          <a:ln/>
        </p:spPr>
        <p:txBody>
          <a:bodyPr wrap="square" rtlCol="0" anchor="ctr"/>
          <a:lstStyle/>
          <a:p>
            <a:pPr indent="0" marL="0">
              <a:buNone/>
            </a:pPr>
            <a:r>
              <a:rPr lang="en-US" sz="1000" dirty="0">
                <a:solidFill>
                  <a:srgbClr val="8EB4C8"/>
                </a:solidFill>
                <a:latin typeface="Calibri" pitchFamily="34" charset="0"/>
                <a:ea typeface="Calibri" pitchFamily="34" charset="-122"/>
                <a:cs typeface="Calibri" pitchFamily="34" charset="-120"/>
              </a:rPr>
              <a:t>▸  KMS / HashiCorp Vault key management — per-tenant key namespace</a:t>
            </a:r>
            <a:endParaRPr lang="en-US" sz="1000" dirty="0"/>
          </a:p>
        </p:txBody>
      </p:sp>
      <p:sp>
        <p:nvSpPr>
          <p:cNvPr id="37" name="Text 29"/>
          <p:cNvSpPr/>
          <p:nvPr/>
        </p:nvSpPr>
        <p:spPr>
          <a:xfrm>
            <a:off x="914400" y="4553712"/>
            <a:ext cx="7772400" cy="219456"/>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No other service changes — db-writer is the only encryption boundary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C39A"/>
                </a:solidFill>
                <a:latin typeface="Calibri" pitchFamily="34" charset="0"/>
                <a:ea typeface="Calibri" pitchFamily="34" charset="-122"/>
                <a:cs typeface="Calibri" pitchFamily="34" charset="-120"/>
              </a:rPr>
              <a:t>SERVICE DEEP DIVE  ·  DASHBOARD</a:t>
            </a:r>
            <a:endParaRPr lang="en-US" sz="900" dirty="0"/>
          </a:p>
        </p:txBody>
      </p:sp>
      <p:sp>
        <p:nvSpPr>
          <p:cNvPr id="3" name="Text 1"/>
          <p:cNvSpPr/>
          <p:nvPr/>
        </p:nvSpPr>
        <p:spPr>
          <a:xfrm>
            <a:off x="457200" y="457200"/>
            <a:ext cx="6583680" cy="566928"/>
          </a:xfrm>
          <a:prstGeom prst="rect">
            <a:avLst/>
          </a:prstGeom>
          <a:noFill/>
          <a:ln/>
        </p:spPr>
        <p:txBody>
          <a:bodyPr wrap="square" rtlCol="0" anchor="ctr"/>
          <a:lstStyle/>
          <a:p>
            <a:pPr indent="0" marL="0">
              <a:lnSpc>
                <a:spcPct val="110000"/>
              </a:lnSpc>
              <a:buNone/>
            </a:pPr>
            <a:r>
              <a:rPr lang="en-US" sz="2600" b="1" dirty="0">
                <a:solidFill>
                  <a:srgbClr val="FFFFFF"/>
                </a:solidFill>
                <a:latin typeface="Cambria" pitchFamily="34" charset="0"/>
                <a:ea typeface="Cambria" pitchFamily="34" charset="-122"/>
                <a:cs typeface="Cambria" pitchFamily="34" charset="-120"/>
              </a:rPr>
              <a:t>Three tabs. Three roles. One codebase. Browser and mobile.</a:t>
            </a:r>
            <a:endParaRPr lang="en-US" sz="2600" dirty="0"/>
          </a:p>
        </p:txBody>
      </p:sp>
      <p:sp>
        <p:nvSpPr>
          <p:cNvPr id="4" name="Shape 2"/>
          <p:cNvSpPr/>
          <p:nvPr/>
        </p:nvSpPr>
        <p:spPr>
          <a:xfrm>
            <a:off x="7132320" y="164592"/>
            <a:ext cx="1828800" cy="566928"/>
          </a:xfrm>
          <a:prstGeom prst="rect">
            <a:avLst/>
          </a:prstGeom>
          <a:solidFill>
            <a:srgbClr val="028090"/>
          </a:solidFill>
          <a:ln w="12700">
            <a:solidFill>
              <a:srgbClr val="028090"/>
            </a:solidFill>
            <a:prstDash val="solid"/>
          </a:ln>
        </p:spPr>
      </p:sp>
      <p:pic>
        <p:nvPicPr>
          <p:cNvPr id="5" name="Image 0" descr="preencoded.png">    </p:cNvPr>
          <p:cNvPicPr>
            <a:picLocks noChangeAspect="1"/>
          </p:cNvPicPr>
          <p:nvPr/>
        </p:nvPicPr>
        <p:blipFill>
          <a:blip r:embed="rId1"/>
          <a:stretch>
            <a:fillRect/>
          </a:stretch>
        </p:blipFill>
        <p:spPr>
          <a:xfrm>
            <a:off x="7242048" y="274320"/>
            <a:ext cx="274320" cy="274320"/>
          </a:xfrm>
          <a:prstGeom prst="rect">
            <a:avLst/>
          </a:prstGeom>
        </p:spPr>
      </p:pic>
      <p:sp>
        <p:nvSpPr>
          <p:cNvPr id="6" name="Text 3"/>
          <p:cNvSpPr/>
          <p:nvPr/>
        </p:nvSpPr>
        <p:spPr>
          <a:xfrm>
            <a:off x="7571232" y="274320"/>
            <a:ext cx="1298448" cy="25603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Next.js 14  ·  PWA</a:t>
            </a:r>
            <a:endParaRPr lang="en-US" sz="950" dirty="0"/>
          </a:p>
        </p:txBody>
      </p:sp>
      <p:sp>
        <p:nvSpPr>
          <p:cNvPr id="7" name="Text 4"/>
          <p:cNvSpPr/>
          <p:nvPr/>
        </p:nvSpPr>
        <p:spPr>
          <a:xfrm>
            <a:off x="7205472" y="475488"/>
            <a:ext cx="1664208" cy="182880"/>
          </a:xfrm>
          <a:prstGeom prst="rect">
            <a:avLst/>
          </a:prstGeom>
          <a:noFill/>
          <a:ln/>
        </p:spPr>
        <p:txBody>
          <a:bodyPr wrap="square" rtlCol="0" anchor="ctr"/>
          <a:lstStyle/>
          <a:p>
            <a:pPr algn="ctr" indent="0" marL="0">
              <a:buNone/>
            </a:pPr>
            <a:r>
              <a:rPr lang="en-US" sz="800" dirty="0">
                <a:solidFill>
                  <a:srgbClr val="D0F0F5"/>
                </a:solidFill>
                <a:latin typeface="Calibri" pitchFamily="34" charset="0"/>
                <a:ea typeface="Calibri" pitchFamily="34" charset="-122"/>
                <a:cs typeface="Calibri" pitchFamily="34" charset="-120"/>
              </a:rPr>
              <a:t>Port 3000  ·  N replicas</a:t>
            </a:r>
            <a:endParaRPr lang="en-US" sz="800" dirty="0"/>
          </a:p>
        </p:txBody>
      </p:sp>
      <p:sp>
        <p:nvSpPr>
          <p:cNvPr id="8" name="Shape 5"/>
          <p:cNvSpPr/>
          <p:nvPr/>
        </p:nvSpPr>
        <p:spPr>
          <a:xfrm>
            <a:off x="347472" y="1115568"/>
            <a:ext cx="2651760" cy="3108960"/>
          </a:xfrm>
          <a:prstGeom prst="rect">
            <a:avLst/>
          </a:prstGeom>
          <a:solidFill>
            <a:srgbClr val="0A1628"/>
          </a:solidFill>
          <a:ln w="12700">
            <a:solidFill>
              <a:srgbClr val="2A4A6A"/>
            </a:solidFill>
            <a:prstDash val="solid"/>
          </a:ln>
        </p:spPr>
      </p:sp>
      <p:sp>
        <p:nvSpPr>
          <p:cNvPr id="9" name="Shape 6"/>
          <p:cNvSpPr/>
          <p:nvPr/>
        </p:nvSpPr>
        <p:spPr>
          <a:xfrm>
            <a:off x="475488" y="1225296"/>
            <a:ext cx="457200" cy="457200"/>
          </a:xfrm>
          <a:prstGeom prst="ellipse">
            <a:avLst/>
          </a:prstGeom>
          <a:solidFill>
            <a:srgbClr val="028090"/>
          </a:solidFill>
          <a:ln w="12700">
            <a:solidFill>
              <a:srgbClr val="028090"/>
            </a:solidFill>
            <a:prstDash val="solid"/>
          </a:ln>
        </p:spPr>
      </p:sp>
      <p:pic>
        <p:nvPicPr>
          <p:cNvPr id="10" name="Image 1" descr="preencoded.png">    </p:cNvPr>
          <p:cNvPicPr>
            <a:picLocks noChangeAspect="1"/>
          </p:cNvPicPr>
          <p:nvPr/>
        </p:nvPicPr>
        <p:blipFill>
          <a:blip r:embed="rId2"/>
          <a:stretch>
            <a:fillRect/>
          </a:stretch>
        </p:blipFill>
        <p:spPr>
          <a:xfrm>
            <a:off x="566928" y="1316736"/>
            <a:ext cx="274320" cy="274320"/>
          </a:xfrm>
          <a:prstGeom prst="rect">
            <a:avLst/>
          </a:prstGeom>
        </p:spPr>
      </p:pic>
      <p:sp>
        <p:nvSpPr>
          <p:cNvPr id="11" name="Text 7"/>
          <p:cNvSpPr/>
          <p:nvPr/>
        </p:nvSpPr>
        <p:spPr>
          <a:xfrm>
            <a:off x="475488" y="1755648"/>
            <a:ext cx="2395728"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Analytics Tab</a:t>
            </a:r>
            <a:endParaRPr lang="en-US" sz="1300" dirty="0"/>
          </a:p>
        </p:txBody>
      </p:sp>
      <p:sp>
        <p:nvSpPr>
          <p:cNvPr id="12" name="Shape 8"/>
          <p:cNvSpPr/>
          <p:nvPr/>
        </p:nvSpPr>
        <p:spPr>
          <a:xfrm>
            <a:off x="475488" y="2084832"/>
            <a:ext cx="1828800" cy="219456"/>
          </a:xfrm>
          <a:prstGeom prst="roundRect">
            <a:avLst>
              <a:gd name="adj" fmla="val 50000"/>
            </a:avLst>
          </a:prstGeom>
          <a:solidFill>
            <a:srgbClr val="0A2A30"/>
          </a:solidFill>
          <a:ln w="12700">
            <a:solidFill>
              <a:srgbClr val="028090"/>
            </a:solidFill>
            <a:prstDash val="solid"/>
          </a:ln>
        </p:spPr>
      </p:sp>
      <p:sp>
        <p:nvSpPr>
          <p:cNvPr id="13" name="Text 9"/>
          <p:cNvSpPr/>
          <p:nvPr/>
        </p:nvSpPr>
        <p:spPr>
          <a:xfrm>
            <a:off x="475488" y="2103120"/>
            <a:ext cx="1828800" cy="182880"/>
          </a:xfrm>
          <a:prstGeom prst="rect">
            <a:avLst/>
          </a:prstGeom>
          <a:noFill/>
          <a:ln/>
        </p:spPr>
        <p:txBody>
          <a:bodyPr wrap="square" rtlCol="0" anchor="ctr"/>
          <a:lstStyle/>
          <a:p>
            <a:pPr algn="ctr" indent="0" marL="0">
              <a:buNone/>
            </a:pPr>
            <a:r>
              <a:rPr lang="en-US" sz="850" b="1" dirty="0">
                <a:solidFill>
                  <a:srgbClr val="028090"/>
                </a:solidFill>
                <a:latin typeface="Calibri" pitchFamily="34" charset="0"/>
                <a:ea typeface="Calibri" pitchFamily="34" charset="-122"/>
                <a:cs typeface="Calibri" pitchFamily="34" charset="-120"/>
              </a:rPr>
              <a:t>All roles — view only</a:t>
            </a:r>
            <a:endParaRPr lang="en-US" sz="850" dirty="0"/>
          </a:p>
        </p:txBody>
      </p:sp>
      <p:sp>
        <p:nvSpPr>
          <p:cNvPr id="14" name="Text 10"/>
          <p:cNvSpPr/>
          <p:nvPr/>
        </p:nvSpPr>
        <p:spPr>
          <a:xfrm>
            <a:off x="475488" y="2414016"/>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Volume by channel (30 days)</a:t>
            </a:r>
            <a:endParaRPr lang="en-US" sz="950" dirty="0"/>
          </a:p>
        </p:txBody>
      </p:sp>
      <p:sp>
        <p:nvSpPr>
          <p:cNvPr id="15" name="Text 11"/>
          <p:cNvSpPr/>
          <p:nvPr/>
        </p:nvSpPr>
        <p:spPr>
          <a:xfrm>
            <a:off x="475488" y="2761488"/>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SLA met/breached donut</a:t>
            </a:r>
            <a:endParaRPr lang="en-US" sz="950" dirty="0"/>
          </a:p>
        </p:txBody>
      </p:sp>
      <p:sp>
        <p:nvSpPr>
          <p:cNvPr id="16" name="Text 12"/>
          <p:cNvSpPr/>
          <p:nvPr/>
        </p:nvSpPr>
        <p:spPr>
          <a:xfrm>
            <a:off x="475488" y="3108960"/>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Priority distribution bar</a:t>
            </a:r>
            <a:endParaRPr lang="en-US" sz="950" dirty="0"/>
          </a:p>
        </p:txBody>
      </p:sp>
      <p:sp>
        <p:nvSpPr>
          <p:cNvPr id="17" name="Text 13"/>
          <p:cNvSpPr/>
          <p:nvPr/>
        </p:nvSpPr>
        <p:spPr>
          <a:xfrm>
            <a:off x="475488" y="3456432"/>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Agent performance table (Lead/Admin)</a:t>
            </a:r>
            <a:endParaRPr lang="en-US" sz="950" dirty="0"/>
          </a:p>
        </p:txBody>
      </p:sp>
      <p:sp>
        <p:nvSpPr>
          <p:cNvPr id="18" name="Text 14"/>
          <p:cNvSpPr/>
          <p:nvPr/>
        </p:nvSpPr>
        <p:spPr>
          <a:xfrm>
            <a:off x="475488" y="3803904"/>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All charts from real db-writer queries</a:t>
            </a:r>
            <a:endParaRPr lang="en-US" sz="950" dirty="0"/>
          </a:p>
        </p:txBody>
      </p:sp>
      <p:sp>
        <p:nvSpPr>
          <p:cNvPr id="19" name="Shape 15"/>
          <p:cNvSpPr/>
          <p:nvPr/>
        </p:nvSpPr>
        <p:spPr>
          <a:xfrm>
            <a:off x="3182112" y="1115568"/>
            <a:ext cx="2651760" cy="3108960"/>
          </a:xfrm>
          <a:prstGeom prst="rect">
            <a:avLst/>
          </a:prstGeom>
          <a:solidFill>
            <a:srgbClr val="0A1628"/>
          </a:solidFill>
          <a:ln w="12700">
            <a:solidFill>
              <a:srgbClr val="2A4A6A"/>
            </a:solidFill>
            <a:prstDash val="solid"/>
          </a:ln>
        </p:spPr>
      </p:sp>
      <p:sp>
        <p:nvSpPr>
          <p:cNvPr id="20" name="Shape 16"/>
          <p:cNvSpPr/>
          <p:nvPr/>
        </p:nvSpPr>
        <p:spPr>
          <a:xfrm>
            <a:off x="3310128" y="1225296"/>
            <a:ext cx="457200" cy="457200"/>
          </a:xfrm>
          <a:prstGeom prst="ellipse">
            <a:avLst/>
          </a:prstGeom>
          <a:solidFill>
            <a:srgbClr val="8B4000"/>
          </a:solidFill>
          <a:ln w="12700">
            <a:solidFill>
              <a:srgbClr val="8B4000"/>
            </a:solidFill>
            <a:prstDash val="solid"/>
          </a:ln>
        </p:spPr>
      </p:sp>
      <p:pic>
        <p:nvPicPr>
          <p:cNvPr id="21" name="Image 2" descr="preencoded.png">    </p:cNvPr>
          <p:cNvPicPr>
            <a:picLocks noChangeAspect="1"/>
          </p:cNvPicPr>
          <p:nvPr/>
        </p:nvPicPr>
        <p:blipFill>
          <a:blip r:embed="rId3"/>
          <a:stretch>
            <a:fillRect/>
          </a:stretch>
        </p:blipFill>
        <p:spPr>
          <a:xfrm>
            <a:off x="3401568" y="1316736"/>
            <a:ext cx="274320" cy="274320"/>
          </a:xfrm>
          <a:prstGeom prst="rect">
            <a:avLst/>
          </a:prstGeom>
        </p:spPr>
      </p:pic>
      <p:sp>
        <p:nvSpPr>
          <p:cNvPr id="22" name="Text 17"/>
          <p:cNvSpPr/>
          <p:nvPr/>
        </p:nvSpPr>
        <p:spPr>
          <a:xfrm>
            <a:off x="3310128" y="1755648"/>
            <a:ext cx="2395728"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Ticket Queue Tab</a:t>
            </a:r>
            <a:endParaRPr lang="en-US" sz="1300" dirty="0"/>
          </a:p>
        </p:txBody>
      </p:sp>
      <p:sp>
        <p:nvSpPr>
          <p:cNvPr id="23" name="Shape 18"/>
          <p:cNvSpPr/>
          <p:nvPr/>
        </p:nvSpPr>
        <p:spPr>
          <a:xfrm>
            <a:off x="3310128" y="2084832"/>
            <a:ext cx="1828800" cy="219456"/>
          </a:xfrm>
          <a:prstGeom prst="roundRect">
            <a:avLst>
              <a:gd name="adj" fmla="val 50000"/>
            </a:avLst>
          </a:prstGeom>
          <a:solidFill>
            <a:srgbClr val="0A2A30"/>
          </a:solidFill>
          <a:ln w="12700">
            <a:solidFill>
              <a:srgbClr val="F4A261"/>
            </a:solidFill>
            <a:prstDash val="solid"/>
          </a:ln>
        </p:spPr>
      </p:sp>
      <p:sp>
        <p:nvSpPr>
          <p:cNvPr id="24" name="Text 19"/>
          <p:cNvSpPr/>
          <p:nvPr/>
        </p:nvSpPr>
        <p:spPr>
          <a:xfrm>
            <a:off x="3310128" y="2103120"/>
            <a:ext cx="1828800" cy="182880"/>
          </a:xfrm>
          <a:prstGeom prst="rect">
            <a:avLst/>
          </a:prstGeom>
          <a:noFill/>
          <a:ln/>
        </p:spPr>
        <p:txBody>
          <a:bodyPr wrap="square" rtlCol="0" anchor="ctr"/>
          <a:lstStyle/>
          <a:p>
            <a:pPr algn="ctr" indent="0" marL="0">
              <a:buNone/>
            </a:pPr>
            <a:r>
              <a:rPr lang="en-US" sz="850" b="1" dirty="0">
                <a:solidFill>
                  <a:srgbClr val="F4A261"/>
                </a:solidFill>
                <a:latin typeface="Calibri" pitchFamily="34" charset="0"/>
                <a:ea typeface="Calibri" pitchFamily="34" charset="-122"/>
                <a:cs typeface="Calibri" pitchFamily="34" charset="-120"/>
              </a:rPr>
              <a:t>Agents: own tickets only</a:t>
            </a:r>
            <a:endParaRPr lang="en-US" sz="850" dirty="0"/>
          </a:p>
        </p:txBody>
      </p:sp>
      <p:sp>
        <p:nvSpPr>
          <p:cNvPr id="25" name="Text 20"/>
          <p:cNvSpPr/>
          <p:nvPr/>
        </p:nvSpPr>
        <p:spPr>
          <a:xfrm>
            <a:off x="3310128" y="2414016"/>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Priority sort — default: score desc</a:t>
            </a:r>
            <a:endParaRPr lang="en-US" sz="950" dirty="0"/>
          </a:p>
        </p:txBody>
      </p:sp>
      <p:sp>
        <p:nvSpPr>
          <p:cNvPr id="26" name="Text 21"/>
          <p:cNvSpPr/>
          <p:nvPr/>
        </p:nvSpPr>
        <p:spPr>
          <a:xfrm>
            <a:off x="3310128" y="2761488"/>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Pre-filter pills: Overdue, Critical, Unassigned</a:t>
            </a:r>
            <a:endParaRPr lang="en-US" sz="950" dirty="0"/>
          </a:p>
        </p:txBody>
      </p:sp>
      <p:sp>
        <p:nvSpPr>
          <p:cNvPr id="27" name="Text 22"/>
          <p:cNvSpPr/>
          <p:nvPr/>
        </p:nvSpPr>
        <p:spPr>
          <a:xfrm>
            <a:off x="3310128" y="3108960"/>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Full filter panel: date, status, channel, category</a:t>
            </a:r>
            <a:endParaRPr lang="en-US" sz="950" dirty="0"/>
          </a:p>
        </p:txBody>
      </p:sp>
      <p:sp>
        <p:nvSpPr>
          <p:cNvPr id="28" name="Text 23"/>
          <p:cNvSpPr/>
          <p:nvPr/>
        </p:nvSpPr>
        <p:spPr>
          <a:xfrm>
            <a:off x="3310128" y="3456432"/>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Identity status column (Confirmed/Pending/Anon)</a:t>
            </a:r>
            <a:endParaRPr lang="en-US" sz="950" dirty="0"/>
          </a:p>
        </p:txBody>
      </p:sp>
      <p:sp>
        <p:nvSpPr>
          <p:cNvPr id="29" name="Text 24"/>
          <p:cNvSpPr/>
          <p:nvPr/>
        </p:nvSpPr>
        <p:spPr>
          <a:xfrm>
            <a:off x="3310128" y="3803904"/>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Auto-refresh 30s + manual refresh</a:t>
            </a:r>
            <a:endParaRPr lang="en-US" sz="950" dirty="0"/>
          </a:p>
        </p:txBody>
      </p:sp>
      <p:sp>
        <p:nvSpPr>
          <p:cNvPr id="30" name="Shape 25"/>
          <p:cNvSpPr/>
          <p:nvPr/>
        </p:nvSpPr>
        <p:spPr>
          <a:xfrm>
            <a:off x="6016752" y="1115568"/>
            <a:ext cx="2651760" cy="3108960"/>
          </a:xfrm>
          <a:prstGeom prst="rect">
            <a:avLst/>
          </a:prstGeom>
          <a:solidFill>
            <a:srgbClr val="0A1628"/>
          </a:solidFill>
          <a:ln w="12700">
            <a:solidFill>
              <a:srgbClr val="2A4A6A"/>
            </a:solidFill>
            <a:prstDash val="solid"/>
          </a:ln>
        </p:spPr>
      </p:sp>
      <p:sp>
        <p:nvSpPr>
          <p:cNvPr id="31" name="Shape 26"/>
          <p:cNvSpPr/>
          <p:nvPr/>
        </p:nvSpPr>
        <p:spPr>
          <a:xfrm>
            <a:off x="6144768" y="1225296"/>
            <a:ext cx="457200" cy="457200"/>
          </a:xfrm>
          <a:prstGeom prst="ellipse">
            <a:avLst/>
          </a:prstGeom>
          <a:solidFill>
            <a:srgbClr val="E07B54"/>
          </a:solidFill>
          <a:ln w="12700">
            <a:solidFill>
              <a:srgbClr val="E07B54"/>
            </a:solidFill>
            <a:prstDash val="solid"/>
          </a:ln>
        </p:spPr>
      </p:sp>
      <p:pic>
        <p:nvPicPr>
          <p:cNvPr id="32" name="Image 3" descr="preencoded.png">    </p:cNvPr>
          <p:cNvPicPr>
            <a:picLocks noChangeAspect="1"/>
          </p:cNvPicPr>
          <p:nvPr/>
        </p:nvPicPr>
        <p:blipFill>
          <a:blip r:embed="rId4"/>
          <a:stretch>
            <a:fillRect/>
          </a:stretch>
        </p:blipFill>
        <p:spPr>
          <a:xfrm>
            <a:off x="6236208" y="1316736"/>
            <a:ext cx="274320" cy="274320"/>
          </a:xfrm>
          <a:prstGeom prst="rect">
            <a:avLst/>
          </a:prstGeom>
        </p:spPr>
      </p:pic>
      <p:sp>
        <p:nvSpPr>
          <p:cNvPr id="33" name="Text 27"/>
          <p:cNvSpPr/>
          <p:nvPr/>
        </p:nvSpPr>
        <p:spPr>
          <a:xfrm>
            <a:off x="6144768" y="1755648"/>
            <a:ext cx="2395728"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Administration Tab</a:t>
            </a:r>
            <a:endParaRPr lang="en-US" sz="1300" dirty="0"/>
          </a:p>
        </p:txBody>
      </p:sp>
      <p:sp>
        <p:nvSpPr>
          <p:cNvPr id="34" name="Shape 28"/>
          <p:cNvSpPr/>
          <p:nvPr/>
        </p:nvSpPr>
        <p:spPr>
          <a:xfrm>
            <a:off x="6144768" y="2084832"/>
            <a:ext cx="1828800" cy="219456"/>
          </a:xfrm>
          <a:prstGeom prst="roundRect">
            <a:avLst>
              <a:gd name="adj" fmla="val 50000"/>
            </a:avLst>
          </a:prstGeom>
          <a:solidFill>
            <a:srgbClr val="0A2A30"/>
          </a:solidFill>
          <a:ln w="12700">
            <a:solidFill>
              <a:srgbClr val="E07B54"/>
            </a:solidFill>
            <a:prstDash val="solid"/>
          </a:ln>
        </p:spPr>
      </p:sp>
      <p:sp>
        <p:nvSpPr>
          <p:cNvPr id="35" name="Text 29"/>
          <p:cNvSpPr/>
          <p:nvPr/>
        </p:nvSpPr>
        <p:spPr>
          <a:xfrm>
            <a:off x="6144768" y="2103120"/>
            <a:ext cx="1828800" cy="182880"/>
          </a:xfrm>
          <a:prstGeom prst="rect">
            <a:avLst/>
          </a:prstGeom>
          <a:noFill/>
          <a:ln/>
        </p:spPr>
        <p:txBody>
          <a:bodyPr wrap="square" rtlCol="0" anchor="ctr"/>
          <a:lstStyle/>
          <a:p>
            <a:pPr algn="ctr" indent="0" marL="0">
              <a:buNone/>
            </a:pPr>
            <a:r>
              <a:rPr lang="en-US" sz="850" b="1" dirty="0">
                <a:solidFill>
                  <a:srgbClr val="E07B54"/>
                </a:solidFill>
                <a:latin typeface="Calibri" pitchFamily="34" charset="0"/>
                <a:ea typeface="Calibri" pitchFamily="34" charset="-122"/>
                <a:cs typeface="Calibri" pitchFamily="34" charset="-120"/>
              </a:rPr>
              <a:t>Admin role only</a:t>
            </a:r>
            <a:endParaRPr lang="en-US" sz="850" dirty="0"/>
          </a:p>
        </p:txBody>
      </p:sp>
      <p:sp>
        <p:nvSpPr>
          <p:cNvPr id="36" name="Text 30"/>
          <p:cNvSpPr/>
          <p:nvPr/>
        </p:nvSpPr>
        <p:spPr>
          <a:xfrm>
            <a:off x="6144768" y="2414016"/>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Agent management (add, edit, deactivate)</a:t>
            </a:r>
            <a:endParaRPr lang="en-US" sz="950" dirty="0"/>
          </a:p>
        </p:txBody>
      </p:sp>
      <p:sp>
        <p:nvSpPr>
          <p:cNvPr id="37" name="Text 31"/>
          <p:cNvSpPr/>
          <p:nvPr/>
        </p:nvSpPr>
        <p:spPr>
          <a:xfrm>
            <a:off x="6144768" y="2761488"/>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Intake fields — per-channel, mandatory/optional</a:t>
            </a:r>
            <a:endParaRPr lang="en-US" sz="950" dirty="0"/>
          </a:p>
        </p:txBody>
      </p:sp>
      <p:sp>
        <p:nvSpPr>
          <p:cNvPr id="38" name="Text 32"/>
          <p:cNvSpPr/>
          <p:nvPr/>
        </p:nvSpPr>
        <p:spPr>
          <a:xfrm>
            <a:off x="6144768" y="3108960"/>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AI priority rubric — free-text, no code deploy</a:t>
            </a:r>
            <a:endParaRPr lang="en-US" sz="950" dirty="0"/>
          </a:p>
        </p:txBody>
      </p:sp>
      <p:sp>
        <p:nvSpPr>
          <p:cNvPr id="39" name="Text 33"/>
          <p:cNvSpPr/>
          <p:nvPr/>
        </p:nvSpPr>
        <p:spPr>
          <a:xfrm>
            <a:off x="6144768" y="3456432"/>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Announcements — broadcast to all agents</a:t>
            </a:r>
            <a:endParaRPr lang="en-US" sz="950" dirty="0"/>
          </a:p>
        </p:txBody>
      </p:sp>
      <p:sp>
        <p:nvSpPr>
          <p:cNvPr id="40" name="Text 34"/>
          <p:cNvSpPr/>
          <p:nvPr/>
        </p:nvSpPr>
        <p:spPr>
          <a:xfrm>
            <a:off x="6144768" y="3803904"/>
            <a:ext cx="2395728" cy="310896"/>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System health + DB reset (password-protected)</a:t>
            </a:r>
            <a:endParaRPr lang="en-US" sz="950" dirty="0"/>
          </a:p>
        </p:txBody>
      </p:sp>
      <p:sp>
        <p:nvSpPr>
          <p:cNvPr id="41" name="Shape 35"/>
          <p:cNvSpPr/>
          <p:nvPr/>
        </p:nvSpPr>
        <p:spPr>
          <a:xfrm>
            <a:off x="0" y="4315968"/>
            <a:ext cx="9144000" cy="827532"/>
          </a:xfrm>
          <a:prstGeom prst="rect">
            <a:avLst/>
          </a:prstGeom>
          <a:solidFill>
            <a:srgbClr val="051020"/>
          </a:solidFill>
          <a:ln w="12700">
            <a:solidFill>
              <a:srgbClr val="2A4A6A"/>
            </a:solidFill>
            <a:prstDash val="solid"/>
          </a:ln>
        </p:spPr>
      </p:sp>
      <p:sp>
        <p:nvSpPr>
          <p:cNvPr id="42" name="Shape 36"/>
          <p:cNvSpPr/>
          <p:nvPr/>
        </p:nvSpPr>
        <p:spPr>
          <a:xfrm>
            <a:off x="274320" y="4425696"/>
            <a:ext cx="329184" cy="329184"/>
          </a:xfrm>
          <a:prstGeom prst="ellipse">
            <a:avLst/>
          </a:prstGeom>
          <a:solidFill>
            <a:srgbClr val="028090"/>
          </a:solidFill>
          <a:ln w="12700">
            <a:solidFill>
              <a:srgbClr val="028090"/>
            </a:solidFill>
            <a:prstDash val="solid"/>
          </a:ln>
        </p:spPr>
      </p:sp>
      <p:pic>
        <p:nvPicPr>
          <p:cNvPr id="43" name="Image 4" descr="preencoded.png">    </p:cNvPr>
          <p:cNvPicPr>
            <a:picLocks noChangeAspect="1"/>
          </p:cNvPicPr>
          <p:nvPr/>
        </p:nvPicPr>
        <p:blipFill>
          <a:blip r:embed="rId5"/>
          <a:stretch>
            <a:fillRect/>
          </a:stretch>
        </p:blipFill>
        <p:spPr>
          <a:xfrm>
            <a:off x="347472" y="4498848"/>
            <a:ext cx="182880" cy="182880"/>
          </a:xfrm>
          <a:prstGeom prst="rect">
            <a:avLst/>
          </a:prstGeom>
        </p:spPr>
      </p:pic>
      <p:sp>
        <p:nvSpPr>
          <p:cNvPr id="44" name="Text 37"/>
          <p:cNvSpPr/>
          <p:nvPr/>
        </p:nvSpPr>
        <p:spPr>
          <a:xfrm>
            <a:off x="694944" y="4407408"/>
            <a:ext cx="1097280"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PWA</a:t>
            </a:r>
            <a:endParaRPr lang="en-US" sz="1050" dirty="0"/>
          </a:p>
        </p:txBody>
      </p:sp>
      <p:sp>
        <p:nvSpPr>
          <p:cNvPr id="45" name="Text 38"/>
          <p:cNvSpPr/>
          <p:nvPr/>
        </p:nvSpPr>
        <p:spPr>
          <a:xfrm>
            <a:off x="694944" y="4626864"/>
            <a:ext cx="2286000" cy="402336"/>
          </a:xfrm>
          <a:prstGeom prst="rect">
            <a:avLst/>
          </a:prstGeom>
          <a:noFill/>
          <a:ln/>
        </p:spPr>
        <p:txBody>
          <a:bodyPr wrap="square" rtlCol="0" anchor="ctr"/>
          <a:lstStyle/>
          <a:p>
            <a:pPr indent="0" marL="0">
              <a:lnSpc>
                <a:spcPct val="125000"/>
              </a:lnSpc>
              <a:buNone/>
            </a:pPr>
            <a:r>
              <a:rPr lang="en-US" sz="900" dirty="0">
                <a:solidFill>
                  <a:srgbClr val="8EB4C8"/>
                </a:solidFill>
                <a:latin typeface="Calibri" pitchFamily="34" charset="0"/>
                <a:ea typeface="Calibri" pitchFamily="34" charset="-122"/>
                <a:cs typeface="Calibri" pitchFamily="34" charset="-120"/>
              </a:rPr>
              <a:t>Install on phone home screen. Works offline (cached shell). One codebase — browser and mobile.</a:t>
            </a:r>
            <a:endParaRPr lang="en-US" sz="900" dirty="0"/>
          </a:p>
        </p:txBody>
      </p:sp>
      <p:sp>
        <p:nvSpPr>
          <p:cNvPr id="46" name="Shape 39"/>
          <p:cNvSpPr/>
          <p:nvPr/>
        </p:nvSpPr>
        <p:spPr>
          <a:xfrm>
            <a:off x="3200400" y="4425696"/>
            <a:ext cx="329184" cy="329184"/>
          </a:xfrm>
          <a:prstGeom prst="ellipse">
            <a:avLst/>
          </a:prstGeom>
          <a:solidFill>
            <a:srgbClr val="F4A261"/>
          </a:solidFill>
          <a:ln w="12700">
            <a:solidFill>
              <a:srgbClr val="F4A261"/>
            </a:solidFill>
            <a:prstDash val="solid"/>
          </a:ln>
        </p:spPr>
      </p:sp>
      <p:pic>
        <p:nvPicPr>
          <p:cNvPr id="47" name="Image 5" descr="preencoded.png">    </p:cNvPr>
          <p:cNvPicPr>
            <a:picLocks noChangeAspect="1"/>
          </p:cNvPicPr>
          <p:nvPr/>
        </p:nvPicPr>
        <p:blipFill>
          <a:blip r:embed="rId6"/>
          <a:stretch>
            <a:fillRect/>
          </a:stretch>
        </p:blipFill>
        <p:spPr>
          <a:xfrm>
            <a:off x="3273552" y="4498848"/>
            <a:ext cx="182880" cy="182880"/>
          </a:xfrm>
          <a:prstGeom prst="rect">
            <a:avLst/>
          </a:prstGeom>
        </p:spPr>
      </p:pic>
      <p:sp>
        <p:nvSpPr>
          <p:cNvPr id="48" name="Text 40"/>
          <p:cNvSpPr/>
          <p:nvPr/>
        </p:nvSpPr>
        <p:spPr>
          <a:xfrm>
            <a:off x="3621024" y="4407408"/>
            <a:ext cx="1097280"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SSR Citizen Portal</a:t>
            </a:r>
            <a:endParaRPr lang="en-US" sz="1050" dirty="0"/>
          </a:p>
        </p:txBody>
      </p:sp>
      <p:sp>
        <p:nvSpPr>
          <p:cNvPr id="49" name="Text 41"/>
          <p:cNvSpPr/>
          <p:nvPr/>
        </p:nvSpPr>
        <p:spPr>
          <a:xfrm>
            <a:off x="3621024" y="4626864"/>
            <a:ext cx="2286000" cy="402336"/>
          </a:xfrm>
          <a:prstGeom prst="rect">
            <a:avLst/>
          </a:prstGeom>
          <a:noFill/>
          <a:ln/>
        </p:spPr>
        <p:txBody>
          <a:bodyPr wrap="square" rtlCol="0" anchor="ctr"/>
          <a:lstStyle/>
          <a:p>
            <a:pPr indent="0" marL="0">
              <a:lnSpc>
                <a:spcPct val="125000"/>
              </a:lnSpc>
              <a:buNone/>
            </a:pPr>
            <a:r>
              <a:rPr lang="en-US" sz="900" dirty="0">
                <a:solidFill>
                  <a:srgbClr val="8EB4C8"/>
                </a:solidFill>
                <a:latin typeface="Calibri" pitchFamily="34" charset="0"/>
                <a:ea typeface="Calibri" pitchFamily="34" charset="-122"/>
                <a:cs typeface="Calibri" pitchFamily="34" charset="-120"/>
              </a:rPr>
              <a:t>/status/[ref] — server-side rendered. No login. Shows ticket status to citizens on slow connections.</a:t>
            </a:r>
            <a:endParaRPr lang="en-US" sz="900" dirty="0"/>
          </a:p>
        </p:txBody>
      </p:sp>
      <p:sp>
        <p:nvSpPr>
          <p:cNvPr id="50" name="Shape 42"/>
          <p:cNvSpPr/>
          <p:nvPr/>
        </p:nvSpPr>
        <p:spPr>
          <a:xfrm>
            <a:off x="6126480" y="4425696"/>
            <a:ext cx="329184" cy="329184"/>
          </a:xfrm>
          <a:prstGeom prst="ellipse">
            <a:avLst/>
          </a:prstGeom>
          <a:solidFill>
            <a:srgbClr val="E07B54"/>
          </a:solidFill>
          <a:ln w="12700">
            <a:solidFill>
              <a:srgbClr val="E07B54"/>
            </a:solidFill>
            <a:prstDash val="solid"/>
          </a:ln>
        </p:spPr>
      </p:sp>
      <p:pic>
        <p:nvPicPr>
          <p:cNvPr id="51" name="Image 6" descr="preencoded.png">    </p:cNvPr>
          <p:cNvPicPr>
            <a:picLocks noChangeAspect="1"/>
          </p:cNvPicPr>
          <p:nvPr/>
        </p:nvPicPr>
        <p:blipFill>
          <a:blip r:embed="rId7"/>
          <a:stretch>
            <a:fillRect/>
          </a:stretch>
        </p:blipFill>
        <p:spPr>
          <a:xfrm>
            <a:off x="6199632" y="4498848"/>
            <a:ext cx="182880" cy="182880"/>
          </a:xfrm>
          <a:prstGeom prst="rect">
            <a:avLst/>
          </a:prstGeom>
        </p:spPr>
      </p:pic>
      <p:sp>
        <p:nvSpPr>
          <p:cNvPr id="52" name="Text 43"/>
          <p:cNvSpPr/>
          <p:nvPr/>
        </p:nvSpPr>
        <p:spPr>
          <a:xfrm>
            <a:off x="6547104" y="4407408"/>
            <a:ext cx="1097280"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JWT RBAC</a:t>
            </a:r>
            <a:endParaRPr lang="en-US" sz="1050" dirty="0"/>
          </a:p>
        </p:txBody>
      </p:sp>
      <p:sp>
        <p:nvSpPr>
          <p:cNvPr id="53" name="Text 44"/>
          <p:cNvSpPr/>
          <p:nvPr/>
        </p:nvSpPr>
        <p:spPr>
          <a:xfrm>
            <a:off x="6547104" y="4626864"/>
            <a:ext cx="2286000" cy="402336"/>
          </a:xfrm>
          <a:prstGeom prst="rect">
            <a:avLst/>
          </a:prstGeom>
          <a:noFill/>
          <a:ln/>
        </p:spPr>
        <p:txBody>
          <a:bodyPr wrap="square" rtlCol="0" anchor="ctr"/>
          <a:lstStyle/>
          <a:p>
            <a:pPr indent="0" marL="0">
              <a:lnSpc>
                <a:spcPct val="125000"/>
              </a:lnSpc>
              <a:buNone/>
            </a:pPr>
            <a:r>
              <a:rPr lang="en-US" sz="900" dirty="0">
                <a:solidFill>
                  <a:srgbClr val="8EB4C8"/>
                </a:solidFill>
                <a:latin typeface="Calibri" pitchFamily="34" charset="0"/>
                <a:ea typeface="Calibri" pitchFamily="34" charset="-122"/>
                <a:cs typeface="Calibri" pitchFamily="34" charset="-120"/>
              </a:rPr>
              <a:t>Role-gated at route level. Admin/Lead/Agent see different data. Token refresh in HttpOnly cookie.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C39A"/>
                </a:solidFill>
                <a:latin typeface="Calibri" pitchFamily="34" charset="0"/>
                <a:ea typeface="Calibri" pitchFamily="34" charset="-122"/>
                <a:cs typeface="Calibri" pitchFamily="34" charset="-120"/>
              </a:rPr>
              <a:t>KEY DECISIONS — AND WHY THEY CHANGED</a:t>
            </a:r>
            <a:endParaRPr lang="en-US" sz="900" dirty="0"/>
          </a:p>
        </p:txBody>
      </p:sp>
      <p:sp>
        <p:nvSpPr>
          <p:cNvPr id="3" name="Text 1"/>
          <p:cNvSpPr/>
          <p:nvPr/>
        </p:nvSpPr>
        <p:spPr>
          <a:xfrm>
            <a:off x="457200" y="457200"/>
            <a:ext cx="8229600" cy="530352"/>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Every pivot had a reason. All documented.</a:t>
            </a:r>
            <a:endParaRPr lang="en-US" sz="2600" dirty="0"/>
          </a:p>
        </p:txBody>
      </p:sp>
      <p:sp>
        <p:nvSpPr>
          <p:cNvPr id="4" name="Shape 2"/>
          <p:cNvSpPr/>
          <p:nvPr/>
        </p:nvSpPr>
        <p:spPr>
          <a:xfrm>
            <a:off x="347472" y="1152144"/>
            <a:ext cx="4224528" cy="1115568"/>
          </a:xfrm>
          <a:prstGeom prst="rect">
            <a:avLst/>
          </a:prstGeom>
          <a:solidFill>
            <a:srgbClr val="0A1628"/>
          </a:solidFill>
          <a:ln w="12700">
            <a:solidFill>
              <a:srgbClr val="2A4A6A"/>
            </a:solidFill>
            <a:prstDash val="solid"/>
          </a:ln>
        </p:spPr>
      </p:sp>
      <p:sp>
        <p:nvSpPr>
          <p:cNvPr id="5" name="Shape 3"/>
          <p:cNvSpPr/>
          <p:nvPr/>
        </p:nvSpPr>
        <p:spPr>
          <a:xfrm>
            <a:off x="457200" y="1280160"/>
            <a:ext cx="438912" cy="438912"/>
          </a:xfrm>
          <a:prstGeom prst="ellipse">
            <a:avLst/>
          </a:prstGeom>
          <a:solidFill>
            <a:srgbClr val="028090"/>
          </a:solidFill>
          <a:ln w="12700">
            <a:solidFill>
              <a:srgbClr val="028090"/>
            </a:solidFill>
            <a:prstDash val="solid"/>
          </a:ln>
        </p:spPr>
      </p:sp>
      <p:pic>
        <p:nvPicPr>
          <p:cNvPr id="6" name="Image 0" descr="preencoded.png">    </p:cNvPr>
          <p:cNvPicPr>
            <a:picLocks noChangeAspect="1"/>
          </p:cNvPicPr>
          <p:nvPr/>
        </p:nvPicPr>
        <p:blipFill>
          <a:blip r:embed="rId1"/>
          <a:stretch>
            <a:fillRect/>
          </a:stretch>
        </p:blipFill>
        <p:spPr>
          <a:xfrm>
            <a:off x="548640" y="1371600"/>
            <a:ext cx="256032" cy="256032"/>
          </a:xfrm>
          <a:prstGeom prst="rect">
            <a:avLst/>
          </a:prstGeom>
        </p:spPr>
      </p:pic>
      <p:sp>
        <p:nvSpPr>
          <p:cNvPr id="7" name="Text 4"/>
          <p:cNvSpPr/>
          <p:nvPr/>
        </p:nvSpPr>
        <p:spPr>
          <a:xfrm>
            <a:off x="987552" y="1243584"/>
            <a:ext cx="3438144" cy="219456"/>
          </a:xfrm>
          <a:prstGeom prst="rect">
            <a:avLst/>
          </a:prstGeom>
          <a:noFill/>
          <a:ln/>
        </p:spPr>
        <p:txBody>
          <a:bodyPr wrap="square" rtlCol="0" anchor="ctr"/>
          <a:lstStyle/>
          <a:p>
            <a:pPr indent="0" marL="0">
              <a:buNone/>
            </a:pPr>
            <a:r>
              <a:rPr lang="en-US" sz="950" b="1" dirty="0">
                <a:solidFill>
                  <a:srgbClr val="E07B54"/>
                </a:solidFill>
                <a:latin typeface="Calibri" pitchFamily="34" charset="0"/>
                <a:ea typeface="Calibri" pitchFamily="34" charset="-122"/>
                <a:cs typeface="Calibri" pitchFamily="34" charset="-120"/>
              </a:rPr>
              <a:t>All Python</a:t>
            </a:r>
            <a:endParaRPr lang="en-US" sz="950" dirty="0"/>
          </a:p>
        </p:txBody>
      </p:sp>
      <p:sp>
        <p:nvSpPr>
          <p:cNvPr id="8" name="Text 5"/>
          <p:cNvSpPr/>
          <p:nvPr/>
        </p:nvSpPr>
        <p:spPr>
          <a:xfrm>
            <a:off x="987552" y="1463040"/>
            <a:ext cx="3438144"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  Quarkus + Python</a:t>
            </a:r>
            <a:endParaRPr lang="en-US" sz="1050" dirty="0"/>
          </a:p>
        </p:txBody>
      </p:sp>
      <p:sp>
        <p:nvSpPr>
          <p:cNvPr id="9" name="Text 6"/>
          <p:cNvSpPr/>
          <p:nvPr/>
        </p:nvSpPr>
        <p:spPr>
          <a:xfrm>
            <a:off x="987552" y="1719072"/>
            <a:ext cx="3438144" cy="475488"/>
          </a:xfrm>
          <a:prstGeom prst="rect">
            <a:avLst/>
          </a:prstGeom>
          <a:noFill/>
          <a:ln/>
        </p:spPr>
        <p:txBody>
          <a:bodyPr wrap="square" rtlCol="0" anchor="ctr"/>
          <a:lstStyle/>
          <a:p>
            <a:pPr indent="0" marL="0">
              <a:lnSpc>
                <a:spcPct val="135000"/>
              </a:lnSpc>
              <a:buNone/>
            </a:pPr>
            <a:r>
              <a:rPr lang="en-US" sz="900" dirty="0">
                <a:solidFill>
                  <a:srgbClr val="8EB4C8"/>
                </a:solidFill>
                <a:latin typeface="Calibri" pitchFamily="34" charset="0"/>
                <a:ea typeface="Calibri" pitchFamily="34" charset="-122"/>
                <a:cs typeface="Calibri" pitchFamily="34" charset="-120"/>
              </a:rPr>
              <a:t>Quarkus native binary = 50MB/pod vs 300MB. Direct infra cost saving at scale.</a:t>
            </a:r>
            <a:endParaRPr lang="en-US" sz="900" dirty="0"/>
          </a:p>
        </p:txBody>
      </p:sp>
      <p:sp>
        <p:nvSpPr>
          <p:cNvPr id="10" name="Shape 7"/>
          <p:cNvSpPr/>
          <p:nvPr/>
        </p:nvSpPr>
        <p:spPr>
          <a:xfrm>
            <a:off x="4754880" y="1152144"/>
            <a:ext cx="4224528" cy="1115568"/>
          </a:xfrm>
          <a:prstGeom prst="rect">
            <a:avLst/>
          </a:prstGeom>
          <a:solidFill>
            <a:srgbClr val="0A1628"/>
          </a:solidFill>
          <a:ln w="12700">
            <a:solidFill>
              <a:srgbClr val="2A4A6A"/>
            </a:solidFill>
            <a:prstDash val="solid"/>
          </a:ln>
        </p:spPr>
      </p:sp>
      <p:sp>
        <p:nvSpPr>
          <p:cNvPr id="11" name="Shape 8"/>
          <p:cNvSpPr/>
          <p:nvPr/>
        </p:nvSpPr>
        <p:spPr>
          <a:xfrm>
            <a:off x="4864608" y="1280160"/>
            <a:ext cx="438912" cy="438912"/>
          </a:xfrm>
          <a:prstGeom prst="ellipse">
            <a:avLst/>
          </a:prstGeom>
          <a:solidFill>
            <a:srgbClr val="028090"/>
          </a:solidFill>
          <a:ln w="12700">
            <a:solidFill>
              <a:srgbClr val="028090"/>
            </a:solidFill>
            <a:prstDash val="solid"/>
          </a:ln>
        </p:spPr>
      </p:sp>
      <p:pic>
        <p:nvPicPr>
          <p:cNvPr id="12" name="Image 1" descr="preencoded.png">    </p:cNvPr>
          <p:cNvPicPr>
            <a:picLocks noChangeAspect="1"/>
          </p:cNvPicPr>
          <p:nvPr/>
        </p:nvPicPr>
        <p:blipFill>
          <a:blip r:embed="rId2"/>
          <a:stretch>
            <a:fillRect/>
          </a:stretch>
        </p:blipFill>
        <p:spPr>
          <a:xfrm>
            <a:off x="4956048" y="1371600"/>
            <a:ext cx="256032" cy="256032"/>
          </a:xfrm>
          <a:prstGeom prst="rect">
            <a:avLst/>
          </a:prstGeom>
        </p:spPr>
      </p:pic>
      <p:sp>
        <p:nvSpPr>
          <p:cNvPr id="13" name="Text 9"/>
          <p:cNvSpPr/>
          <p:nvPr/>
        </p:nvSpPr>
        <p:spPr>
          <a:xfrm>
            <a:off x="5394960" y="1243584"/>
            <a:ext cx="3438144" cy="219456"/>
          </a:xfrm>
          <a:prstGeom prst="rect">
            <a:avLst/>
          </a:prstGeom>
          <a:noFill/>
          <a:ln/>
        </p:spPr>
        <p:txBody>
          <a:bodyPr wrap="square" rtlCol="0" anchor="ctr"/>
          <a:lstStyle/>
          <a:p>
            <a:pPr indent="0" marL="0">
              <a:buNone/>
            </a:pPr>
            <a:r>
              <a:rPr lang="en-US" sz="950" b="1" dirty="0">
                <a:solidFill>
                  <a:srgbClr val="E07B54"/>
                </a:solidFill>
                <a:latin typeface="Calibri" pitchFamily="34" charset="0"/>
                <a:ea typeface="Calibri" pitchFamily="34" charset="-122"/>
                <a:cs typeface="Calibri" pitchFamily="34" charset="-120"/>
              </a:rPr>
              <a:t>PostgreSQL</a:t>
            </a:r>
            <a:endParaRPr lang="en-US" sz="950" dirty="0"/>
          </a:p>
        </p:txBody>
      </p:sp>
      <p:sp>
        <p:nvSpPr>
          <p:cNvPr id="14" name="Text 10"/>
          <p:cNvSpPr/>
          <p:nvPr/>
        </p:nvSpPr>
        <p:spPr>
          <a:xfrm>
            <a:off x="5394960" y="1463040"/>
            <a:ext cx="3438144"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  SQLite WAL + single writer</a:t>
            </a:r>
            <a:endParaRPr lang="en-US" sz="1050" dirty="0"/>
          </a:p>
        </p:txBody>
      </p:sp>
      <p:sp>
        <p:nvSpPr>
          <p:cNvPr id="15" name="Text 11"/>
          <p:cNvSpPr/>
          <p:nvPr/>
        </p:nvSpPr>
        <p:spPr>
          <a:xfrm>
            <a:off x="5394960" y="1719072"/>
            <a:ext cx="3438144" cy="475488"/>
          </a:xfrm>
          <a:prstGeom prst="rect">
            <a:avLst/>
          </a:prstGeom>
          <a:noFill/>
          <a:ln/>
        </p:spPr>
        <p:txBody>
          <a:bodyPr wrap="square" rtlCol="0" anchor="ctr"/>
          <a:lstStyle/>
          <a:p>
            <a:pPr indent="0" marL="0">
              <a:lnSpc>
                <a:spcPct val="135000"/>
              </a:lnSpc>
              <a:buNone/>
            </a:pPr>
            <a:r>
              <a:rPr lang="en-US" sz="900" dirty="0">
                <a:solidFill>
                  <a:srgbClr val="8EB4C8"/>
                </a:solidFill>
                <a:latin typeface="Calibri" pitchFamily="34" charset="0"/>
                <a:ea typeface="Calibri" pitchFamily="34" charset="-122"/>
                <a:cs typeface="Calibri" pitchFamily="34" charset="-120"/>
              </a:rPr>
              <a:t>Complaint portal has low write volume. Eliminate DB server cost entirely. Migration path documented if needed.</a:t>
            </a:r>
            <a:endParaRPr lang="en-US" sz="900" dirty="0"/>
          </a:p>
        </p:txBody>
      </p:sp>
      <p:sp>
        <p:nvSpPr>
          <p:cNvPr id="16" name="Shape 12"/>
          <p:cNvSpPr/>
          <p:nvPr/>
        </p:nvSpPr>
        <p:spPr>
          <a:xfrm>
            <a:off x="347472" y="2386584"/>
            <a:ext cx="4224528" cy="1115568"/>
          </a:xfrm>
          <a:prstGeom prst="rect">
            <a:avLst/>
          </a:prstGeom>
          <a:solidFill>
            <a:srgbClr val="0A1628"/>
          </a:solidFill>
          <a:ln w="12700">
            <a:solidFill>
              <a:srgbClr val="2A4A6A"/>
            </a:solidFill>
            <a:prstDash val="solid"/>
          </a:ln>
        </p:spPr>
      </p:sp>
      <p:sp>
        <p:nvSpPr>
          <p:cNvPr id="17" name="Shape 13"/>
          <p:cNvSpPr/>
          <p:nvPr/>
        </p:nvSpPr>
        <p:spPr>
          <a:xfrm>
            <a:off x="457200" y="2514600"/>
            <a:ext cx="438912" cy="438912"/>
          </a:xfrm>
          <a:prstGeom prst="ellipse">
            <a:avLst/>
          </a:prstGeom>
          <a:solidFill>
            <a:srgbClr val="028090"/>
          </a:solidFill>
          <a:ln w="12700">
            <a:solidFill>
              <a:srgbClr val="028090"/>
            </a:solidFill>
            <a:prstDash val="solid"/>
          </a:ln>
        </p:spPr>
      </p:sp>
      <p:pic>
        <p:nvPicPr>
          <p:cNvPr id="18" name="Image 2" descr="preencoded.png">    </p:cNvPr>
          <p:cNvPicPr>
            <a:picLocks noChangeAspect="1"/>
          </p:cNvPicPr>
          <p:nvPr/>
        </p:nvPicPr>
        <p:blipFill>
          <a:blip r:embed="rId3"/>
          <a:stretch>
            <a:fillRect/>
          </a:stretch>
        </p:blipFill>
        <p:spPr>
          <a:xfrm>
            <a:off x="548640" y="2606040"/>
            <a:ext cx="256032" cy="256032"/>
          </a:xfrm>
          <a:prstGeom prst="rect">
            <a:avLst/>
          </a:prstGeom>
        </p:spPr>
      </p:pic>
      <p:sp>
        <p:nvSpPr>
          <p:cNvPr id="19" name="Text 14"/>
          <p:cNvSpPr/>
          <p:nvPr/>
        </p:nvSpPr>
        <p:spPr>
          <a:xfrm>
            <a:off x="987552" y="2478024"/>
            <a:ext cx="3438144" cy="219456"/>
          </a:xfrm>
          <a:prstGeom prst="rect">
            <a:avLst/>
          </a:prstGeom>
          <a:noFill/>
          <a:ln/>
        </p:spPr>
        <p:txBody>
          <a:bodyPr wrap="square" rtlCol="0" anchor="ctr"/>
          <a:lstStyle/>
          <a:p>
            <a:pPr indent="0" marL="0">
              <a:buNone/>
            </a:pPr>
            <a:r>
              <a:rPr lang="en-US" sz="950" b="1" dirty="0">
                <a:solidFill>
                  <a:srgbClr val="E07B54"/>
                </a:solidFill>
                <a:latin typeface="Calibri" pitchFamily="34" charset="0"/>
                <a:ea typeface="Calibri" pitchFamily="34" charset="-122"/>
                <a:cs typeface="Calibri" pitchFamily="34" charset="-120"/>
              </a:rPr>
              <a:t>IMAP polling</a:t>
            </a:r>
            <a:endParaRPr lang="en-US" sz="950" dirty="0"/>
          </a:p>
        </p:txBody>
      </p:sp>
      <p:sp>
        <p:nvSpPr>
          <p:cNvPr id="20" name="Text 15"/>
          <p:cNvSpPr/>
          <p:nvPr/>
        </p:nvSpPr>
        <p:spPr>
          <a:xfrm>
            <a:off x="987552" y="2697480"/>
            <a:ext cx="3438144"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  Make.com webhook</a:t>
            </a:r>
            <a:endParaRPr lang="en-US" sz="1050" dirty="0"/>
          </a:p>
        </p:txBody>
      </p:sp>
      <p:sp>
        <p:nvSpPr>
          <p:cNvPr id="21" name="Text 16"/>
          <p:cNvSpPr/>
          <p:nvPr/>
        </p:nvSpPr>
        <p:spPr>
          <a:xfrm>
            <a:off x="987552" y="2953512"/>
            <a:ext cx="3438144" cy="475488"/>
          </a:xfrm>
          <a:prstGeom prst="rect">
            <a:avLst/>
          </a:prstGeom>
          <a:noFill/>
          <a:ln/>
        </p:spPr>
        <p:txBody>
          <a:bodyPr wrap="square" rtlCol="0" anchor="ctr"/>
          <a:lstStyle/>
          <a:p>
            <a:pPr indent="0" marL="0">
              <a:lnSpc>
                <a:spcPct val="135000"/>
              </a:lnSpc>
              <a:buNone/>
            </a:pPr>
            <a:r>
              <a:rPr lang="en-US" sz="900" dirty="0">
                <a:solidFill>
                  <a:srgbClr val="8EB4C8"/>
                </a:solidFill>
                <a:latin typeface="Calibri" pitchFamily="34" charset="0"/>
                <a:ea typeface="Calibri" pitchFamily="34" charset="-122"/>
                <a:cs typeface="Calibri" pitchFamily="34" charset="-120"/>
              </a:rPr>
              <a:t>Reduced code complexity. Eliminated duplicate-ingest risk. Visual integration layer non-engineers can manage.</a:t>
            </a:r>
            <a:endParaRPr lang="en-US" sz="900" dirty="0"/>
          </a:p>
        </p:txBody>
      </p:sp>
      <p:sp>
        <p:nvSpPr>
          <p:cNvPr id="22" name="Shape 17"/>
          <p:cNvSpPr/>
          <p:nvPr/>
        </p:nvSpPr>
        <p:spPr>
          <a:xfrm>
            <a:off x="4754880" y="2386584"/>
            <a:ext cx="4224528" cy="1115568"/>
          </a:xfrm>
          <a:prstGeom prst="rect">
            <a:avLst/>
          </a:prstGeom>
          <a:solidFill>
            <a:srgbClr val="0A1628"/>
          </a:solidFill>
          <a:ln w="12700">
            <a:solidFill>
              <a:srgbClr val="2A4A6A"/>
            </a:solidFill>
            <a:prstDash val="solid"/>
          </a:ln>
        </p:spPr>
      </p:sp>
      <p:sp>
        <p:nvSpPr>
          <p:cNvPr id="23" name="Shape 18"/>
          <p:cNvSpPr/>
          <p:nvPr/>
        </p:nvSpPr>
        <p:spPr>
          <a:xfrm>
            <a:off x="4864608" y="2514600"/>
            <a:ext cx="438912" cy="438912"/>
          </a:xfrm>
          <a:prstGeom prst="ellipse">
            <a:avLst/>
          </a:prstGeom>
          <a:solidFill>
            <a:srgbClr val="028090"/>
          </a:solidFill>
          <a:ln w="12700">
            <a:solidFill>
              <a:srgbClr val="028090"/>
            </a:solidFill>
            <a:prstDash val="solid"/>
          </a:ln>
        </p:spPr>
      </p:sp>
      <p:pic>
        <p:nvPicPr>
          <p:cNvPr id="24" name="Image 3" descr="preencoded.png">    </p:cNvPr>
          <p:cNvPicPr>
            <a:picLocks noChangeAspect="1"/>
          </p:cNvPicPr>
          <p:nvPr/>
        </p:nvPicPr>
        <p:blipFill>
          <a:blip r:embed="rId4"/>
          <a:stretch>
            <a:fillRect/>
          </a:stretch>
        </p:blipFill>
        <p:spPr>
          <a:xfrm>
            <a:off x="4956048" y="2606040"/>
            <a:ext cx="256032" cy="256032"/>
          </a:xfrm>
          <a:prstGeom prst="rect">
            <a:avLst/>
          </a:prstGeom>
        </p:spPr>
      </p:pic>
      <p:sp>
        <p:nvSpPr>
          <p:cNvPr id="25" name="Text 19"/>
          <p:cNvSpPr/>
          <p:nvPr/>
        </p:nvSpPr>
        <p:spPr>
          <a:xfrm>
            <a:off x="5394960" y="2478024"/>
            <a:ext cx="3438144" cy="219456"/>
          </a:xfrm>
          <a:prstGeom prst="rect">
            <a:avLst/>
          </a:prstGeom>
          <a:noFill/>
          <a:ln/>
        </p:spPr>
        <p:txBody>
          <a:bodyPr wrap="square" rtlCol="0" anchor="ctr"/>
          <a:lstStyle/>
          <a:p>
            <a:pPr indent="0" marL="0">
              <a:buNone/>
            </a:pPr>
            <a:r>
              <a:rPr lang="en-US" sz="950" b="1" dirty="0">
                <a:solidFill>
                  <a:srgbClr val="E07B54"/>
                </a:solidFill>
                <a:latin typeface="Calibri" pitchFamily="34" charset="0"/>
                <a:ea typeface="Calibri" pitchFamily="34" charset="-122"/>
                <a:cs typeface="Calibri" pitchFamily="34" charset="-120"/>
              </a:rPr>
              <a:t>quarkus-security-jwt</a:t>
            </a:r>
            <a:endParaRPr lang="en-US" sz="950" dirty="0"/>
          </a:p>
        </p:txBody>
      </p:sp>
      <p:sp>
        <p:nvSpPr>
          <p:cNvPr id="26" name="Text 20"/>
          <p:cNvSpPr/>
          <p:nvPr/>
        </p:nvSpPr>
        <p:spPr>
          <a:xfrm>
            <a:off x="5394960" y="2697480"/>
            <a:ext cx="3438144"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  auth0 java-jwt + AuthFilter</a:t>
            </a:r>
            <a:endParaRPr lang="en-US" sz="1050" dirty="0"/>
          </a:p>
        </p:txBody>
      </p:sp>
      <p:sp>
        <p:nvSpPr>
          <p:cNvPr id="27" name="Text 21"/>
          <p:cNvSpPr/>
          <p:nvPr/>
        </p:nvSpPr>
        <p:spPr>
          <a:xfrm>
            <a:off x="5394960" y="2953512"/>
            <a:ext cx="3438144" cy="475488"/>
          </a:xfrm>
          <a:prstGeom prst="rect">
            <a:avLst/>
          </a:prstGeom>
          <a:noFill/>
          <a:ln/>
        </p:spPr>
        <p:txBody>
          <a:bodyPr wrap="square" rtlCol="0" anchor="ctr"/>
          <a:lstStyle/>
          <a:p>
            <a:pPr indent="0" marL="0">
              <a:lnSpc>
                <a:spcPct val="135000"/>
              </a:lnSpc>
              <a:buNone/>
            </a:pPr>
            <a:r>
              <a:rPr lang="en-US" sz="900" dirty="0">
                <a:solidFill>
                  <a:srgbClr val="8EB4C8"/>
                </a:solidFill>
                <a:latin typeface="Calibri" pitchFamily="34" charset="0"/>
                <a:ea typeface="Calibri" pitchFamily="34" charset="-122"/>
                <a:cs typeface="Calibri" pitchFamily="34" charset="-120"/>
              </a:rPr>
              <a:t>Undocumented smallrye-jwt conflict discovered mid-build. Working implementation kept. Conflict documented.</a:t>
            </a:r>
            <a:endParaRPr lang="en-US" sz="900" dirty="0"/>
          </a:p>
        </p:txBody>
      </p:sp>
      <p:sp>
        <p:nvSpPr>
          <p:cNvPr id="28" name="Shape 22"/>
          <p:cNvSpPr/>
          <p:nvPr/>
        </p:nvSpPr>
        <p:spPr>
          <a:xfrm>
            <a:off x="347472" y="3621024"/>
            <a:ext cx="4224528" cy="1115568"/>
          </a:xfrm>
          <a:prstGeom prst="rect">
            <a:avLst/>
          </a:prstGeom>
          <a:solidFill>
            <a:srgbClr val="0A1628"/>
          </a:solidFill>
          <a:ln w="12700">
            <a:solidFill>
              <a:srgbClr val="2A4A6A"/>
            </a:solidFill>
            <a:prstDash val="solid"/>
          </a:ln>
        </p:spPr>
      </p:sp>
      <p:sp>
        <p:nvSpPr>
          <p:cNvPr id="29" name="Shape 23"/>
          <p:cNvSpPr/>
          <p:nvPr/>
        </p:nvSpPr>
        <p:spPr>
          <a:xfrm>
            <a:off x="457200" y="3749040"/>
            <a:ext cx="438912" cy="438912"/>
          </a:xfrm>
          <a:prstGeom prst="ellipse">
            <a:avLst/>
          </a:prstGeom>
          <a:solidFill>
            <a:srgbClr val="028090"/>
          </a:solidFill>
          <a:ln w="12700">
            <a:solidFill>
              <a:srgbClr val="028090"/>
            </a:solidFill>
            <a:prstDash val="solid"/>
          </a:ln>
        </p:spPr>
      </p:sp>
      <p:pic>
        <p:nvPicPr>
          <p:cNvPr id="30" name="Image 4" descr="preencoded.png">    </p:cNvPr>
          <p:cNvPicPr>
            <a:picLocks noChangeAspect="1"/>
          </p:cNvPicPr>
          <p:nvPr/>
        </p:nvPicPr>
        <p:blipFill>
          <a:blip r:embed="rId5"/>
          <a:stretch>
            <a:fillRect/>
          </a:stretch>
        </p:blipFill>
        <p:spPr>
          <a:xfrm>
            <a:off x="548640" y="3840480"/>
            <a:ext cx="256032" cy="256032"/>
          </a:xfrm>
          <a:prstGeom prst="rect">
            <a:avLst/>
          </a:prstGeom>
        </p:spPr>
      </p:pic>
      <p:sp>
        <p:nvSpPr>
          <p:cNvPr id="31" name="Text 24"/>
          <p:cNvSpPr/>
          <p:nvPr/>
        </p:nvSpPr>
        <p:spPr>
          <a:xfrm>
            <a:off x="987552" y="3712464"/>
            <a:ext cx="3438144" cy="219456"/>
          </a:xfrm>
          <a:prstGeom prst="rect">
            <a:avLst/>
          </a:prstGeom>
          <a:noFill/>
          <a:ln/>
        </p:spPr>
        <p:txBody>
          <a:bodyPr wrap="square" rtlCol="0" anchor="ctr"/>
          <a:lstStyle/>
          <a:p>
            <a:pPr indent="0" marL="0">
              <a:buNone/>
            </a:pPr>
            <a:r>
              <a:rPr lang="en-US" sz="950" b="1" dirty="0">
                <a:solidFill>
                  <a:srgbClr val="E07B54"/>
                </a:solidFill>
                <a:latin typeface="Calibri" pitchFamily="34" charset="0"/>
                <a:ea typeface="Calibri" pitchFamily="34" charset="-122"/>
                <a:cs typeface="Calibri" pitchFamily="34" charset="-120"/>
              </a:rPr>
              <a:t>LangChain</a:t>
            </a:r>
            <a:endParaRPr lang="en-US" sz="950" dirty="0"/>
          </a:p>
        </p:txBody>
      </p:sp>
      <p:sp>
        <p:nvSpPr>
          <p:cNvPr id="32" name="Text 25"/>
          <p:cNvSpPr/>
          <p:nvPr/>
        </p:nvSpPr>
        <p:spPr>
          <a:xfrm>
            <a:off x="987552" y="3931920"/>
            <a:ext cx="3438144"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  OpenAI Assistants API</a:t>
            </a:r>
            <a:endParaRPr lang="en-US" sz="1050" dirty="0"/>
          </a:p>
        </p:txBody>
      </p:sp>
      <p:sp>
        <p:nvSpPr>
          <p:cNvPr id="33" name="Text 26"/>
          <p:cNvSpPr/>
          <p:nvPr/>
        </p:nvSpPr>
        <p:spPr>
          <a:xfrm>
            <a:off x="987552" y="4187952"/>
            <a:ext cx="3438144" cy="475488"/>
          </a:xfrm>
          <a:prstGeom prst="rect">
            <a:avLst/>
          </a:prstGeom>
          <a:noFill/>
          <a:ln/>
        </p:spPr>
        <p:txBody>
          <a:bodyPr wrap="square" rtlCol="0" anchor="ctr"/>
          <a:lstStyle/>
          <a:p>
            <a:pPr indent="0" marL="0">
              <a:lnSpc>
                <a:spcPct val="135000"/>
              </a:lnSpc>
              <a:buNone/>
            </a:pPr>
            <a:r>
              <a:rPr lang="en-US" sz="900" dirty="0">
                <a:solidFill>
                  <a:srgbClr val="8EB4C8"/>
                </a:solidFill>
                <a:latin typeface="Calibri" pitchFamily="34" charset="0"/>
                <a:ea typeface="Calibri" pitchFamily="34" charset="-122"/>
                <a:cs typeface="Calibri" pitchFamily="34" charset="-120"/>
              </a:rPr>
              <a:t>Assistants API manages conversation state, tool calling, and threading natively — removes 3 layers of custom state code.</a:t>
            </a:r>
            <a:endParaRPr lang="en-US" sz="900" dirty="0"/>
          </a:p>
        </p:txBody>
      </p:sp>
      <p:sp>
        <p:nvSpPr>
          <p:cNvPr id="34" name="Shape 27"/>
          <p:cNvSpPr/>
          <p:nvPr/>
        </p:nvSpPr>
        <p:spPr>
          <a:xfrm>
            <a:off x="4754880" y="3621024"/>
            <a:ext cx="4224528" cy="1115568"/>
          </a:xfrm>
          <a:prstGeom prst="rect">
            <a:avLst/>
          </a:prstGeom>
          <a:solidFill>
            <a:srgbClr val="0A1628"/>
          </a:solidFill>
          <a:ln w="12700">
            <a:solidFill>
              <a:srgbClr val="2A4A6A"/>
            </a:solidFill>
            <a:prstDash val="solid"/>
          </a:ln>
        </p:spPr>
      </p:sp>
      <p:sp>
        <p:nvSpPr>
          <p:cNvPr id="35" name="Shape 28"/>
          <p:cNvSpPr/>
          <p:nvPr/>
        </p:nvSpPr>
        <p:spPr>
          <a:xfrm>
            <a:off x="4864608" y="3749040"/>
            <a:ext cx="438912" cy="438912"/>
          </a:xfrm>
          <a:prstGeom prst="ellipse">
            <a:avLst/>
          </a:prstGeom>
          <a:solidFill>
            <a:srgbClr val="028090"/>
          </a:solidFill>
          <a:ln w="12700">
            <a:solidFill>
              <a:srgbClr val="028090"/>
            </a:solidFill>
            <a:prstDash val="solid"/>
          </a:ln>
        </p:spPr>
      </p:sp>
      <p:pic>
        <p:nvPicPr>
          <p:cNvPr id="36" name="Image 5" descr="preencoded.png">    </p:cNvPr>
          <p:cNvPicPr>
            <a:picLocks noChangeAspect="1"/>
          </p:cNvPicPr>
          <p:nvPr/>
        </p:nvPicPr>
        <p:blipFill>
          <a:blip r:embed="rId6"/>
          <a:stretch>
            <a:fillRect/>
          </a:stretch>
        </p:blipFill>
        <p:spPr>
          <a:xfrm>
            <a:off x="4956048" y="3840480"/>
            <a:ext cx="256032" cy="256032"/>
          </a:xfrm>
          <a:prstGeom prst="rect">
            <a:avLst/>
          </a:prstGeom>
        </p:spPr>
      </p:pic>
      <p:sp>
        <p:nvSpPr>
          <p:cNvPr id="37" name="Text 29"/>
          <p:cNvSpPr/>
          <p:nvPr/>
        </p:nvSpPr>
        <p:spPr>
          <a:xfrm>
            <a:off x="5394960" y="3712464"/>
            <a:ext cx="3438144" cy="219456"/>
          </a:xfrm>
          <a:prstGeom prst="rect">
            <a:avLst/>
          </a:prstGeom>
          <a:noFill/>
          <a:ln/>
        </p:spPr>
        <p:txBody>
          <a:bodyPr wrap="square" rtlCol="0" anchor="ctr"/>
          <a:lstStyle/>
          <a:p>
            <a:pPr indent="0" marL="0">
              <a:buNone/>
            </a:pPr>
            <a:r>
              <a:rPr lang="en-US" sz="950" b="1" dirty="0">
                <a:solidFill>
                  <a:srgbClr val="E07B54"/>
                </a:solidFill>
                <a:latin typeface="Calibri" pitchFamily="34" charset="0"/>
                <a:ea typeface="Calibri" pitchFamily="34" charset="-122"/>
                <a:cs typeface="Calibri" pitchFamily="34" charset="-120"/>
              </a:rPr>
              <a:t>Redis 7.4+</a:t>
            </a:r>
            <a:endParaRPr lang="en-US" sz="950" dirty="0"/>
          </a:p>
        </p:txBody>
      </p:sp>
      <p:sp>
        <p:nvSpPr>
          <p:cNvPr id="38" name="Text 30"/>
          <p:cNvSpPr/>
          <p:nvPr/>
        </p:nvSpPr>
        <p:spPr>
          <a:xfrm>
            <a:off x="5394960" y="3931920"/>
            <a:ext cx="3438144" cy="219456"/>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  Valkey 7.2 (MIT)</a:t>
            </a:r>
            <a:endParaRPr lang="en-US" sz="1050" dirty="0"/>
          </a:p>
        </p:txBody>
      </p:sp>
      <p:sp>
        <p:nvSpPr>
          <p:cNvPr id="39" name="Text 31"/>
          <p:cNvSpPr/>
          <p:nvPr/>
        </p:nvSpPr>
        <p:spPr>
          <a:xfrm>
            <a:off x="5394960" y="4187952"/>
            <a:ext cx="3438144" cy="475488"/>
          </a:xfrm>
          <a:prstGeom prst="rect">
            <a:avLst/>
          </a:prstGeom>
          <a:noFill/>
          <a:ln/>
        </p:spPr>
        <p:txBody>
          <a:bodyPr wrap="square" rtlCol="0" anchor="ctr"/>
          <a:lstStyle/>
          <a:p>
            <a:pPr indent="0" marL="0">
              <a:lnSpc>
                <a:spcPct val="135000"/>
              </a:lnSpc>
              <a:buNone/>
            </a:pPr>
            <a:r>
              <a:rPr lang="en-US" sz="900" dirty="0">
                <a:solidFill>
                  <a:srgbClr val="8EB4C8"/>
                </a:solidFill>
                <a:latin typeface="Calibri" pitchFamily="34" charset="0"/>
                <a:ea typeface="Calibri" pitchFamily="34" charset="-122"/>
                <a:cs typeface="Calibri" pitchFamily="34" charset="-120"/>
              </a:rPr>
              <a:t>Redis changed licence to RSALv2 in 7.4+. Valkey is the Linux Foundation fork — identical API, zero licence risk.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8090"/>
                </a:solidFill>
                <a:latin typeface="Calibri" pitchFamily="34" charset="0"/>
                <a:ea typeface="Calibri" pitchFamily="34" charset="-122"/>
                <a:cs typeface="Calibri" pitchFamily="34" charset="-120"/>
              </a:rPr>
              <a:t>HOW AI IS EMBEDDED</a:t>
            </a:r>
            <a:endParaRPr lang="en-US" sz="900" dirty="0"/>
          </a:p>
        </p:txBody>
      </p:sp>
      <p:sp>
        <p:nvSpPr>
          <p:cNvPr id="3" name="Text 1"/>
          <p:cNvSpPr/>
          <p:nvPr/>
        </p:nvSpPr>
        <p:spPr>
          <a:xfrm>
            <a:off x="457200" y="457200"/>
            <a:ext cx="8229600" cy="512064"/>
          </a:xfrm>
          <a:prstGeom prst="rect">
            <a:avLst/>
          </a:prstGeom>
          <a:noFill/>
          <a:ln/>
        </p:spPr>
        <p:txBody>
          <a:bodyPr wrap="square"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Not bolted on. Designed in.</a:t>
            </a:r>
            <a:endParaRPr lang="en-US" sz="2600" dirty="0"/>
          </a:p>
        </p:txBody>
      </p:sp>
      <p:sp>
        <p:nvSpPr>
          <p:cNvPr id="4" name="Shape 2"/>
          <p:cNvSpPr/>
          <p:nvPr/>
        </p:nvSpPr>
        <p:spPr>
          <a:xfrm>
            <a:off x="758952" y="1152144"/>
            <a:ext cx="914400" cy="914400"/>
          </a:xfrm>
          <a:prstGeom prst="ellipse">
            <a:avLst/>
          </a:prstGeom>
          <a:solidFill>
            <a:srgbClr val="0D1B2A"/>
          </a:solidFill>
          <a:ln w="12700">
            <a:solidFill>
              <a:srgbClr val="0D1B2A"/>
            </a:solidFill>
            <a:prstDash val="solid"/>
          </a:ln>
        </p:spPr>
      </p:sp>
      <p:pic>
        <p:nvPicPr>
          <p:cNvPr id="5" name="Image 0" descr="preencoded.png">    </p:cNvPr>
          <p:cNvPicPr>
            <a:picLocks noChangeAspect="1"/>
          </p:cNvPicPr>
          <p:nvPr/>
        </p:nvPicPr>
        <p:blipFill>
          <a:blip r:embed="rId1"/>
          <a:stretch>
            <a:fillRect/>
          </a:stretch>
        </p:blipFill>
        <p:spPr>
          <a:xfrm>
            <a:off x="923544" y="1316736"/>
            <a:ext cx="585216" cy="585216"/>
          </a:xfrm>
          <a:prstGeom prst="rect">
            <a:avLst/>
          </a:prstGeom>
        </p:spPr>
      </p:pic>
      <p:sp>
        <p:nvSpPr>
          <p:cNvPr id="6" name="Text 3"/>
          <p:cNvSpPr/>
          <p:nvPr/>
        </p:nvSpPr>
        <p:spPr>
          <a:xfrm>
            <a:off x="1719072" y="1389888"/>
            <a:ext cx="256032" cy="365760"/>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7" name="Text 4"/>
          <p:cNvSpPr/>
          <p:nvPr/>
        </p:nvSpPr>
        <p:spPr>
          <a:xfrm>
            <a:off x="347472" y="2176272"/>
            <a:ext cx="1737360" cy="329184"/>
          </a:xfrm>
          <a:prstGeom prst="rect">
            <a:avLst/>
          </a:prstGeom>
          <a:noFill/>
          <a:ln/>
        </p:spPr>
        <p:txBody>
          <a:bodyPr wrap="square"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Identity Gate</a:t>
            </a:r>
            <a:endParaRPr lang="en-US" sz="1000" dirty="0"/>
          </a:p>
        </p:txBody>
      </p:sp>
      <p:sp>
        <p:nvSpPr>
          <p:cNvPr id="8" name="Text 5"/>
          <p:cNvSpPr/>
          <p:nvPr/>
        </p:nvSpPr>
        <p:spPr>
          <a:xfrm>
            <a:off x="347472" y="2523744"/>
            <a:ext cx="1737360" cy="402336"/>
          </a:xfrm>
          <a:prstGeom prst="rect">
            <a:avLst/>
          </a:prstGeom>
          <a:noFill/>
          <a:ln/>
        </p:spPr>
        <p:txBody>
          <a:bodyPr wrap="square" rtlCol="0" anchor="ctr"/>
          <a:lstStyle/>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Confirms who</a:t>
            </a:r>
            <a:endParaRPr lang="en-US" sz="900" dirty="0"/>
          </a:p>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you are first</a:t>
            </a:r>
            <a:endParaRPr lang="en-US" sz="900" dirty="0"/>
          </a:p>
        </p:txBody>
      </p:sp>
      <p:sp>
        <p:nvSpPr>
          <p:cNvPr id="9" name="Shape 6"/>
          <p:cNvSpPr/>
          <p:nvPr/>
        </p:nvSpPr>
        <p:spPr>
          <a:xfrm>
            <a:off x="2496312" y="1152144"/>
            <a:ext cx="914400" cy="914400"/>
          </a:xfrm>
          <a:prstGeom prst="ellipse">
            <a:avLst/>
          </a:prstGeom>
          <a:solidFill>
            <a:srgbClr val="1A5C2A"/>
          </a:solidFill>
          <a:ln w="12700">
            <a:solidFill>
              <a:srgbClr val="1A5C2A"/>
            </a:solidFill>
            <a:prstDash val="solid"/>
          </a:ln>
        </p:spPr>
      </p:sp>
      <p:pic>
        <p:nvPicPr>
          <p:cNvPr id="10" name="Image 1" descr="preencoded.png">    </p:cNvPr>
          <p:cNvPicPr>
            <a:picLocks noChangeAspect="1"/>
          </p:cNvPicPr>
          <p:nvPr/>
        </p:nvPicPr>
        <p:blipFill>
          <a:blip r:embed="rId2"/>
          <a:stretch>
            <a:fillRect/>
          </a:stretch>
        </p:blipFill>
        <p:spPr>
          <a:xfrm>
            <a:off x="2660904" y="1316736"/>
            <a:ext cx="585216" cy="585216"/>
          </a:xfrm>
          <a:prstGeom prst="rect">
            <a:avLst/>
          </a:prstGeom>
        </p:spPr>
      </p:pic>
      <p:sp>
        <p:nvSpPr>
          <p:cNvPr id="11" name="Text 7"/>
          <p:cNvSpPr/>
          <p:nvPr/>
        </p:nvSpPr>
        <p:spPr>
          <a:xfrm>
            <a:off x="3456432" y="1389888"/>
            <a:ext cx="256032" cy="365760"/>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12" name="Text 8"/>
          <p:cNvSpPr/>
          <p:nvPr/>
        </p:nvSpPr>
        <p:spPr>
          <a:xfrm>
            <a:off x="2084832" y="2176272"/>
            <a:ext cx="1737360" cy="329184"/>
          </a:xfrm>
          <a:prstGeom prst="rect">
            <a:avLst/>
          </a:prstGeom>
          <a:noFill/>
          <a:ln/>
        </p:spPr>
        <p:txBody>
          <a:bodyPr wrap="square"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PII Scrubber</a:t>
            </a:r>
            <a:endParaRPr lang="en-US" sz="1000" dirty="0"/>
          </a:p>
        </p:txBody>
      </p:sp>
      <p:sp>
        <p:nvSpPr>
          <p:cNvPr id="13" name="Text 9"/>
          <p:cNvSpPr/>
          <p:nvPr/>
        </p:nvSpPr>
        <p:spPr>
          <a:xfrm>
            <a:off x="2084832" y="2523744"/>
            <a:ext cx="1737360" cy="402336"/>
          </a:xfrm>
          <a:prstGeom prst="rect">
            <a:avLst/>
          </a:prstGeom>
          <a:noFill/>
          <a:ln/>
        </p:spPr>
        <p:txBody>
          <a:bodyPr wrap="square" rtlCol="0" anchor="ctr"/>
          <a:lstStyle/>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Strips before</a:t>
            </a:r>
            <a:endParaRPr lang="en-US" sz="900" dirty="0"/>
          </a:p>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LLM call</a:t>
            </a:r>
            <a:endParaRPr lang="en-US" sz="900" dirty="0"/>
          </a:p>
        </p:txBody>
      </p:sp>
      <p:sp>
        <p:nvSpPr>
          <p:cNvPr id="14" name="Shape 10"/>
          <p:cNvSpPr/>
          <p:nvPr/>
        </p:nvSpPr>
        <p:spPr>
          <a:xfrm>
            <a:off x="4233672" y="1152144"/>
            <a:ext cx="914400" cy="914400"/>
          </a:xfrm>
          <a:prstGeom prst="ellipse">
            <a:avLst/>
          </a:prstGeom>
          <a:solidFill>
            <a:srgbClr val="028090"/>
          </a:solidFill>
          <a:ln w="12700">
            <a:solidFill>
              <a:srgbClr val="028090"/>
            </a:solidFill>
            <a:prstDash val="solid"/>
          </a:ln>
        </p:spPr>
      </p:sp>
      <p:pic>
        <p:nvPicPr>
          <p:cNvPr id="15" name="Image 2" descr="preencoded.png">    </p:cNvPr>
          <p:cNvPicPr>
            <a:picLocks noChangeAspect="1"/>
          </p:cNvPicPr>
          <p:nvPr/>
        </p:nvPicPr>
        <p:blipFill>
          <a:blip r:embed="rId3"/>
          <a:stretch>
            <a:fillRect/>
          </a:stretch>
        </p:blipFill>
        <p:spPr>
          <a:xfrm>
            <a:off x="4398264" y="1316736"/>
            <a:ext cx="585216" cy="585216"/>
          </a:xfrm>
          <a:prstGeom prst="rect">
            <a:avLst/>
          </a:prstGeom>
        </p:spPr>
      </p:pic>
      <p:sp>
        <p:nvSpPr>
          <p:cNvPr id="16" name="Text 11"/>
          <p:cNvSpPr/>
          <p:nvPr/>
        </p:nvSpPr>
        <p:spPr>
          <a:xfrm>
            <a:off x="5193792" y="1389888"/>
            <a:ext cx="256032" cy="365760"/>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17" name="Text 12"/>
          <p:cNvSpPr/>
          <p:nvPr/>
        </p:nvSpPr>
        <p:spPr>
          <a:xfrm>
            <a:off x="3822192" y="2176272"/>
            <a:ext cx="1737360" cy="329184"/>
          </a:xfrm>
          <a:prstGeom prst="rect">
            <a:avLst/>
          </a:prstGeom>
          <a:noFill/>
          <a:ln/>
        </p:spPr>
        <p:txBody>
          <a:bodyPr wrap="square"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Conversation</a:t>
            </a:r>
            <a:endParaRPr lang="en-US" sz="1000" dirty="0"/>
          </a:p>
          <a:p>
            <a:pPr algn="ctr" indent="0" marL="0">
              <a:buNone/>
            </a:pPr>
            <a:r>
              <a:rPr lang="en-US" sz="1000" b="1" dirty="0">
                <a:solidFill>
                  <a:srgbClr val="0D1B2A"/>
                </a:solidFill>
                <a:latin typeface="Calibri" pitchFamily="34" charset="0"/>
                <a:ea typeface="Calibri" pitchFamily="34" charset="-122"/>
                <a:cs typeface="Calibri" pitchFamily="34" charset="-120"/>
              </a:rPr>
              <a:t>Agent</a:t>
            </a:r>
            <a:endParaRPr lang="en-US" sz="1000" dirty="0"/>
          </a:p>
        </p:txBody>
      </p:sp>
      <p:sp>
        <p:nvSpPr>
          <p:cNvPr id="18" name="Text 13"/>
          <p:cNvSpPr/>
          <p:nvPr/>
        </p:nvSpPr>
        <p:spPr>
          <a:xfrm>
            <a:off x="3822192" y="2523744"/>
            <a:ext cx="1737360" cy="402336"/>
          </a:xfrm>
          <a:prstGeom prst="rect">
            <a:avLst/>
          </a:prstGeom>
          <a:noFill/>
          <a:ln/>
        </p:spPr>
        <p:txBody>
          <a:bodyPr wrap="square" rtlCol="0" anchor="ctr"/>
          <a:lstStyle/>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Gathers missing</a:t>
            </a:r>
            <a:endParaRPr lang="en-US" sz="900" dirty="0"/>
          </a:p>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details</a:t>
            </a:r>
            <a:endParaRPr lang="en-US" sz="900" dirty="0"/>
          </a:p>
        </p:txBody>
      </p:sp>
      <p:sp>
        <p:nvSpPr>
          <p:cNvPr id="19" name="Shape 14"/>
          <p:cNvSpPr/>
          <p:nvPr/>
        </p:nvSpPr>
        <p:spPr>
          <a:xfrm>
            <a:off x="5971032" y="1152144"/>
            <a:ext cx="914400" cy="914400"/>
          </a:xfrm>
          <a:prstGeom prst="ellipse">
            <a:avLst/>
          </a:prstGeom>
          <a:solidFill>
            <a:srgbClr val="8B4000"/>
          </a:solidFill>
          <a:ln w="12700">
            <a:solidFill>
              <a:srgbClr val="8B4000"/>
            </a:solidFill>
            <a:prstDash val="solid"/>
          </a:ln>
        </p:spPr>
      </p:sp>
      <p:pic>
        <p:nvPicPr>
          <p:cNvPr id="20" name="Image 3" descr="preencoded.png">    </p:cNvPr>
          <p:cNvPicPr>
            <a:picLocks noChangeAspect="1"/>
          </p:cNvPicPr>
          <p:nvPr/>
        </p:nvPicPr>
        <p:blipFill>
          <a:blip r:embed="rId4"/>
          <a:stretch>
            <a:fillRect/>
          </a:stretch>
        </p:blipFill>
        <p:spPr>
          <a:xfrm>
            <a:off x="6135624" y="1316736"/>
            <a:ext cx="585216" cy="585216"/>
          </a:xfrm>
          <a:prstGeom prst="rect">
            <a:avLst/>
          </a:prstGeom>
        </p:spPr>
      </p:pic>
      <p:sp>
        <p:nvSpPr>
          <p:cNvPr id="21" name="Text 15"/>
          <p:cNvSpPr/>
          <p:nvPr/>
        </p:nvSpPr>
        <p:spPr>
          <a:xfrm>
            <a:off x="6931152" y="1389888"/>
            <a:ext cx="256032" cy="365760"/>
          </a:xfrm>
          <a:prstGeom prst="rect">
            <a:avLst/>
          </a:prstGeom>
          <a:noFill/>
          <a:ln/>
        </p:spPr>
        <p:txBody>
          <a:bodyPr wrap="square" rtlCol="0" anchor="ctr"/>
          <a:lstStyle/>
          <a:p>
            <a:pPr indent="0" marL="0">
              <a:buNone/>
            </a:pPr>
            <a:r>
              <a:rPr lang="en-US" sz="2000" b="1" dirty="0">
                <a:solidFill>
                  <a:srgbClr val="028090"/>
                </a:solidFill>
              </a:rPr>
              <a:t>›</a:t>
            </a:r>
            <a:endParaRPr lang="en-US" sz="2000" dirty="0"/>
          </a:p>
        </p:txBody>
      </p:sp>
      <p:sp>
        <p:nvSpPr>
          <p:cNvPr id="22" name="Text 16"/>
          <p:cNvSpPr/>
          <p:nvPr/>
        </p:nvSpPr>
        <p:spPr>
          <a:xfrm>
            <a:off x="5559552" y="2176272"/>
            <a:ext cx="1737360" cy="329184"/>
          </a:xfrm>
          <a:prstGeom prst="rect">
            <a:avLst/>
          </a:prstGeom>
          <a:noFill/>
          <a:ln/>
        </p:spPr>
        <p:txBody>
          <a:bodyPr wrap="square"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Classify &amp;</a:t>
            </a:r>
            <a:endParaRPr lang="en-US" sz="1000" dirty="0"/>
          </a:p>
          <a:p>
            <a:pPr algn="ctr" indent="0" marL="0">
              <a:buNone/>
            </a:pPr>
            <a:r>
              <a:rPr lang="en-US" sz="1000" b="1" dirty="0">
                <a:solidFill>
                  <a:srgbClr val="0D1B2A"/>
                </a:solidFill>
                <a:latin typeface="Calibri" pitchFamily="34" charset="0"/>
                <a:ea typeface="Calibri" pitchFamily="34" charset="-122"/>
                <a:cs typeface="Calibri" pitchFamily="34" charset="-120"/>
              </a:rPr>
              <a:t>Prioritise</a:t>
            </a:r>
            <a:endParaRPr lang="en-US" sz="1000" dirty="0"/>
          </a:p>
        </p:txBody>
      </p:sp>
      <p:sp>
        <p:nvSpPr>
          <p:cNvPr id="23" name="Text 17"/>
          <p:cNvSpPr/>
          <p:nvPr/>
        </p:nvSpPr>
        <p:spPr>
          <a:xfrm>
            <a:off x="5559552" y="2523744"/>
            <a:ext cx="1737360" cy="402336"/>
          </a:xfrm>
          <a:prstGeom prst="rect">
            <a:avLst/>
          </a:prstGeom>
          <a:noFill/>
          <a:ln/>
        </p:spPr>
        <p:txBody>
          <a:bodyPr wrap="square" rtlCol="0" anchor="ctr"/>
          <a:lstStyle/>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Sentiment, SLA,</a:t>
            </a:r>
            <a:endParaRPr lang="en-US" sz="900" dirty="0"/>
          </a:p>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repeat, channel</a:t>
            </a:r>
            <a:endParaRPr lang="en-US" sz="900" dirty="0"/>
          </a:p>
        </p:txBody>
      </p:sp>
      <p:sp>
        <p:nvSpPr>
          <p:cNvPr id="24" name="Shape 18"/>
          <p:cNvSpPr/>
          <p:nvPr/>
        </p:nvSpPr>
        <p:spPr>
          <a:xfrm>
            <a:off x="7708392" y="1152144"/>
            <a:ext cx="914400" cy="914400"/>
          </a:xfrm>
          <a:prstGeom prst="ellipse">
            <a:avLst/>
          </a:prstGeom>
          <a:solidFill>
            <a:srgbClr val="1A936F"/>
          </a:solidFill>
          <a:ln w="12700">
            <a:solidFill>
              <a:srgbClr val="1A936F"/>
            </a:solidFill>
            <a:prstDash val="solid"/>
          </a:ln>
        </p:spPr>
      </p:sp>
      <p:pic>
        <p:nvPicPr>
          <p:cNvPr id="25" name="Image 4" descr="preencoded.png">    </p:cNvPr>
          <p:cNvPicPr>
            <a:picLocks noChangeAspect="1"/>
          </p:cNvPicPr>
          <p:nvPr/>
        </p:nvPicPr>
        <p:blipFill>
          <a:blip r:embed="rId5"/>
          <a:stretch>
            <a:fillRect/>
          </a:stretch>
        </p:blipFill>
        <p:spPr>
          <a:xfrm>
            <a:off x="7872984" y="1316736"/>
            <a:ext cx="585216" cy="585216"/>
          </a:xfrm>
          <a:prstGeom prst="rect">
            <a:avLst/>
          </a:prstGeom>
        </p:spPr>
      </p:pic>
      <p:sp>
        <p:nvSpPr>
          <p:cNvPr id="26" name="Text 19"/>
          <p:cNvSpPr/>
          <p:nvPr/>
        </p:nvSpPr>
        <p:spPr>
          <a:xfrm>
            <a:off x="7296912" y="2176272"/>
            <a:ext cx="1737360" cy="329184"/>
          </a:xfrm>
          <a:prstGeom prst="rect">
            <a:avLst/>
          </a:prstGeom>
          <a:noFill/>
          <a:ln/>
        </p:spPr>
        <p:txBody>
          <a:bodyPr wrap="square"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Route to</a:t>
            </a:r>
            <a:endParaRPr lang="en-US" sz="1000" dirty="0"/>
          </a:p>
          <a:p>
            <a:pPr algn="ctr" indent="0" marL="0">
              <a:buNone/>
            </a:pPr>
            <a:r>
              <a:rPr lang="en-US" sz="1000" b="1" dirty="0">
                <a:solidFill>
                  <a:srgbClr val="0D1B2A"/>
                </a:solidFill>
                <a:latin typeface="Calibri" pitchFamily="34" charset="0"/>
                <a:ea typeface="Calibri" pitchFamily="34" charset="-122"/>
                <a:cs typeface="Calibri" pitchFamily="34" charset="-120"/>
              </a:rPr>
              <a:t>Queue</a:t>
            </a:r>
            <a:endParaRPr lang="en-US" sz="1000" dirty="0"/>
          </a:p>
        </p:txBody>
      </p:sp>
      <p:sp>
        <p:nvSpPr>
          <p:cNvPr id="27" name="Text 20"/>
          <p:cNvSpPr/>
          <p:nvPr/>
        </p:nvSpPr>
        <p:spPr>
          <a:xfrm>
            <a:off x="7296912" y="2523744"/>
            <a:ext cx="1737360" cy="402336"/>
          </a:xfrm>
          <a:prstGeom prst="rect">
            <a:avLst/>
          </a:prstGeom>
          <a:noFill/>
          <a:ln/>
        </p:spPr>
        <p:txBody>
          <a:bodyPr wrap="square" rtlCol="0" anchor="ctr"/>
          <a:lstStyle/>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Priority-scored</a:t>
            </a:r>
            <a:endParaRPr lang="en-US" sz="900" dirty="0"/>
          </a:p>
          <a:p>
            <a:pPr algn="ctr" indent="0" marL="0">
              <a:lnSpc>
                <a:spcPct val="130000"/>
              </a:lnSpc>
              <a:buNone/>
            </a:pPr>
            <a:r>
              <a:rPr lang="en-US" sz="900" dirty="0">
                <a:solidFill>
                  <a:srgbClr val="64748B"/>
                </a:solidFill>
                <a:latin typeface="Calibri" pitchFamily="34" charset="0"/>
                <a:ea typeface="Calibri" pitchFamily="34" charset="-122"/>
                <a:cs typeface="Calibri" pitchFamily="34" charset="-120"/>
              </a:rPr>
              <a:t>agent inbox</a:t>
            </a:r>
            <a:endParaRPr lang="en-US" sz="900" dirty="0"/>
          </a:p>
        </p:txBody>
      </p:sp>
      <p:sp>
        <p:nvSpPr>
          <p:cNvPr id="28" name="Shape 21"/>
          <p:cNvSpPr/>
          <p:nvPr/>
        </p:nvSpPr>
        <p:spPr>
          <a:xfrm>
            <a:off x="347472" y="3090672"/>
            <a:ext cx="2651760" cy="1792224"/>
          </a:xfrm>
          <a:prstGeom prst="rect">
            <a:avLst/>
          </a:prstGeom>
          <a:solidFill>
            <a:srgbClr val="E8F6F8"/>
          </a:solidFill>
          <a:ln w="12700">
            <a:solidFill>
              <a:srgbClr val="E2E8F0"/>
            </a:solidFill>
            <a:prstDash val="solid"/>
          </a:ln>
        </p:spPr>
      </p:sp>
      <p:sp>
        <p:nvSpPr>
          <p:cNvPr id="29" name="Shape 22"/>
          <p:cNvSpPr/>
          <p:nvPr/>
        </p:nvSpPr>
        <p:spPr>
          <a:xfrm>
            <a:off x="475488" y="3218688"/>
            <a:ext cx="438912" cy="438912"/>
          </a:xfrm>
          <a:prstGeom prst="ellipse">
            <a:avLst/>
          </a:prstGeom>
          <a:solidFill>
            <a:srgbClr val="0D1B2A"/>
          </a:solidFill>
          <a:ln w="12700">
            <a:solidFill>
              <a:srgbClr val="0D1B2A"/>
            </a:solidFill>
            <a:prstDash val="solid"/>
          </a:ln>
        </p:spPr>
      </p:sp>
      <p:pic>
        <p:nvPicPr>
          <p:cNvPr id="30" name="Image 5" descr="preencoded.png">    </p:cNvPr>
          <p:cNvPicPr>
            <a:picLocks noChangeAspect="1"/>
          </p:cNvPicPr>
          <p:nvPr/>
        </p:nvPicPr>
        <p:blipFill>
          <a:blip r:embed="rId6"/>
          <a:stretch>
            <a:fillRect/>
          </a:stretch>
        </p:blipFill>
        <p:spPr>
          <a:xfrm>
            <a:off x="566928" y="3310128"/>
            <a:ext cx="256032" cy="256032"/>
          </a:xfrm>
          <a:prstGeom prst="rect">
            <a:avLst/>
          </a:prstGeom>
        </p:spPr>
      </p:pic>
      <p:sp>
        <p:nvSpPr>
          <p:cNvPr id="31" name="Text 23"/>
          <p:cNvSpPr/>
          <p:nvPr/>
        </p:nvSpPr>
        <p:spPr>
          <a:xfrm>
            <a:off x="1005840" y="3255264"/>
            <a:ext cx="1865376"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Never fabricates</a:t>
            </a:r>
            <a:endParaRPr lang="en-US" sz="1100" dirty="0"/>
          </a:p>
        </p:txBody>
      </p:sp>
      <p:sp>
        <p:nvSpPr>
          <p:cNvPr id="32" name="Text 24"/>
          <p:cNvSpPr/>
          <p:nvPr/>
        </p:nvSpPr>
        <p:spPr>
          <a:xfrm>
            <a:off x="475488" y="3639312"/>
            <a:ext cx="2395728" cy="1115568"/>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If LLM is unavailable, deterministic rule-based fallback activates. AI is helpful but never a single point of failure.</a:t>
            </a:r>
            <a:endParaRPr lang="en-US" sz="950" dirty="0"/>
          </a:p>
        </p:txBody>
      </p:sp>
      <p:sp>
        <p:nvSpPr>
          <p:cNvPr id="33" name="Shape 25"/>
          <p:cNvSpPr/>
          <p:nvPr/>
        </p:nvSpPr>
        <p:spPr>
          <a:xfrm>
            <a:off x="3182112" y="3090672"/>
            <a:ext cx="2651760" cy="1792224"/>
          </a:xfrm>
          <a:prstGeom prst="rect">
            <a:avLst/>
          </a:prstGeom>
          <a:solidFill>
            <a:srgbClr val="F8FAFC"/>
          </a:solidFill>
          <a:ln w="12700">
            <a:solidFill>
              <a:srgbClr val="E2E8F0"/>
            </a:solidFill>
            <a:prstDash val="solid"/>
          </a:ln>
        </p:spPr>
      </p:sp>
      <p:sp>
        <p:nvSpPr>
          <p:cNvPr id="34" name="Shape 26"/>
          <p:cNvSpPr/>
          <p:nvPr/>
        </p:nvSpPr>
        <p:spPr>
          <a:xfrm>
            <a:off x="3310128" y="3218688"/>
            <a:ext cx="438912" cy="438912"/>
          </a:xfrm>
          <a:prstGeom prst="ellipse">
            <a:avLst/>
          </a:prstGeom>
          <a:solidFill>
            <a:srgbClr val="028090"/>
          </a:solidFill>
          <a:ln w="12700">
            <a:solidFill>
              <a:srgbClr val="028090"/>
            </a:solidFill>
            <a:prstDash val="solid"/>
          </a:ln>
        </p:spPr>
      </p:sp>
      <p:pic>
        <p:nvPicPr>
          <p:cNvPr id="35" name="Image 6" descr="preencoded.png">    </p:cNvPr>
          <p:cNvPicPr>
            <a:picLocks noChangeAspect="1"/>
          </p:cNvPicPr>
          <p:nvPr/>
        </p:nvPicPr>
        <p:blipFill>
          <a:blip r:embed="rId7"/>
          <a:stretch>
            <a:fillRect/>
          </a:stretch>
        </p:blipFill>
        <p:spPr>
          <a:xfrm>
            <a:off x="3401568" y="3310128"/>
            <a:ext cx="256032" cy="256032"/>
          </a:xfrm>
          <a:prstGeom prst="rect">
            <a:avLst/>
          </a:prstGeom>
        </p:spPr>
      </p:pic>
      <p:sp>
        <p:nvSpPr>
          <p:cNvPr id="36" name="Text 27"/>
          <p:cNvSpPr/>
          <p:nvPr/>
        </p:nvSpPr>
        <p:spPr>
          <a:xfrm>
            <a:off x="3840480" y="3255264"/>
            <a:ext cx="1865376"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PII stripped before every LLM call</a:t>
            </a:r>
            <a:endParaRPr lang="en-US" sz="1100" dirty="0"/>
          </a:p>
        </p:txBody>
      </p:sp>
      <p:sp>
        <p:nvSpPr>
          <p:cNvPr id="37" name="Text 28"/>
          <p:cNvSpPr/>
          <p:nvPr/>
        </p:nvSpPr>
        <p:spPr>
          <a:xfrm>
            <a:off x="3310128" y="3639312"/>
            <a:ext cx="2395728" cy="1115568"/>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Presidio detects and tokens Aadhaar, PAN, mobile numbers. Rehydrated after LLM responds. Phase 2 adds field-level encryption.</a:t>
            </a:r>
            <a:endParaRPr lang="en-US" sz="950" dirty="0"/>
          </a:p>
        </p:txBody>
      </p:sp>
      <p:sp>
        <p:nvSpPr>
          <p:cNvPr id="38" name="Shape 29"/>
          <p:cNvSpPr/>
          <p:nvPr/>
        </p:nvSpPr>
        <p:spPr>
          <a:xfrm>
            <a:off x="6016752" y="3090672"/>
            <a:ext cx="2651760" cy="1792224"/>
          </a:xfrm>
          <a:prstGeom prst="rect">
            <a:avLst/>
          </a:prstGeom>
          <a:solidFill>
            <a:srgbClr val="FFF0EB"/>
          </a:solidFill>
          <a:ln w="12700">
            <a:solidFill>
              <a:srgbClr val="E2E8F0"/>
            </a:solidFill>
            <a:prstDash val="solid"/>
          </a:ln>
        </p:spPr>
      </p:sp>
      <p:sp>
        <p:nvSpPr>
          <p:cNvPr id="39" name="Shape 30"/>
          <p:cNvSpPr/>
          <p:nvPr/>
        </p:nvSpPr>
        <p:spPr>
          <a:xfrm>
            <a:off x="6144768" y="3218688"/>
            <a:ext cx="438912" cy="438912"/>
          </a:xfrm>
          <a:prstGeom prst="ellipse">
            <a:avLst/>
          </a:prstGeom>
          <a:solidFill>
            <a:srgbClr val="E07B54"/>
          </a:solidFill>
          <a:ln w="12700">
            <a:solidFill>
              <a:srgbClr val="E07B54"/>
            </a:solidFill>
            <a:prstDash val="solid"/>
          </a:ln>
        </p:spPr>
      </p:sp>
      <p:pic>
        <p:nvPicPr>
          <p:cNvPr id="40" name="Image 7" descr="preencoded.png">    </p:cNvPr>
          <p:cNvPicPr>
            <a:picLocks noChangeAspect="1"/>
          </p:cNvPicPr>
          <p:nvPr/>
        </p:nvPicPr>
        <p:blipFill>
          <a:blip r:embed="rId8"/>
          <a:stretch>
            <a:fillRect/>
          </a:stretch>
        </p:blipFill>
        <p:spPr>
          <a:xfrm>
            <a:off x="6236208" y="3310128"/>
            <a:ext cx="256032" cy="256032"/>
          </a:xfrm>
          <a:prstGeom prst="rect">
            <a:avLst/>
          </a:prstGeom>
        </p:spPr>
      </p:pic>
      <p:sp>
        <p:nvSpPr>
          <p:cNvPr id="41" name="Text 31"/>
          <p:cNvSpPr/>
          <p:nvPr/>
        </p:nvSpPr>
        <p:spPr>
          <a:xfrm>
            <a:off x="6675120" y="3255264"/>
            <a:ext cx="1865376"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Fully configurable per tenant</a:t>
            </a:r>
            <a:endParaRPr lang="en-US" sz="1100" dirty="0"/>
          </a:p>
        </p:txBody>
      </p:sp>
      <p:sp>
        <p:nvSpPr>
          <p:cNvPr id="42" name="Text 32"/>
          <p:cNvSpPr/>
          <p:nvPr/>
        </p:nvSpPr>
        <p:spPr>
          <a:xfrm>
            <a:off x="6144768" y="3639312"/>
            <a:ext cx="2395728" cy="1115568"/>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Priority rubric, intake fields, max follow-up questions — all admin-configurable at runtime. No code change needed.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C39A"/>
                </a:solidFill>
                <a:latin typeface="Calibri" pitchFamily="34" charset="0"/>
                <a:ea typeface="Calibri" pitchFamily="34" charset="-122"/>
                <a:cs typeface="Calibri" pitchFamily="34" charset="-120"/>
              </a:rPr>
              <a:t>BUILT FOR EXTENSIBILITY</a:t>
            </a:r>
            <a:endParaRPr lang="en-US" sz="900" dirty="0"/>
          </a:p>
        </p:txBody>
      </p:sp>
      <p:sp>
        <p:nvSpPr>
          <p:cNvPr id="3" name="Text 1"/>
          <p:cNvSpPr/>
          <p:nvPr/>
        </p:nvSpPr>
        <p:spPr>
          <a:xfrm>
            <a:off x="457200" y="457200"/>
            <a:ext cx="8229600" cy="530352"/>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New channel. New client. No architectural change.</a:t>
            </a:r>
            <a:endParaRPr lang="en-US" sz="2600" dirty="0"/>
          </a:p>
        </p:txBody>
      </p:sp>
      <p:sp>
        <p:nvSpPr>
          <p:cNvPr id="4" name="Shape 2"/>
          <p:cNvSpPr/>
          <p:nvPr/>
        </p:nvSpPr>
        <p:spPr>
          <a:xfrm>
            <a:off x="347472" y="1152144"/>
            <a:ext cx="8449056" cy="347472"/>
          </a:xfrm>
          <a:prstGeom prst="rect">
            <a:avLst/>
          </a:prstGeom>
          <a:solidFill>
            <a:srgbClr val="0A2A30"/>
          </a:solidFill>
          <a:ln w="12700">
            <a:solidFill>
              <a:srgbClr val="028090"/>
            </a:solidFill>
            <a:prstDash val="solid"/>
          </a:ln>
        </p:spPr>
      </p:sp>
      <p:sp>
        <p:nvSpPr>
          <p:cNvPr id="5" name="Text 3"/>
          <p:cNvSpPr/>
          <p:nvPr/>
        </p:nvSpPr>
        <p:spPr>
          <a:xfrm>
            <a:off x="457200" y="1216152"/>
            <a:ext cx="8229600" cy="219456"/>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Adapter contract: every channel emits the same canonical event shape — new channels plug in without touching core logic</a:t>
            </a:r>
            <a:endParaRPr lang="en-US" sz="1000" dirty="0"/>
          </a:p>
        </p:txBody>
      </p:sp>
      <p:sp>
        <p:nvSpPr>
          <p:cNvPr id="6" name="Text 4"/>
          <p:cNvSpPr/>
          <p:nvPr/>
        </p:nvSpPr>
        <p:spPr>
          <a:xfrm>
            <a:off x="457200" y="1609344"/>
            <a:ext cx="3657600" cy="256032"/>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Phase 1 — Live</a:t>
            </a:r>
            <a:endParaRPr lang="en-US" sz="1100" dirty="0"/>
          </a:p>
        </p:txBody>
      </p:sp>
      <p:sp>
        <p:nvSpPr>
          <p:cNvPr id="7" name="Shape 5"/>
          <p:cNvSpPr/>
          <p:nvPr/>
        </p:nvSpPr>
        <p:spPr>
          <a:xfrm>
            <a:off x="457200" y="1901952"/>
            <a:ext cx="1883664" cy="475488"/>
          </a:xfrm>
          <a:prstGeom prst="rect">
            <a:avLst/>
          </a:prstGeom>
          <a:solidFill>
            <a:srgbClr val="0A2A30"/>
          </a:solidFill>
          <a:ln w="12700">
            <a:solidFill>
              <a:srgbClr val="028090"/>
            </a:solidFill>
            <a:prstDash val="solid"/>
          </a:ln>
        </p:spPr>
      </p:sp>
      <p:pic>
        <p:nvPicPr>
          <p:cNvPr id="8" name="Image 0" descr="preencoded.png">    </p:cNvPr>
          <p:cNvPicPr>
            <a:picLocks noChangeAspect="1"/>
          </p:cNvPicPr>
          <p:nvPr/>
        </p:nvPicPr>
        <p:blipFill>
          <a:blip r:embed="rId1"/>
          <a:stretch>
            <a:fillRect/>
          </a:stretch>
        </p:blipFill>
        <p:spPr>
          <a:xfrm>
            <a:off x="603504" y="1993392"/>
            <a:ext cx="274320" cy="274320"/>
          </a:xfrm>
          <a:prstGeom prst="rect">
            <a:avLst/>
          </a:prstGeom>
        </p:spPr>
      </p:pic>
      <p:sp>
        <p:nvSpPr>
          <p:cNvPr id="9" name="Text 6"/>
          <p:cNvSpPr/>
          <p:nvPr/>
        </p:nvSpPr>
        <p:spPr>
          <a:xfrm>
            <a:off x="950976" y="2011680"/>
            <a:ext cx="1280160" cy="256032"/>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Email</a:t>
            </a:r>
            <a:endParaRPr lang="en-US" sz="1100" dirty="0"/>
          </a:p>
        </p:txBody>
      </p:sp>
      <p:sp>
        <p:nvSpPr>
          <p:cNvPr id="10" name="Shape 7"/>
          <p:cNvSpPr/>
          <p:nvPr/>
        </p:nvSpPr>
        <p:spPr>
          <a:xfrm>
            <a:off x="2560320" y="1901952"/>
            <a:ext cx="1883664" cy="475488"/>
          </a:xfrm>
          <a:prstGeom prst="rect">
            <a:avLst/>
          </a:prstGeom>
          <a:solidFill>
            <a:srgbClr val="0A2A30"/>
          </a:solidFill>
          <a:ln w="12700">
            <a:solidFill>
              <a:srgbClr val="028090"/>
            </a:solidFill>
            <a:prstDash val="solid"/>
          </a:ln>
        </p:spPr>
      </p:sp>
      <p:pic>
        <p:nvPicPr>
          <p:cNvPr id="11" name="Image 1" descr="preencoded.png">    </p:cNvPr>
          <p:cNvPicPr>
            <a:picLocks noChangeAspect="1"/>
          </p:cNvPicPr>
          <p:nvPr/>
        </p:nvPicPr>
        <p:blipFill>
          <a:blip r:embed="rId2"/>
          <a:stretch>
            <a:fillRect/>
          </a:stretch>
        </p:blipFill>
        <p:spPr>
          <a:xfrm>
            <a:off x="2706624" y="1993392"/>
            <a:ext cx="274320" cy="274320"/>
          </a:xfrm>
          <a:prstGeom prst="rect">
            <a:avLst/>
          </a:prstGeom>
        </p:spPr>
      </p:pic>
      <p:sp>
        <p:nvSpPr>
          <p:cNvPr id="12" name="Text 8"/>
          <p:cNvSpPr/>
          <p:nvPr/>
        </p:nvSpPr>
        <p:spPr>
          <a:xfrm>
            <a:off x="3054096" y="2011680"/>
            <a:ext cx="1280160" cy="256032"/>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WhatsApp</a:t>
            </a:r>
            <a:endParaRPr lang="en-US" sz="1100" dirty="0"/>
          </a:p>
        </p:txBody>
      </p:sp>
      <p:sp>
        <p:nvSpPr>
          <p:cNvPr id="13" name="Text 9"/>
          <p:cNvSpPr/>
          <p:nvPr/>
        </p:nvSpPr>
        <p:spPr>
          <a:xfrm>
            <a:off x="4572000" y="1609344"/>
            <a:ext cx="4114800" cy="256032"/>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Phase 2 — Stubs ready</a:t>
            </a:r>
            <a:endParaRPr lang="en-US" sz="1100" dirty="0"/>
          </a:p>
        </p:txBody>
      </p:sp>
      <p:sp>
        <p:nvSpPr>
          <p:cNvPr id="14" name="Shape 10"/>
          <p:cNvSpPr/>
          <p:nvPr/>
        </p:nvSpPr>
        <p:spPr>
          <a:xfrm>
            <a:off x="4572000" y="1901952"/>
            <a:ext cx="1261872" cy="475488"/>
          </a:xfrm>
          <a:prstGeom prst="rect">
            <a:avLst/>
          </a:prstGeom>
          <a:solidFill>
            <a:srgbClr val="0A1628"/>
          </a:solidFill>
          <a:ln w="12700">
            <a:solidFill>
              <a:srgbClr val="2A4A6A"/>
            </a:solidFill>
            <a:prstDash val="solid"/>
          </a:ln>
        </p:spPr>
      </p:sp>
      <p:sp>
        <p:nvSpPr>
          <p:cNvPr id="15" name="Text 11"/>
          <p:cNvSpPr/>
          <p:nvPr/>
        </p:nvSpPr>
        <p:spPr>
          <a:xfrm>
            <a:off x="4608576" y="2011680"/>
            <a:ext cx="1188720" cy="256032"/>
          </a:xfrm>
          <a:prstGeom prst="rect">
            <a:avLst/>
          </a:prstGeom>
          <a:noFill/>
          <a:ln/>
        </p:spPr>
        <p:txBody>
          <a:bodyPr wrap="square" rtlCol="0" anchor="ctr"/>
          <a:lstStyle/>
          <a:p>
            <a:pPr algn="ctr" indent="0" marL="0">
              <a:buNone/>
            </a:pPr>
            <a:r>
              <a:rPr lang="en-US" sz="950" dirty="0">
                <a:solidFill>
                  <a:srgbClr val="4A6A8A"/>
                </a:solidFill>
                <a:latin typeface="Calibri" pitchFamily="34" charset="0"/>
                <a:ea typeface="Calibri" pitchFamily="34" charset="-122"/>
                <a:cs typeface="Calibri" pitchFamily="34" charset="-120"/>
              </a:rPr>
              <a:t>Twitter/X</a:t>
            </a:r>
            <a:endParaRPr lang="en-US" sz="950" dirty="0"/>
          </a:p>
        </p:txBody>
      </p:sp>
      <p:sp>
        <p:nvSpPr>
          <p:cNvPr id="16" name="Shape 12"/>
          <p:cNvSpPr/>
          <p:nvPr/>
        </p:nvSpPr>
        <p:spPr>
          <a:xfrm>
            <a:off x="5961888" y="1901952"/>
            <a:ext cx="1261872" cy="475488"/>
          </a:xfrm>
          <a:prstGeom prst="rect">
            <a:avLst/>
          </a:prstGeom>
          <a:solidFill>
            <a:srgbClr val="0A1628"/>
          </a:solidFill>
          <a:ln w="12700">
            <a:solidFill>
              <a:srgbClr val="2A4A6A"/>
            </a:solidFill>
            <a:prstDash val="solid"/>
          </a:ln>
        </p:spPr>
      </p:sp>
      <p:sp>
        <p:nvSpPr>
          <p:cNvPr id="17" name="Text 13"/>
          <p:cNvSpPr/>
          <p:nvPr/>
        </p:nvSpPr>
        <p:spPr>
          <a:xfrm>
            <a:off x="5998464" y="2011680"/>
            <a:ext cx="1188720" cy="256032"/>
          </a:xfrm>
          <a:prstGeom prst="rect">
            <a:avLst/>
          </a:prstGeom>
          <a:noFill/>
          <a:ln/>
        </p:spPr>
        <p:txBody>
          <a:bodyPr wrap="square" rtlCol="0" anchor="ctr"/>
          <a:lstStyle/>
          <a:p>
            <a:pPr algn="ctr" indent="0" marL="0">
              <a:buNone/>
            </a:pPr>
            <a:r>
              <a:rPr lang="en-US" sz="950" dirty="0">
                <a:solidFill>
                  <a:srgbClr val="4A6A8A"/>
                </a:solidFill>
                <a:latin typeface="Calibri" pitchFamily="34" charset="0"/>
                <a:ea typeface="Calibri" pitchFamily="34" charset="-122"/>
                <a:cs typeface="Calibri" pitchFamily="34" charset="-120"/>
              </a:rPr>
              <a:t>IVR (Twilio)</a:t>
            </a:r>
            <a:endParaRPr lang="en-US" sz="950" dirty="0"/>
          </a:p>
        </p:txBody>
      </p:sp>
      <p:sp>
        <p:nvSpPr>
          <p:cNvPr id="18" name="Shape 14"/>
          <p:cNvSpPr/>
          <p:nvPr/>
        </p:nvSpPr>
        <p:spPr>
          <a:xfrm>
            <a:off x="7351776" y="1901952"/>
            <a:ext cx="1261872" cy="475488"/>
          </a:xfrm>
          <a:prstGeom prst="rect">
            <a:avLst/>
          </a:prstGeom>
          <a:solidFill>
            <a:srgbClr val="0A1628"/>
          </a:solidFill>
          <a:ln w="12700">
            <a:solidFill>
              <a:srgbClr val="2A4A6A"/>
            </a:solidFill>
            <a:prstDash val="solid"/>
          </a:ln>
        </p:spPr>
      </p:sp>
      <p:sp>
        <p:nvSpPr>
          <p:cNvPr id="19" name="Text 15"/>
          <p:cNvSpPr/>
          <p:nvPr/>
        </p:nvSpPr>
        <p:spPr>
          <a:xfrm>
            <a:off x="7388352" y="2011680"/>
            <a:ext cx="1188720" cy="256032"/>
          </a:xfrm>
          <a:prstGeom prst="rect">
            <a:avLst/>
          </a:prstGeom>
          <a:noFill/>
          <a:ln/>
        </p:spPr>
        <p:txBody>
          <a:bodyPr wrap="square" rtlCol="0" anchor="ctr"/>
          <a:lstStyle/>
          <a:p>
            <a:pPr algn="ctr" indent="0" marL="0">
              <a:buNone/>
            </a:pPr>
            <a:r>
              <a:rPr lang="en-US" sz="950" dirty="0">
                <a:solidFill>
                  <a:srgbClr val="4A6A8A"/>
                </a:solidFill>
                <a:latin typeface="Calibri" pitchFamily="34" charset="0"/>
                <a:ea typeface="Calibri" pitchFamily="34" charset="-122"/>
                <a:cs typeface="Calibri" pitchFamily="34" charset="-120"/>
              </a:rPr>
              <a:t>Web Chat</a:t>
            </a:r>
            <a:endParaRPr lang="en-US" sz="950" dirty="0"/>
          </a:p>
        </p:txBody>
      </p:sp>
      <p:sp>
        <p:nvSpPr>
          <p:cNvPr id="20" name="Shape 16"/>
          <p:cNvSpPr/>
          <p:nvPr/>
        </p:nvSpPr>
        <p:spPr>
          <a:xfrm>
            <a:off x="347472" y="2523744"/>
            <a:ext cx="2651760" cy="2359152"/>
          </a:xfrm>
          <a:prstGeom prst="rect">
            <a:avLst/>
          </a:prstGeom>
          <a:solidFill>
            <a:srgbClr val="0A1628"/>
          </a:solidFill>
          <a:ln w="12700">
            <a:solidFill>
              <a:srgbClr val="2A4A6A"/>
            </a:solidFill>
            <a:prstDash val="solid"/>
          </a:ln>
        </p:spPr>
      </p:sp>
      <p:pic>
        <p:nvPicPr>
          <p:cNvPr id="21" name="Image 2" descr="preencoded.png">    </p:cNvPr>
          <p:cNvPicPr>
            <a:picLocks noChangeAspect="1"/>
          </p:cNvPicPr>
          <p:nvPr/>
        </p:nvPicPr>
        <p:blipFill>
          <a:blip r:embed="rId3"/>
          <a:stretch>
            <a:fillRect/>
          </a:stretch>
        </p:blipFill>
        <p:spPr>
          <a:xfrm>
            <a:off x="475488" y="2651760"/>
            <a:ext cx="329184" cy="329184"/>
          </a:xfrm>
          <a:prstGeom prst="rect">
            <a:avLst/>
          </a:prstGeom>
        </p:spPr>
      </p:pic>
      <p:sp>
        <p:nvSpPr>
          <p:cNvPr id="22" name="Text 17"/>
          <p:cNvSpPr/>
          <p:nvPr/>
        </p:nvSpPr>
        <p:spPr>
          <a:xfrm>
            <a:off x="859536" y="2651760"/>
            <a:ext cx="2029968"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Tenant-configurable at runtime</a:t>
            </a:r>
            <a:endParaRPr lang="en-US" sz="1100" dirty="0"/>
          </a:p>
        </p:txBody>
      </p:sp>
      <p:sp>
        <p:nvSpPr>
          <p:cNvPr id="23" name="Text 18"/>
          <p:cNvSpPr/>
          <p:nvPr/>
        </p:nvSpPr>
        <p:spPr>
          <a:xfrm>
            <a:off x="475488" y="3054096"/>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Per-channel intake fields (mandatory/optional/native)</a:t>
            </a:r>
            <a:endParaRPr lang="en-US" sz="950" dirty="0"/>
          </a:p>
        </p:txBody>
      </p:sp>
      <p:sp>
        <p:nvSpPr>
          <p:cNvPr id="24" name="Text 19"/>
          <p:cNvSpPr/>
          <p:nvPr/>
        </p:nvSpPr>
        <p:spPr>
          <a:xfrm>
            <a:off x="475488" y="3456432"/>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AI priority rubric — free-text, no code deploy</a:t>
            </a:r>
            <a:endParaRPr lang="en-US" sz="950" dirty="0"/>
          </a:p>
        </p:txBody>
      </p:sp>
      <p:sp>
        <p:nvSpPr>
          <p:cNvPr id="25" name="Text 20"/>
          <p:cNvSpPr/>
          <p:nvPr/>
        </p:nvSpPr>
        <p:spPr>
          <a:xfrm>
            <a:off x="475488" y="3858768"/>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Max follow-up questions per tenant</a:t>
            </a:r>
            <a:endParaRPr lang="en-US" sz="950" dirty="0"/>
          </a:p>
        </p:txBody>
      </p:sp>
      <p:sp>
        <p:nvSpPr>
          <p:cNvPr id="26" name="Text 21"/>
          <p:cNvSpPr/>
          <p:nvPr/>
        </p:nvSpPr>
        <p:spPr>
          <a:xfrm>
            <a:off x="475488" y="4261104"/>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Categories and SLA rules per tenant</a:t>
            </a:r>
            <a:endParaRPr lang="en-US" sz="950" dirty="0"/>
          </a:p>
        </p:txBody>
      </p:sp>
      <p:sp>
        <p:nvSpPr>
          <p:cNvPr id="27" name="Shape 22"/>
          <p:cNvSpPr/>
          <p:nvPr/>
        </p:nvSpPr>
        <p:spPr>
          <a:xfrm>
            <a:off x="3182112" y="2523744"/>
            <a:ext cx="2651760" cy="2359152"/>
          </a:xfrm>
          <a:prstGeom prst="rect">
            <a:avLst/>
          </a:prstGeom>
          <a:solidFill>
            <a:srgbClr val="0A1628"/>
          </a:solidFill>
          <a:ln w="12700">
            <a:solidFill>
              <a:srgbClr val="2A4A6A"/>
            </a:solidFill>
            <a:prstDash val="solid"/>
          </a:ln>
        </p:spPr>
      </p:sp>
      <p:pic>
        <p:nvPicPr>
          <p:cNvPr id="28" name="Image 3" descr="preencoded.png">    </p:cNvPr>
          <p:cNvPicPr>
            <a:picLocks noChangeAspect="1"/>
          </p:cNvPicPr>
          <p:nvPr/>
        </p:nvPicPr>
        <p:blipFill>
          <a:blip r:embed="rId4"/>
          <a:stretch>
            <a:fillRect/>
          </a:stretch>
        </p:blipFill>
        <p:spPr>
          <a:xfrm>
            <a:off x="3310128" y="2651760"/>
            <a:ext cx="329184" cy="329184"/>
          </a:xfrm>
          <a:prstGeom prst="rect">
            <a:avLst/>
          </a:prstGeom>
        </p:spPr>
      </p:pic>
      <p:sp>
        <p:nvSpPr>
          <p:cNvPr id="29" name="Text 23"/>
          <p:cNvSpPr/>
          <p:nvPr/>
        </p:nvSpPr>
        <p:spPr>
          <a:xfrm>
            <a:off x="3694176" y="2651760"/>
            <a:ext cx="2029968"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2 markers in code</a:t>
            </a:r>
            <a:endParaRPr lang="en-US" sz="1100" dirty="0"/>
          </a:p>
        </p:txBody>
      </p:sp>
      <p:sp>
        <p:nvSpPr>
          <p:cNvPr id="30" name="Text 24"/>
          <p:cNvSpPr/>
          <p:nvPr/>
        </p:nvSpPr>
        <p:spPr>
          <a:xfrm>
            <a:off x="3310128" y="3054096"/>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Every PII column marked PHASE_2_ENCRYPT</a:t>
            </a:r>
            <a:endParaRPr lang="en-US" sz="950" dirty="0"/>
          </a:p>
        </p:txBody>
      </p:sp>
      <p:sp>
        <p:nvSpPr>
          <p:cNvPr id="31" name="Text 25"/>
          <p:cNvSpPr/>
          <p:nvPr/>
        </p:nvSpPr>
        <p:spPr>
          <a:xfrm>
            <a:off x="3310128" y="3456432"/>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AES-256-GCM + KMS path documented</a:t>
            </a:r>
            <a:endParaRPr lang="en-US" sz="950" dirty="0"/>
          </a:p>
        </p:txBody>
      </p:sp>
      <p:sp>
        <p:nvSpPr>
          <p:cNvPr id="32" name="Text 26"/>
          <p:cNvSpPr/>
          <p:nvPr/>
        </p:nvSpPr>
        <p:spPr>
          <a:xfrm>
            <a:off x="3310128" y="3858768"/>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Blind indexes for PII search pre-designed</a:t>
            </a:r>
            <a:endParaRPr lang="en-US" sz="950" dirty="0"/>
          </a:p>
        </p:txBody>
      </p:sp>
      <p:sp>
        <p:nvSpPr>
          <p:cNvPr id="33" name="Text 27"/>
          <p:cNvSpPr/>
          <p:nvPr/>
        </p:nvSpPr>
        <p:spPr>
          <a:xfrm>
            <a:off x="3310128" y="4261104"/>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No schema change needed when Phase 2 lands</a:t>
            </a:r>
            <a:endParaRPr lang="en-US" sz="950" dirty="0"/>
          </a:p>
        </p:txBody>
      </p:sp>
      <p:sp>
        <p:nvSpPr>
          <p:cNvPr id="34" name="Shape 28"/>
          <p:cNvSpPr/>
          <p:nvPr/>
        </p:nvSpPr>
        <p:spPr>
          <a:xfrm>
            <a:off x="6016752" y="2523744"/>
            <a:ext cx="2651760" cy="2359152"/>
          </a:xfrm>
          <a:prstGeom prst="rect">
            <a:avLst/>
          </a:prstGeom>
          <a:solidFill>
            <a:srgbClr val="0A1628"/>
          </a:solidFill>
          <a:ln w="12700">
            <a:solidFill>
              <a:srgbClr val="2A4A6A"/>
            </a:solidFill>
            <a:prstDash val="solid"/>
          </a:ln>
        </p:spPr>
      </p:sp>
      <p:pic>
        <p:nvPicPr>
          <p:cNvPr id="35" name="Image 4" descr="preencoded.png">    </p:cNvPr>
          <p:cNvPicPr>
            <a:picLocks noChangeAspect="1"/>
          </p:cNvPicPr>
          <p:nvPr/>
        </p:nvPicPr>
        <p:blipFill>
          <a:blip r:embed="rId5"/>
          <a:stretch>
            <a:fillRect/>
          </a:stretch>
        </p:blipFill>
        <p:spPr>
          <a:xfrm>
            <a:off x="6144768" y="2651760"/>
            <a:ext cx="329184" cy="329184"/>
          </a:xfrm>
          <a:prstGeom prst="rect">
            <a:avLst/>
          </a:prstGeom>
        </p:spPr>
      </p:pic>
      <p:sp>
        <p:nvSpPr>
          <p:cNvPr id="36" name="Text 29"/>
          <p:cNvSpPr/>
          <p:nvPr/>
        </p:nvSpPr>
        <p:spPr>
          <a:xfrm>
            <a:off x="6528816" y="2651760"/>
            <a:ext cx="2029968"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Zero-cost scaling path</a:t>
            </a:r>
            <a:endParaRPr lang="en-US" sz="1100" dirty="0"/>
          </a:p>
        </p:txBody>
      </p:sp>
      <p:sp>
        <p:nvSpPr>
          <p:cNvPr id="37" name="Text 30"/>
          <p:cNvSpPr/>
          <p:nvPr/>
        </p:nvSpPr>
        <p:spPr>
          <a:xfrm>
            <a:off x="6144768" y="3054096"/>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SQLite → Postgres: Hibernate dialect swap only</a:t>
            </a:r>
            <a:endParaRPr lang="en-US" sz="950" dirty="0"/>
          </a:p>
        </p:txBody>
      </p:sp>
      <p:sp>
        <p:nvSpPr>
          <p:cNvPr id="38" name="Text 31"/>
          <p:cNvSpPr/>
          <p:nvPr/>
        </p:nvSpPr>
        <p:spPr>
          <a:xfrm>
            <a:off x="6144768" y="3456432"/>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Single writer → horizontal: one config change</a:t>
            </a:r>
            <a:endParaRPr lang="en-US" sz="950" dirty="0"/>
          </a:p>
        </p:txBody>
      </p:sp>
      <p:sp>
        <p:nvSpPr>
          <p:cNvPr id="39" name="Text 32"/>
          <p:cNvSpPr/>
          <p:nvPr/>
        </p:nvSpPr>
        <p:spPr>
          <a:xfrm>
            <a:off x="6144768" y="3858768"/>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On-prem Docker bundle: same images, no rewrite</a:t>
            </a:r>
            <a:endParaRPr lang="en-US" sz="950" dirty="0"/>
          </a:p>
        </p:txBody>
      </p:sp>
      <p:sp>
        <p:nvSpPr>
          <p:cNvPr id="40" name="Text 33"/>
          <p:cNvSpPr/>
          <p:nvPr/>
        </p:nvSpPr>
        <p:spPr>
          <a:xfrm>
            <a:off x="6144768" y="4261104"/>
            <a:ext cx="2395728" cy="365760"/>
          </a:xfrm>
          <a:prstGeom prst="rect">
            <a:avLst/>
          </a:prstGeom>
          <a:noFill/>
          <a:ln/>
        </p:spPr>
        <p:txBody>
          <a:bodyPr wrap="square" rtlCol="0" anchor="ctr"/>
          <a:lstStyle/>
          <a:p>
            <a:pPr indent="0" marL="0">
              <a:buNone/>
            </a:pPr>
            <a:r>
              <a:rPr lang="en-US" sz="950" dirty="0">
                <a:solidFill>
                  <a:srgbClr val="8EB4C8"/>
                </a:solidFill>
                <a:latin typeface="Calibri" pitchFamily="34" charset="0"/>
                <a:ea typeface="Calibri" pitchFamily="34" charset="-122"/>
                <a:cs typeface="Calibri" pitchFamily="34" charset="-120"/>
              </a:rPr>
              <a:t>▸  Add new channel: implement contract, done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8090"/>
                </a:solidFill>
                <a:latin typeface="Calibri" pitchFamily="34" charset="0"/>
                <a:ea typeface="Calibri" pitchFamily="34" charset="-122"/>
                <a:cs typeface="Calibri" pitchFamily="34" charset="-120"/>
              </a:rPr>
              <a:t>LIVE DEPLOYMENT</a:t>
            </a:r>
            <a:endParaRPr lang="en-US" sz="900" dirty="0"/>
          </a:p>
        </p:txBody>
      </p:sp>
      <p:sp>
        <p:nvSpPr>
          <p:cNvPr id="3" name="Text 1"/>
          <p:cNvSpPr/>
          <p:nvPr/>
        </p:nvSpPr>
        <p:spPr>
          <a:xfrm>
            <a:off x="457200" y="457200"/>
            <a:ext cx="8229600" cy="530352"/>
          </a:xfrm>
          <a:prstGeom prst="rect">
            <a:avLst/>
          </a:prstGeom>
          <a:noFill/>
          <a:ln/>
        </p:spPr>
        <p:txBody>
          <a:bodyPr wrap="square" rtlCol="0" anchor="ctr"/>
          <a:lstStyle/>
          <a:p>
            <a:pPr indent="0" marL="0">
              <a:buNone/>
            </a:pPr>
            <a:r>
              <a:rPr lang="en-US" sz="2400" b="1" dirty="0">
                <a:solidFill>
                  <a:srgbClr val="0D1B2A"/>
                </a:solidFill>
                <a:latin typeface="Cambria" pitchFamily="34" charset="0"/>
                <a:ea typeface="Cambria" pitchFamily="34" charset="-122"/>
                <a:cs typeface="Cambria" pitchFamily="34" charset="-120"/>
              </a:rPr>
              <a:t>Four providers. $0/month. Auto-deploys on git push.</a:t>
            </a:r>
            <a:endParaRPr lang="en-US" sz="2400" dirty="0"/>
          </a:p>
        </p:txBody>
      </p:sp>
      <p:sp>
        <p:nvSpPr>
          <p:cNvPr id="4" name="Shape 2"/>
          <p:cNvSpPr/>
          <p:nvPr/>
        </p:nvSpPr>
        <p:spPr>
          <a:xfrm>
            <a:off x="347472" y="1152144"/>
            <a:ext cx="8449056" cy="621792"/>
          </a:xfrm>
          <a:prstGeom prst="rect">
            <a:avLst/>
          </a:prstGeom>
          <a:solidFill>
            <a:srgbClr val="FFFFFF"/>
          </a:solidFill>
          <a:ln w="12700">
            <a:solidFill>
              <a:srgbClr val="E2E8F0"/>
            </a:solidFill>
            <a:prstDash val="solid"/>
          </a:ln>
        </p:spPr>
      </p:sp>
      <p:sp>
        <p:nvSpPr>
          <p:cNvPr id="5" name="Shape 3"/>
          <p:cNvSpPr/>
          <p:nvPr/>
        </p:nvSpPr>
        <p:spPr>
          <a:xfrm>
            <a:off x="457200" y="1243584"/>
            <a:ext cx="438912" cy="438912"/>
          </a:xfrm>
          <a:prstGeom prst="ellipse">
            <a:avLst/>
          </a:prstGeom>
          <a:solidFill>
            <a:srgbClr val="028090"/>
          </a:solidFill>
          <a:ln w="12700">
            <a:solidFill>
              <a:srgbClr val="028090"/>
            </a:solidFill>
            <a:prstDash val="solid"/>
          </a:ln>
        </p:spPr>
      </p:sp>
      <p:pic>
        <p:nvPicPr>
          <p:cNvPr id="6" name="Image 0" descr="preencoded.png">    </p:cNvPr>
          <p:cNvPicPr>
            <a:picLocks noChangeAspect="1"/>
          </p:cNvPicPr>
          <p:nvPr/>
        </p:nvPicPr>
        <p:blipFill>
          <a:blip r:embed="rId1"/>
          <a:stretch>
            <a:fillRect/>
          </a:stretch>
        </p:blipFill>
        <p:spPr>
          <a:xfrm>
            <a:off x="548640" y="1335024"/>
            <a:ext cx="256032" cy="256032"/>
          </a:xfrm>
          <a:prstGeom prst="rect">
            <a:avLst/>
          </a:prstGeom>
        </p:spPr>
      </p:pic>
      <p:sp>
        <p:nvSpPr>
          <p:cNvPr id="7" name="Text 4"/>
          <p:cNvSpPr/>
          <p:nvPr/>
        </p:nvSpPr>
        <p:spPr>
          <a:xfrm>
            <a:off x="1005840" y="1225296"/>
            <a:ext cx="1463040"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Dashboard</a:t>
            </a:r>
            <a:endParaRPr lang="en-US" sz="1200" dirty="0"/>
          </a:p>
        </p:txBody>
      </p:sp>
      <p:sp>
        <p:nvSpPr>
          <p:cNvPr id="8" name="Text 5"/>
          <p:cNvSpPr/>
          <p:nvPr/>
        </p:nvSpPr>
        <p:spPr>
          <a:xfrm>
            <a:off x="1005840" y="1481328"/>
            <a:ext cx="1280160" cy="201168"/>
          </a:xfrm>
          <a:prstGeom prst="rect">
            <a:avLst/>
          </a:prstGeom>
          <a:noFill/>
          <a:ln/>
        </p:spPr>
        <p:txBody>
          <a:bodyPr wrap="square" rtlCol="0" anchor="ctr"/>
          <a:lstStyle/>
          <a:p>
            <a:pPr indent="0" marL="0">
              <a:buNone/>
            </a:pPr>
            <a:r>
              <a:rPr lang="en-US" sz="950" b="1" dirty="0">
                <a:solidFill>
                  <a:srgbClr val="028090"/>
                </a:solidFill>
                <a:latin typeface="Calibri" pitchFamily="34" charset="0"/>
                <a:ea typeface="Calibri" pitchFamily="34" charset="-122"/>
                <a:cs typeface="Calibri" pitchFamily="34" charset="-120"/>
              </a:rPr>
              <a:t>Vercel</a:t>
            </a:r>
            <a:endParaRPr lang="en-US" sz="950" dirty="0"/>
          </a:p>
        </p:txBody>
      </p:sp>
      <p:sp>
        <p:nvSpPr>
          <p:cNvPr id="9" name="Text 6"/>
          <p:cNvSpPr/>
          <p:nvPr/>
        </p:nvSpPr>
        <p:spPr>
          <a:xfrm>
            <a:off x="2468880" y="1335024"/>
            <a:ext cx="4389120" cy="219456"/>
          </a:xfrm>
          <a:prstGeom prst="rect">
            <a:avLst/>
          </a:prstGeom>
          <a:noFill/>
          <a:ln/>
        </p:spPr>
        <p:txBody>
          <a:bodyPr wrap="square" rtlCol="0" anchor="ctr"/>
          <a:lstStyle/>
          <a:p>
            <a:pPr indent="0" marL="0">
              <a:buNone/>
            </a:pPr>
            <a:r>
              <a:rPr lang="en-US" sz="950" dirty="0">
                <a:solidFill>
                  <a:srgbClr val="028090"/>
                </a:solidFill>
                <a:latin typeface="Calibri" pitchFamily="34" charset="0"/>
                <a:ea typeface="Calibri" pitchFamily="34" charset="-122"/>
                <a:cs typeface="Calibri" pitchFamily="34" charset="-120"/>
              </a:rPr>
              <a:t>uniserv-delta.vercel.app</a:t>
            </a:r>
            <a:endParaRPr lang="en-US" sz="950" dirty="0"/>
          </a:p>
        </p:txBody>
      </p:sp>
      <p:sp>
        <p:nvSpPr>
          <p:cNvPr id="10" name="Text 7"/>
          <p:cNvSpPr/>
          <p:nvPr/>
        </p:nvSpPr>
        <p:spPr>
          <a:xfrm>
            <a:off x="2468880" y="1554480"/>
            <a:ext cx="438912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Next.js native, CDN edge, auto-SSL</a:t>
            </a:r>
            <a:endParaRPr lang="en-US" sz="900" dirty="0"/>
          </a:p>
        </p:txBody>
      </p:sp>
      <p:sp>
        <p:nvSpPr>
          <p:cNvPr id="11" name="Shape 8"/>
          <p:cNvSpPr/>
          <p:nvPr/>
        </p:nvSpPr>
        <p:spPr>
          <a:xfrm>
            <a:off x="7150608" y="1316736"/>
            <a:ext cx="1371600" cy="256032"/>
          </a:xfrm>
          <a:prstGeom prst="roundRect">
            <a:avLst>
              <a:gd name="adj" fmla="val 50000"/>
            </a:avLst>
          </a:prstGeom>
          <a:solidFill>
            <a:srgbClr val="E8F6F8"/>
          </a:solidFill>
          <a:ln w="12700">
            <a:solidFill>
              <a:srgbClr val="028090"/>
            </a:solidFill>
            <a:prstDash val="solid"/>
          </a:ln>
        </p:spPr>
      </p:sp>
      <p:sp>
        <p:nvSpPr>
          <p:cNvPr id="12" name="Text 9"/>
          <p:cNvSpPr/>
          <p:nvPr/>
        </p:nvSpPr>
        <p:spPr>
          <a:xfrm>
            <a:off x="7150608" y="1335024"/>
            <a:ext cx="1371600" cy="219456"/>
          </a:xfrm>
          <a:prstGeom prst="rect">
            <a:avLst/>
          </a:prstGeom>
          <a:noFill/>
          <a:ln/>
        </p:spPr>
        <p:txBody>
          <a:bodyPr wrap="square"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Free</a:t>
            </a:r>
            <a:endParaRPr lang="en-US" sz="1000" dirty="0"/>
          </a:p>
        </p:txBody>
      </p:sp>
      <p:sp>
        <p:nvSpPr>
          <p:cNvPr id="13" name="Shape 10"/>
          <p:cNvSpPr/>
          <p:nvPr/>
        </p:nvSpPr>
        <p:spPr>
          <a:xfrm>
            <a:off x="347472" y="1847088"/>
            <a:ext cx="8449056" cy="621792"/>
          </a:xfrm>
          <a:prstGeom prst="rect">
            <a:avLst/>
          </a:prstGeom>
          <a:solidFill>
            <a:srgbClr val="F8FAFC"/>
          </a:solidFill>
          <a:ln w="12700">
            <a:solidFill>
              <a:srgbClr val="E2E8F0"/>
            </a:solidFill>
            <a:prstDash val="solid"/>
          </a:ln>
        </p:spPr>
      </p:sp>
      <p:sp>
        <p:nvSpPr>
          <p:cNvPr id="14" name="Shape 11"/>
          <p:cNvSpPr/>
          <p:nvPr/>
        </p:nvSpPr>
        <p:spPr>
          <a:xfrm>
            <a:off x="457200" y="1938528"/>
            <a:ext cx="438912" cy="438912"/>
          </a:xfrm>
          <a:prstGeom prst="ellipse">
            <a:avLst/>
          </a:prstGeom>
          <a:solidFill>
            <a:srgbClr val="0D1B2A"/>
          </a:solidFill>
          <a:ln w="12700">
            <a:solidFill>
              <a:srgbClr val="0D1B2A"/>
            </a:solidFill>
            <a:prstDash val="solid"/>
          </a:ln>
        </p:spPr>
      </p:sp>
      <p:pic>
        <p:nvPicPr>
          <p:cNvPr id="15" name="Image 1" descr="preencoded.png">    </p:cNvPr>
          <p:cNvPicPr>
            <a:picLocks noChangeAspect="1"/>
          </p:cNvPicPr>
          <p:nvPr/>
        </p:nvPicPr>
        <p:blipFill>
          <a:blip r:embed="rId2"/>
          <a:stretch>
            <a:fillRect/>
          </a:stretch>
        </p:blipFill>
        <p:spPr>
          <a:xfrm>
            <a:off x="548640" y="2029968"/>
            <a:ext cx="256032" cy="256032"/>
          </a:xfrm>
          <a:prstGeom prst="rect">
            <a:avLst/>
          </a:prstGeom>
        </p:spPr>
      </p:pic>
      <p:sp>
        <p:nvSpPr>
          <p:cNvPr id="16" name="Text 12"/>
          <p:cNvSpPr/>
          <p:nvPr/>
        </p:nvSpPr>
        <p:spPr>
          <a:xfrm>
            <a:off x="1005840" y="1920240"/>
            <a:ext cx="1463040"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api-gateway</a:t>
            </a:r>
            <a:endParaRPr lang="en-US" sz="1200" dirty="0"/>
          </a:p>
        </p:txBody>
      </p:sp>
      <p:sp>
        <p:nvSpPr>
          <p:cNvPr id="17" name="Text 13"/>
          <p:cNvSpPr/>
          <p:nvPr/>
        </p:nvSpPr>
        <p:spPr>
          <a:xfrm>
            <a:off x="1005840" y="2176272"/>
            <a:ext cx="1280160" cy="201168"/>
          </a:xfrm>
          <a:prstGeom prst="rect">
            <a:avLst/>
          </a:prstGeom>
          <a:noFill/>
          <a:ln/>
        </p:spPr>
        <p:txBody>
          <a:bodyPr wrap="square" rtlCol="0" anchor="ctr"/>
          <a:lstStyle/>
          <a:p>
            <a:pPr indent="0" marL="0">
              <a:buNone/>
            </a:pPr>
            <a:r>
              <a:rPr lang="en-US" sz="950" b="1" dirty="0">
                <a:solidFill>
                  <a:srgbClr val="0D1B2A"/>
                </a:solidFill>
                <a:latin typeface="Calibri" pitchFamily="34" charset="0"/>
                <a:ea typeface="Calibri" pitchFamily="34" charset="-122"/>
                <a:cs typeface="Calibri" pitchFamily="34" charset="-120"/>
              </a:rPr>
              <a:t>Render</a:t>
            </a:r>
            <a:endParaRPr lang="en-US" sz="950" dirty="0"/>
          </a:p>
        </p:txBody>
      </p:sp>
      <p:sp>
        <p:nvSpPr>
          <p:cNvPr id="18" name="Text 14"/>
          <p:cNvSpPr/>
          <p:nvPr/>
        </p:nvSpPr>
        <p:spPr>
          <a:xfrm>
            <a:off x="2468880" y="2029968"/>
            <a:ext cx="4389120" cy="219456"/>
          </a:xfrm>
          <a:prstGeom prst="rect">
            <a:avLst/>
          </a:prstGeom>
          <a:noFill/>
          <a:ln/>
        </p:spPr>
        <p:txBody>
          <a:bodyPr wrap="square" rtlCol="0" anchor="ctr"/>
          <a:lstStyle/>
          <a:p>
            <a:pPr indent="0" marL="0">
              <a:buNone/>
            </a:pPr>
            <a:r>
              <a:rPr lang="en-US" sz="950" dirty="0">
                <a:solidFill>
                  <a:srgbClr val="028090"/>
                </a:solidFill>
                <a:latin typeface="Calibri" pitchFamily="34" charset="0"/>
                <a:ea typeface="Calibri" pitchFamily="34" charset="-122"/>
                <a:cs typeface="Calibri" pitchFamily="34" charset="-120"/>
              </a:rPr>
              <a:t>uniserve-api-gateway.onrender.com</a:t>
            </a:r>
            <a:endParaRPr lang="en-US" sz="950" dirty="0"/>
          </a:p>
        </p:txBody>
      </p:sp>
      <p:sp>
        <p:nvSpPr>
          <p:cNvPr id="19" name="Text 15"/>
          <p:cNvSpPr/>
          <p:nvPr/>
        </p:nvSpPr>
        <p:spPr>
          <a:xfrm>
            <a:off x="2468880" y="2249424"/>
            <a:ext cx="438912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Quarkus JAR, auto-deploy from GitHub</a:t>
            </a:r>
            <a:endParaRPr lang="en-US" sz="900" dirty="0"/>
          </a:p>
        </p:txBody>
      </p:sp>
      <p:sp>
        <p:nvSpPr>
          <p:cNvPr id="20" name="Shape 16"/>
          <p:cNvSpPr/>
          <p:nvPr/>
        </p:nvSpPr>
        <p:spPr>
          <a:xfrm>
            <a:off x="7150608" y="2011680"/>
            <a:ext cx="1371600" cy="256032"/>
          </a:xfrm>
          <a:prstGeom prst="roundRect">
            <a:avLst>
              <a:gd name="adj" fmla="val 50000"/>
            </a:avLst>
          </a:prstGeom>
          <a:solidFill>
            <a:srgbClr val="E8F6F8"/>
          </a:solidFill>
          <a:ln w="12700">
            <a:solidFill>
              <a:srgbClr val="028090"/>
            </a:solidFill>
            <a:prstDash val="solid"/>
          </a:ln>
        </p:spPr>
      </p:sp>
      <p:sp>
        <p:nvSpPr>
          <p:cNvPr id="21" name="Text 17"/>
          <p:cNvSpPr/>
          <p:nvPr/>
        </p:nvSpPr>
        <p:spPr>
          <a:xfrm>
            <a:off x="7150608" y="2029968"/>
            <a:ext cx="1371600" cy="219456"/>
          </a:xfrm>
          <a:prstGeom prst="rect">
            <a:avLst/>
          </a:prstGeom>
          <a:noFill/>
          <a:ln/>
        </p:spPr>
        <p:txBody>
          <a:bodyPr wrap="square"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Free</a:t>
            </a:r>
            <a:endParaRPr lang="en-US" sz="1000" dirty="0"/>
          </a:p>
        </p:txBody>
      </p:sp>
      <p:sp>
        <p:nvSpPr>
          <p:cNvPr id="22" name="Shape 18"/>
          <p:cNvSpPr/>
          <p:nvPr/>
        </p:nvSpPr>
        <p:spPr>
          <a:xfrm>
            <a:off x="347472" y="2542032"/>
            <a:ext cx="8449056" cy="621792"/>
          </a:xfrm>
          <a:prstGeom prst="rect">
            <a:avLst/>
          </a:prstGeom>
          <a:solidFill>
            <a:srgbClr val="FFFFFF"/>
          </a:solidFill>
          <a:ln w="12700">
            <a:solidFill>
              <a:srgbClr val="E2E8F0"/>
            </a:solidFill>
            <a:prstDash val="solid"/>
          </a:ln>
        </p:spPr>
      </p:sp>
      <p:sp>
        <p:nvSpPr>
          <p:cNvPr id="23" name="Shape 19"/>
          <p:cNvSpPr/>
          <p:nvPr/>
        </p:nvSpPr>
        <p:spPr>
          <a:xfrm>
            <a:off x="457200" y="2633472"/>
            <a:ext cx="438912" cy="438912"/>
          </a:xfrm>
          <a:prstGeom prst="ellipse">
            <a:avLst/>
          </a:prstGeom>
          <a:solidFill>
            <a:srgbClr val="8B4000"/>
          </a:solidFill>
          <a:ln w="12700">
            <a:solidFill>
              <a:srgbClr val="8B4000"/>
            </a:solidFill>
            <a:prstDash val="solid"/>
          </a:ln>
        </p:spPr>
      </p:sp>
      <p:pic>
        <p:nvPicPr>
          <p:cNvPr id="24" name="Image 2" descr="preencoded.png">    </p:cNvPr>
          <p:cNvPicPr>
            <a:picLocks noChangeAspect="1"/>
          </p:cNvPicPr>
          <p:nvPr/>
        </p:nvPicPr>
        <p:blipFill>
          <a:blip r:embed="rId3"/>
          <a:stretch>
            <a:fillRect/>
          </a:stretch>
        </p:blipFill>
        <p:spPr>
          <a:xfrm>
            <a:off x="548640" y="2724912"/>
            <a:ext cx="256032" cy="256032"/>
          </a:xfrm>
          <a:prstGeom prst="rect">
            <a:avLst/>
          </a:prstGeom>
        </p:spPr>
      </p:pic>
      <p:sp>
        <p:nvSpPr>
          <p:cNvPr id="25" name="Text 20"/>
          <p:cNvSpPr/>
          <p:nvPr/>
        </p:nvSpPr>
        <p:spPr>
          <a:xfrm>
            <a:off x="1005840" y="2615184"/>
            <a:ext cx="1463040"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ai-core</a:t>
            </a:r>
            <a:endParaRPr lang="en-US" sz="1200" dirty="0"/>
          </a:p>
        </p:txBody>
      </p:sp>
      <p:sp>
        <p:nvSpPr>
          <p:cNvPr id="26" name="Text 21"/>
          <p:cNvSpPr/>
          <p:nvPr/>
        </p:nvSpPr>
        <p:spPr>
          <a:xfrm>
            <a:off x="1005840" y="2871216"/>
            <a:ext cx="1280160" cy="201168"/>
          </a:xfrm>
          <a:prstGeom prst="rect">
            <a:avLst/>
          </a:prstGeom>
          <a:noFill/>
          <a:ln/>
        </p:spPr>
        <p:txBody>
          <a:bodyPr wrap="square" rtlCol="0" anchor="ctr"/>
          <a:lstStyle/>
          <a:p>
            <a:pPr indent="0" marL="0">
              <a:buNone/>
            </a:pPr>
            <a:r>
              <a:rPr lang="en-US" sz="950" b="1" dirty="0">
                <a:solidFill>
                  <a:srgbClr val="8B4000"/>
                </a:solidFill>
                <a:latin typeface="Calibri" pitchFamily="34" charset="0"/>
                <a:ea typeface="Calibri" pitchFamily="34" charset="-122"/>
                <a:cs typeface="Calibri" pitchFamily="34" charset="-120"/>
              </a:rPr>
              <a:t>Render</a:t>
            </a:r>
            <a:endParaRPr lang="en-US" sz="950" dirty="0"/>
          </a:p>
        </p:txBody>
      </p:sp>
      <p:sp>
        <p:nvSpPr>
          <p:cNvPr id="27" name="Text 22"/>
          <p:cNvSpPr/>
          <p:nvPr/>
        </p:nvSpPr>
        <p:spPr>
          <a:xfrm>
            <a:off x="2468880" y="2724912"/>
            <a:ext cx="4389120" cy="219456"/>
          </a:xfrm>
          <a:prstGeom prst="rect">
            <a:avLst/>
          </a:prstGeom>
          <a:noFill/>
          <a:ln/>
        </p:spPr>
        <p:txBody>
          <a:bodyPr wrap="square" rtlCol="0" anchor="ctr"/>
          <a:lstStyle/>
          <a:p>
            <a:pPr indent="0" marL="0">
              <a:buNone/>
            </a:pPr>
            <a:r>
              <a:rPr lang="en-US" sz="950" dirty="0">
                <a:solidFill>
                  <a:srgbClr val="028090"/>
                </a:solidFill>
                <a:latin typeface="Calibri" pitchFamily="34" charset="0"/>
                <a:ea typeface="Calibri" pitchFamily="34" charset="-122"/>
                <a:cs typeface="Calibri" pitchFamily="34" charset="-120"/>
              </a:rPr>
              <a:t>uniserve-ai-core.onrender.com</a:t>
            </a:r>
            <a:endParaRPr lang="en-US" sz="950" dirty="0"/>
          </a:p>
        </p:txBody>
      </p:sp>
      <p:sp>
        <p:nvSpPr>
          <p:cNvPr id="28" name="Text 23"/>
          <p:cNvSpPr/>
          <p:nvPr/>
        </p:nvSpPr>
        <p:spPr>
          <a:xfrm>
            <a:off x="2468880" y="2944368"/>
            <a:ext cx="438912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Python FastAPI, keeps warm via UptimeRobot</a:t>
            </a:r>
            <a:endParaRPr lang="en-US" sz="900" dirty="0"/>
          </a:p>
        </p:txBody>
      </p:sp>
      <p:sp>
        <p:nvSpPr>
          <p:cNvPr id="29" name="Shape 24"/>
          <p:cNvSpPr/>
          <p:nvPr/>
        </p:nvSpPr>
        <p:spPr>
          <a:xfrm>
            <a:off x="7150608" y="2706624"/>
            <a:ext cx="1371600" cy="256032"/>
          </a:xfrm>
          <a:prstGeom prst="roundRect">
            <a:avLst>
              <a:gd name="adj" fmla="val 50000"/>
            </a:avLst>
          </a:prstGeom>
          <a:solidFill>
            <a:srgbClr val="E8F6F8"/>
          </a:solidFill>
          <a:ln w="12700">
            <a:solidFill>
              <a:srgbClr val="028090"/>
            </a:solidFill>
            <a:prstDash val="solid"/>
          </a:ln>
        </p:spPr>
      </p:sp>
      <p:sp>
        <p:nvSpPr>
          <p:cNvPr id="30" name="Text 25"/>
          <p:cNvSpPr/>
          <p:nvPr/>
        </p:nvSpPr>
        <p:spPr>
          <a:xfrm>
            <a:off x="7150608" y="2724912"/>
            <a:ext cx="1371600" cy="219456"/>
          </a:xfrm>
          <a:prstGeom prst="rect">
            <a:avLst/>
          </a:prstGeom>
          <a:noFill/>
          <a:ln/>
        </p:spPr>
        <p:txBody>
          <a:bodyPr wrap="square"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Free</a:t>
            </a:r>
            <a:endParaRPr lang="en-US" sz="1000" dirty="0"/>
          </a:p>
        </p:txBody>
      </p:sp>
      <p:sp>
        <p:nvSpPr>
          <p:cNvPr id="31" name="Shape 26"/>
          <p:cNvSpPr/>
          <p:nvPr/>
        </p:nvSpPr>
        <p:spPr>
          <a:xfrm>
            <a:off x="347472" y="3236976"/>
            <a:ext cx="8449056" cy="621792"/>
          </a:xfrm>
          <a:prstGeom prst="rect">
            <a:avLst/>
          </a:prstGeom>
          <a:solidFill>
            <a:srgbClr val="F8FAFC"/>
          </a:solidFill>
          <a:ln w="12700">
            <a:solidFill>
              <a:srgbClr val="E2E8F0"/>
            </a:solidFill>
            <a:prstDash val="solid"/>
          </a:ln>
        </p:spPr>
      </p:sp>
      <p:sp>
        <p:nvSpPr>
          <p:cNvPr id="32" name="Shape 27"/>
          <p:cNvSpPr/>
          <p:nvPr/>
        </p:nvSpPr>
        <p:spPr>
          <a:xfrm>
            <a:off x="457200" y="3328416"/>
            <a:ext cx="438912" cy="438912"/>
          </a:xfrm>
          <a:prstGeom prst="ellipse">
            <a:avLst/>
          </a:prstGeom>
          <a:solidFill>
            <a:srgbClr val="1A936F"/>
          </a:solidFill>
          <a:ln w="12700">
            <a:solidFill>
              <a:srgbClr val="1A936F"/>
            </a:solidFill>
            <a:prstDash val="solid"/>
          </a:ln>
        </p:spPr>
      </p:sp>
      <p:pic>
        <p:nvPicPr>
          <p:cNvPr id="33" name="Image 3" descr="preencoded.png">    </p:cNvPr>
          <p:cNvPicPr>
            <a:picLocks noChangeAspect="1"/>
          </p:cNvPicPr>
          <p:nvPr/>
        </p:nvPicPr>
        <p:blipFill>
          <a:blip r:embed="rId4"/>
          <a:stretch>
            <a:fillRect/>
          </a:stretch>
        </p:blipFill>
        <p:spPr>
          <a:xfrm>
            <a:off x="548640" y="3419856"/>
            <a:ext cx="256032" cy="256032"/>
          </a:xfrm>
          <a:prstGeom prst="rect">
            <a:avLst/>
          </a:prstGeom>
        </p:spPr>
      </p:pic>
      <p:sp>
        <p:nvSpPr>
          <p:cNvPr id="34" name="Text 28"/>
          <p:cNvSpPr/>
          <p:nvPr/>
        </p:nvSpPr>
        <p:spPr>
          <a:xfrm>
            <a:off x="1005840" y="3310128"/>
            <a:ext cx="1463040"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db-writer</a:t>
            </a:r>
            <a:endParaRPr lang="en-US" sz="1200" dirty="0"/>
          </a:p>
        </p:txBody>
      </p:sp>
      <p:sp>
        <p:nvSpPr>
          <p:cNvPr id="35" name="Text 29"/>
          <p:cNvSpPr/>
          <p:nvPr/>
        </p:nvSpPr>
        <p:spPr>
          <a:xfrm>
            <a:off x="1005840" y="3566160"/>
            <a:ext cx="1280160" cy="201168"/>
          </a:xfrm>
          <a:prstGeom prst="rect">
            <a:avLst/>
          </a:prstGeom>
          <a:noFill/>
          <a:ln/>
        </p:spPr>
        <p:txBody>
          <a:bodyPr wrap="square" rtlCol="0" anchor="ctr"/>
          <a:lstStyle/>
          <a:p>
            <a:pPr indent="0" marL="0">
              <a:buNone/>
            </a:pPr>
            <a:r>
              <a:rPr lang="en-US" sz="950" b="1" dirty="0">
                <a:solidFill>
                  <a:srgbClr val="1A936F"/>
                </a:solidFill>
                <a:latin typeface="Calibri" pitchFamily="34" charset="0"/>
                <a:ea typeface="Calibri" pitchFamily="34" charset="-122"/>
                <a:cs typeface="Calibri" pitchFamily="34" charset="-120"/>
              </a:rPr>
              <a:t>Railway</a:t>
            </a:r>
            <a:endParaRPr lang="en-US" sz="950" dirty="0"/>
          </a:p>
        </p:txBody>
      </p:sp>
      <p:sp>
        <p:nvSpPr>
          <p:cNvPr id="36" name="Text 30"/>
          <p:cNvSpPr/>
          <p:nvPr/>
        </p:nvSpPr>
        <p:spPr>
          <a:xfrm>
            <a:off x="2468880" y="3419856"/>
            <a:ext cx="4389120" cy="219456"/>
          </a:xfrm>
          <a:prstGeom prst="rect">
            <a:avLst/>
          </a:prstGeom>
          <a:noFill/>
          <a:ln/>
        </p:spPr>
        <p:txBody>
          <a:bodyPr wrap="square" rtlCol="0" anchor="ctr"/>
          <a:lstStyle/>
          <a:p>
            <a:pPr indent="0" marL="0">
              <a:buNone/>
            </a:pPr>
            <a:r>
              <a:rPr lang="en-US" sz="950" dirty="0">
                <a:solidFill>
                  <a:srgbClr val="028090"/>
                </a:solidFill>
                <a:latin typeface="Calibri" pitchFamily="34" charset="0"/>
                <a:ea typeface="Calibri" pitchFamily="34" charset="-122"/>
                <a:cs typeface="Calibri" pitchFamily="34" charset="-120"/>
              </a:rPr>
              <a:t>uniserv-production.up.railway.app</a:t>
            </a:r>
            <a:endParaRPr lang="en-US" sz="950" dirty="0"/>
          </a:p>
        </p:txBody>
      </p:sp>
      <p:sp>
        <p:nvSpPr>
          <p:cNvPr id="37" name="Text 31"/>
          <p:cNvSpPr/>
          <p:nvPr/>
        </p:nvSpPr>
        <p:spPr>
          <a:xfrm>
            <a:off x="2468880" y="3639312"/>
            <a:ext cx="438912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1GB persistent volume, always-on, $5 credit covers it</a:t>
            </a:r>
            <a:endParaRPr lang="en-US" sz="900" dirty="0"/>
          </a:p>
        </p:txBody>
      </p:sp>
      <p:sp>
        <p:nvSpPr>
          <p:cNvPr id="38" name="Shape 32"/>
          <p:cNvSpPr/>
          <p:nvPr/>
        </p:nvSpPr>
        <p:spPr>
          <a:xfrm>
            <a:off x="7150608" y="3401568"/>
            <a:ext cx="1371600" cy="256032"/>
          </a:xfrm>
          <a:prstGeom prst="roundRect">
            <a:avLst>
              <a:gd name="adj" fmla="val 50000"/>
            </a:avLst>
          </a:prstGeom>
          <a:solidFill>
            <a:srgbClr val="F0FDF4"/>
          </a:solidFill>
          <a:ln w="12700">
            <a:solidFill>
              <a:srgbClr val="1A936F"/>
            </a:solidFill>
            <a:prstDash val="solid"/>
          </a:ln>
        </p:spPr>
      </p:sp>
      <p:sp>
        <p:nvSpPr>
          <p:cNvPr id="39" name="Text 33"/>
          <p:cNvSpPr/>
          <p:nvPr/>
        </p:nvSpPr>
        <p:spPr>
          <a:xfrm>
            <a:off x="7150608" y="3419856"/>
            <a:ext cx="1371600" cy="219456"/>
          </a:xfrm>
          <a:prstGeom prst="rect">
            <a:avLst/>
          </a:prstGeom>
          <a:noFill/>
          <a:ln/>
        </p:spPr>
        <p:txBody>
          <a:bodyPr wrap="square" rtlCol="0" anchor="ctr"/>
          <a:lstStyle/>
          <a:p>
            <a:pPr algn="ctr" indent="0" marL="0">
              <a:buNone/>
            </a:pPr>
            <a:r>
              <a:rPr lang="en-US" sz="1000" b="1" dirty="0">
                <a:solidFill>
                  <a:srgbClr val="1A936F"/>
                </a:solidFill>
                <a:latin typeface="Calibri" pitchFamily="34" charset="0"/>
                <a:ea typeface="Calibri" pitchFamily="34" charset="-122"/>
                <a:cs typeface="Calibri" pitchFamily="34" charset="-120"/>
              </a:rPr>
              <a:t>$0*</a:t>
            </a:r>
            <a:endParaRPr lang="en-US" sz="1000" dirty="0"/>
          </a:p>
        </p:txBody>
      </p:sp>
      <p:sp>
        <p:nvSpPr>
          <p:cNvPr id="40" name="Shape 34"/>
          <p:cNvSpPr/>
          <p:nvPr/>
        </p:nvSpPr>
        <p:spPr>
          <a:xfrm>
            <a:off x="347472" y="3931920"/>
            <a:ext cx="8449056" cy="621792"/>
          </a:xfrm>
          <a:prstGeom prst="rect">
            <a:avLst/>
          </a:prstGeom>
          <a:solidFill>
            <a:srgbClr val="FFFFFF"/>
          </a:solidFill>
          <a:ln w="12700">
            <a:solidFill>
              <a:srgbClr val="E2E8F0"/>
            </a:solidFill>
            <a:prstDash val="solid"/>
          </a:ln>
        </p:spPr>
      </p:sp>
      <p:sp>
        <p:nvSpPr>
          <p:cNvPr id="41" name="Shape 35"/>
          <p:cNvSpPr/>
          <p:nvPr/>
        </p:nvSpPr>
        <p:spPr>
          <a:xfrm>
            <a:off x="457200" y="4023360"/>
            <a:ext cx="438912" cy="438912"/>
          </a:xfrm>
          <a:prstGeom prst="ellipse">
            <a:avLst/>
          </a:prstGeom>
          <a:solidFill>
            <a:srgbClr val="8B1A8B"/>
          </a:solidFill>
          <a:ln w="12700">
            <a:solidFill>
              <a:srgbClr val="8B1A8B"/>
            </a:solidFill>
            <a:prstDash val="solid"/>
          </a:ln>
        </p:spPr>
      </p:sp>
      <p:pic>
        <p:nvPicPr>
          <p:cNvPr id="42" name="Image 4" descr="preencoded.png">    </p:cNvPr>
          <p:cNvPicPr>
            <a:picLocks noChangeAspect="1"/>
          </p:cNvPicPr>
          <p:nvPr/>
        </p:nvPicPr>
        <p:blipFill>
          <a:blip r:embed="rId5"/>
          <a:stretch>
            <a:fillRect/>
          </a:stretch>
        </p:blipFill>
        <p:spPr>
          <a:xfrm>
            <a:off x="548640" y="4114800"/>
            <a:ext cx="256032" cy="256032"/>
          </a:xfrm>
          <a:prstGeom prst="rect">
            <a:avLst/>
          </a:prstGeom>
        </p:spPr>
      </p:pic>
      <p:sp>
        <p:nvSpPr>
          <p:cNvPr id="43" name="Text 36"/>
          <p:cNvSpPr/>
          <p:nvPr/>
        </p:nvSpPr>
        <p:spPr>
          <a:xfrm>
            <a:off x="1005840" y="4005072"/>
            <a:ext cx="1463040" cy="25603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Valkey</a:t>
            </a:r>
            <a:endParaRPr lang="en-US" sz="1200" dirty="0"/>
          </a:p>
        </p:txBody>
      </p:sp>
      <p:sp>
        <p:nvSpPr>
          <p:cNvPr id="44" name="Text 37"/>
          <p:cNvSpPr/>
          <p:nvPr/>
        </p:nvSpPr>
        <p:spPr>
          <a:xfrm>
            <a:off x="1005840" y="4261104"/>
            <a:ext cx="1280160" cy="201168"/>
          </a:xfrm>
          <a:prstGeom prst="rect">
            <a:avLst/>
          </a:prstGeom>
          <a:noFill/>
          <a:ln/>
        </p:spPr>
        <p:txBody>
          <a:bodyPr wrap="square" rtlCol="0" anchor="ctr"/>
          <a:lstStyle/>
          <a:p>
            <a:pPr indent="0" marL="0">
              <a:buNone/>
            </a:pPr>
            <a:r>
              <a:rPr lang="en-US" sz="950" b="1" dirty="0">
                <a:solidFill>
                  <a:srgbClr val="8B1A8B"/>
                </a:solidFill>
                <a:latin typeface="Calibri" pitchFamily="34" charset="0"/>
                <a:ea typeface="Calibri" pitchFamily="34" charset="-122"/>
                <a:cs typeface="Calibri" pitchFamily="34" charset="-120"/>
              </a:rPr>
              <a:t>Upstash</a:t>
            </a:r>
            <a:endParaRPr lang="en-US" sz="950" dirty="0"/>
          </a:p>
        </p:txBody>
      </p:sp>
      <p:sp>
        <p:nvSpPr>
          <p:cNvPr id="45" name="Text 38"/>
          <p:cNvSpPr/>
          <p:nvPr/>
        </p:nvSpPr>
        <p:spPr>
          <a:xfrm>
            <a:off x="2468880" y="4114800"/>
            <a:ext cx="4389120" cy="219456"/>
          </a:xfrm>
          <a:prstGeom prst="rect">
            <a:avLst/>
          </a:prstGeom>
          <a:noFill/>
          <a:ln/>
        </p:spPr>
        <p:txBody>
          <a:bodyPr wrap="square" rtlCol="0" anchor="ctr"/>
          <a:lstStyle/>
          <a:p>
            <a:pPr indent="0" marL="0">
              <a:buNone/>
            </a:pPr>
            <a:r>
              <a:rPr lang="en-US" sz="950" dirty="0">
                <a:solidFill>
                  <a:srgbClr val="028090"/>
                </a:solidFill>
                <a:latin typeface="Calibri" pitchFamily="34" charset="0"/>
                <a:ea typeface="Calibri" pitchFamily="34" charset="-122"/>
                <a:cs typeface="Calibri" pitchFamily="34" charset="-120"/>
              </a:rPr>
              <a:t>internal rediss:// only</a:t>
            </a:r>
            <a:endParaRPr lang="en-US" sz="950" dirty="0"/>
          </a:p>
        </p:txBody>
      </p:sp>
      <p:sp>
        <p:nvSpPr>
          <p:cNvPr id="46" name="Text 39"/>
          <p:cNvSpPr/>
          <p:nvPr/>
        </p:nvSpPr>
        <p:spPr>
          <a:xfrm>
            <a:off x="2468880" y="4334256"/>
            <a:ext cx="438912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10k commands/day, MIT Redis-compatible</a:t>
            </a:r>
            <a:endParaRPr lang="en-US" sz="900" dirty="0"/>
          </a:p>
        </p:txBody>
      </p:sp>
      <p:sp>
        <p:nvSpPr>
          <p:cNvPr id="47" name="Shape 40"/>
          <p:cNvSpPr/>
          <p:nvPr/>
        </p:nvSpPr>
        <p:spPr>
          <a:xfrm>
            <a:off x="7150608" y="4096512"/>
            <a:ext cx="1371600" cy="256032"/>
          </a:xfrm>
          <a:prstGeom prst="roundRect">
            <a:avLst>
              <a:gd name="adj" fmla="val 50000"/>
            </a:avLst>
          </a:prstGeom>
          <a:solidFill>
            <a:srgbClr val="E8F6F8"/>
          </a:solidFill>
          <a:ln w="12700">
            <a:solidFill>
              <a:srgbClr val="028090"/>
            </a:solidFill>
            <a:prstDash val="solid"/>
          </a:ln>
        </p:spPr>
      </p:sp>
      <p:sp>
        <p:nvSpPr>
          <p:cNvPr id="48" name="Text 41"/>
          <p:cNvSpPr/>
          <p:nvPr/>
        </p:nvSpPr>
        <p:spPr>
          <a:xfrm>
            <a:off x="7150608" y="4114800"/>
            <a:ext cx="1371600" cy="219456"/>
          </a:xfrm>
          <a:prstGeom prst="rect">
            <a:avLst/>
          </a:prstGeom>
          <a:noFill/>
          <a:ln/>
        </p:spPr>
        <p:txBody>
          <a:bodyPr wrap="square"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Free</a:t>
            </a:r>
            <a:endParaRPr lang="en-US" sz="1000" dirty="0"/>
          </a:p>
        </p:txBody>
      </p:sp>
      <p:sp>
        <p:nvSpPr>
          <p:cNvPr id="49" name="Text 42"/>
          <p:cNvSpPr/>
          <p:nvPr/>
        </p:nvSpPr>
        <p:spPr>
          <a:xfrm>
            <a:off x="457200" y="4700016"/>
            <a:ext cx="8229600" cy="237744"/>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 Railway's $5/month free credit covers db-writer compute + 1GB persistent disk. Net cost: $0.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C39A"/>
                </a:solidFill>
                <a:latin typeface="Calibri" pitchFamily="34" charset="0"/>
                <a:ea typeface="Calibri" pitchFamily="34" charset="-122"/>
                <a:cs typeface="Calibri" pitchFamily="34" charset="-120"/>
              </a:rPr>
              <a:t>WHAT I LEARNED</a:t>
            </a:r>
            <a:endParaRPr lang="en-US" sz="900" dirty="0"/>
          </a:p>
        </p:txBody>
      </p:sp>
      <p:sp>
        <p:nvSpPr>
          <p:cNvPr id="3" name="Text 1"/>
          <p:cNvSpPr/>
          <p:nvPr/>
        </p:nvSpPr>
        <p:spPr>
          <a:xfrm>
            <a:off x="457200" y="457200"/>
            <a:ext cx="8229600" cy="530352"/>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Building end-to-end changes how you think.</a:t>
            </a:r>
            <a:endParaRPr lang="en-US" sz="2600" dirty="0"/>
          </a:p>
        </p:txBody>
      </p:sp>
      <p:sp>
        <p:nvSpPr>
          <p:cNvPr id="4" name="Shape 2"/>
          <p:cNvSpPr/>
          <p:nvPr/>
        </p:nvSpPr>
        <p:spPr>
          <a:xfrm>
            <a:off x="347472" y="1170432"/>
            <a:ext cx="4224528" cy="1133856"/>
          </a:xfrm>
          <a:prstGeom prst="rect">
            <a:avLst/>
          </a:prstGeom>
          <a:solidFill>
            <a:srgbClr val="0A1628"/>
          </a:solidFill>
          <a:ln w="12700">
            <a:solidFill>
              <a:srgbClr val="2A4A6A"/>
            </a:solidFill>
            <a:prstDash val="solid"/>
          </a:ln>
        </p:spPr>
      </p:sp>
      <p:sp>
        <p:nvSpPr>
          <p:cNvPr id="5" name="Shape 3"/>
          <p:cNvSpPr/>
          <p:nvPr/>
        </p:nvSpPr>
        <p:spPr>
          <a:xfrm>
            <a:off x="457200" y="1298448"/>
            <a:ext cx="402336" cy="402336"/>
          </a:xfrm>
          <a:prstGeom prst="ellipse">
            <a:avLst/>
          </a:prstGeom>
          <a:solidFill>
            <a:srgbClr val="F4A261"/>
          </a:solidFill>
          <a:ln w="12700">
            <a:solidFill>
              <a:srgbClr val="F4A261"/>
            </a:solidFill>
            <a:prstDash val="solid"/>
          </a:ln>
        </p:spPr>
      </p:sp>
      <p:pic>
        <p:nvPicPr>
          <p:cNvPr id="6" name="Image 0" descr="preencoded.png">    </p:cNvPr>
          <p:cNvPicPr>
            <a:picLocks noChangeAspect="1"/>
          </p:cNvPicPr>
          <p:nvPr/>
        </p:nvPicPr>
        <p:blipFill>
          <a:blip r:embed="rId1"/>
          <a:stretch>
            <a:fillRect/>
          </a:stretch>
        </p:blipFill>
        <p:spPr>
          <a:xfrm>
            <a:off x="548640" y="1389888"/>
            <a:ext cx="219456" cy="219456"/>
          </a:xfrm>
          <a:prstGeom prst="rect">
            <a:avLst/>
          </a:prstGeom>
        </p:spPr>
      </p:pic>
      <p:sp>
        <p:nvSpPr>
          <p:cNvPr id="7" name="Text 4"/>
          <p:cNvSpPr/>
          <p:nvPr/>
        </p:nvSpPr>
        <p:spPr>
          <a:xfrm>
            <a:off x="950976" y="1261872"/>
            <a:ext cx="3493008"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Bottom-up beats top-down, always</a:t>
            </a:r>
            <a:endParaRPr lang="en-US" sz="1100" dirty="0"/>
          </a:p>
        </p:txBody>
      </p:sp>
      <p:sp>
        <p:nvSpPr>
          <p:cNvPr id="8" name="Text 5"/>
          <p:cNvSpPr/>
          <p:nvPr/>
        </p:nvSpPr>
        <p:spPr>
          <a:xfrm>
            <a:off x="950976" y="1572768"/>
            <a:ext cx="3493008" cy="621792"/>
          </a:xfrm>
          <a:prstGeom prst="rect">
            <a:avLst/>
          </a:prstGeom>
          <a:noFill/>
          <a:ln/>
        </p:spPr>
        <p:txBody>
          <a:bodyPr wrap="square" rtlCol="0" anchor="ctr"/>
          <a:lstStyle/>
          <a:p>
            <a:pPr indent="0" marL="0">
              <a:lnSpc>
                <a:spcPct val="135000"/>
              </a:lnSpc>
              <a:buNone/>
            </a:pPr>
            <a:r>
              <a:rPr lang="en-US" sz="950" dirty="0">
                <a:solidFill>
                  <a:srgbClr val="8EB4C8"/>
                </a:solidFill>
                <a:latin typeface="Calibri" pitchFamily="34" charset="0"/>
                <a:ea typeface="Calibri" pitchFamily="34" charset="-122"/>
                <a:cs typeface="Calibri" pitchFamily="34" charset="-120"/>
              </a:rPr>
              <a:t>Starting from a real observed problem — two TNEB interviews — gave every design decision a concrete anchor. When in doubt: 'what does Priya actually need?' had an answer.</a:t>
            </a:r>
            <a:endParaRPr lang="en-US" sz="950" dirty="0"/>
          </a:p>
        </p:txBody>
      </p:sp>
      <p:sp>
        <p:nvSpPr>
          <p:cNvPr id="9" name="Shape 6"/>
          <p:cNvSpPr/>
          <p:nvPr/>
        </p:nvSpPr>
        <p:spPr>
          <a:xfrm>
            <a:off x="4754880" y="1170432"/>
            <a:ext cx="4224528" cy="1133856"/>
          </a:xfrm>
          <a:prstGeom prst="rect">
            <a:avLst/>
          </a:prstGeom>
          <a:solidFill>
            <a:srgbClr val="0A1628"/>
          </a:solidFill>
          <a:ln w="12700">
            <a:solidFill>
              <a:srgbClr val="2A4A6A"/>
            </a:solidFill>
            <a:prstDash val="solid"/>
          </a:ln>
        </p:spPr>
      </p:sp>
      <p:sp>
        <p:nvSpPr>
          <p:cNvPr id="10" name="Shape 7"/>
          <p:cNvSpPr/>
          <p:nvPr/>
        </p:nvSpPr>
        <p:spPr>
          <a:xfrm>
            <a:off x="4864608" y="1298448"/>
            <a:ext cx="402336" cy="402336"/>
          </a:xfrm>
          <a:prstGeom prst="ellipse">
            <a:avLst/>
          </a:prstGeom>
          <a:solidFill>
            <a:srgbClr val="028090"/>
          </a:solidFill>
          <a:ln w="12700">
            <a:solidFill>
              <a:srgbClr val="028090"/>
            </a:solidFill>
            <a:prstDash val="solid"/>
          </a:ln>
        </p:spPr>
      </p:sp>
      <p:pic>
        <p:nvPicPr>
          <p:cNvPr id="11" name="Image 1" descr="preencoded.png">    </p:cNvPr>
          <p:cNvPicPr>
            <a:picLocks noChangeAspect="1"/>
          </p:cNvPicPr>
          <p:nvPr/>
        </p:nvPicPr>
        <p:blipFill>
          <a:blip r:embed="rId2"/>
          <a:stretch>
            <a:fillRect/>
          </a:stretch>
        </p:blipFill>
        <p:spPr>
          <a:xfrm>
            <a:off x="4956048" y="1389888"/>
            <a:ext cx="219456" cy="219456"/>
          </a:xfrm>
          <a:prstGeom prst="rect">
            <a:avLst/>
          </a:prstGeom>
        </p:spPr>
      </p:pic>
      <p:sp>
        <p:nvSpPr>
          <p:cNvPr id="12" name="Text 8"/>
          <p:cNvSpPr/>
          <p:nvPr/>
        </p:nvSpPr>
        <p:spPr>
          <a:xfrm>
            <a:off x="5358384" y="1261872"/>
            <a:ext cx="3493008"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AI-assisted development changes the velocity ceiling</a:t>
            </a:r>
            <a:endParaRPr lang="en-US" sz="1100" dirty="0"/>
          </a:p>
        </p:txBody>
      </p:sp>
      <p:sp>
        <p:nvSpPr>
          <p:cNvPr id="13" name="Text 9"/>
          <p:cNvSpPr/>
          <p:nvPr/>
        </p:nvSpPr>
        <p:spPr>
          <a:xfrm>
            <a:off x="5358384" y="1572768"/>
            <a:ext cx="3493008" cy="621792"/>
          </a:xfrm>
          <a:prstGeom prst="rect">
            <a:avLst/>
          </a:prstGeom>
          <a:noFill/>
          <a:ln/>
        </p:spPr>
        <p:txBody>
          <a:bodyPr wrap="square" rtlCol="0" anchor="ctr"/>
          <a:lstStyle/>
          <a:p>
            <a:pPr indent="0" marL="0">
              <a:lnSpc>
                <a:spcPct val="135000"/>
              </a:lnSpc>
              <a:buNone/>
            </a:pPr>
            <a:r>
              <a:rPr lang="en-US" sz="950" dirty="0">
                <a:solidFill>
                  <a:srgbClr val="8EB4C8"/>
                </a:solidFill>
                <a:latin typeface="Calibri" pitchFamily="34" charset="0"/>
                <a:ea typeface="Calibri" pitchFamily="34" charset="-122"/>
                <a:cs typeface="Calibri" pitchFamily="34" charset="-120"/>
              </a:rPr>
              <a:t>Claude Code, structured MD specs, and multi-agent review ran in parallel sessions. Scaffolded 19 feature files and a full architecture in days, not weeks.</a:t>
            </a:r>
            <a:endParaRPr lang="en-US" sz="950" dirty="0"/>
          </a:p>
        </p:txBody>
      </p:sp>
      <p:sp>
        <p:nvSpPr>
          <p:cNvPr id="14" name="Shape 10"/>
          <p:cNvSpPr/>
          <p:nvPr/>
        </p:nvSpPr>
        <p:spPr>
          <a:xfrm>
            <a:off x="347472" y="2432304"/>
            <a:ext cx="4224528" cy="1133856"/>
          </a:xfrm>
          <a:prstGeom prst="rect">
            <a:avLst/>
          </a:prstGeom>
          <a:solidFill>
            <a:srgbClr val="0A1628"/>
          </a:solidFill>
          <a:ln w="12700">
            <a:solidFill>
              <a:srgbClr val="2A4A6A"/>
            </a:solidFill>
            <a:prstDash val="solid"/>
          </a:ln>
        </p:spPr>
      </p:sp>
      <p:sp>
        <p:nvSpPr>
          <p:cNvPr id="15" name="Shape 11"/>
          <p:cNvSpPr/>
          <p:nvPr/>
        </p:nvSpPr>
        <p:spPr>
          <a:xfrm>
            <a:off x="457200" y="2560320"/>
            <a:ext cx="402336" cy="402336"/>
          </a:xfrm>
          <a:prstGeom prst="ellipse">
            <a:avLst/>
          </a:prstGeom>
          <a:solidFill>
            <a:srgbClr val="E07B54"/>
          </a:solidFill>
          <a:ln w="12700">
            <a:solidFill>
              <a:srgbClr val="E07B54"/>
            </a:solidFill>
            <a:prstDash val="solid"/>
          </a:ln>
        </p:spPr>
      </p:sp>
      <p:pic>
        <p:nvPicPr>
          <p:cNvPr id="16" name="Image 2" descr="preencoded.png">    </p:cNvPr>
          <p:cNvPicPr>
            <a:picLocks noChangeAspect="1"/>
          </p:cNvPicPr>
          <p:nvPr/>
        </p:nvPicPr>
        <p:blipFill>
          <a:blip r:embed="rId3"/>
          <a:stretch>
            <a:fillRect/>
          </a:stretch>
        </p:blipFill>
        <p:spPr>
          <a:xfrm>
            <a:off x="548640" y="2651760"/>
            <a:ext cx="219456" cy="219456"/>
          </a:xfrm>
          <a:prstGeom prst="rect">
            <a:avLst/>
          </a:prstGeom>
        </p:spPr>
      </p:pic>
      <p:sp>
        <p:nvSpPr>
          <p:cNvPr id="17" name="Text 12"/>
          <p:cNvSpPr/>
          <p:nvPr/>
        </p:nvSpPr>
        <p:spPr>
          <a:xfrm>
            <a:off x="950976" y="2523744"/>
            <a:ext cx="3493008"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Write decisions down when you make them</a:t>
            </a:r>
            <a:endParaRPr lang="en-US" sz="1100" dirty="0"/>
          </a:p>
        </p:txBody>
      </p:sp>
      <p:sp>
        <p:nvSpPr>
          <p:cNvPr id="18" name="Text 13"/>
          <p:cNvSpPr/>
          <p:nvPr/>
        </p:nvSpPr>
        <p:spPr>
          <a:xfrm>
            <a:off x="950976" y="2834640"/>
            <a:ext cx="3493008" cy="621792"/>
          </a:xfrm>
          <a:prstGeom prst="rect">
            <a:avLst/>
          </a:prstGeom>
          <a:noFill/>
          <a:ln/>
        </p:spPr>
        <p:txBody>
          <a:bodyPr wrap="square" rtlCol="0" anchor="ctr"/>
          <a:lstStyle/>
          <a:p>
            <a:pPr indent="0" marL="0">
              <a:lnSpc>
                <a:spcPct val="135000"/>
              </a:lnSpc>
              <a:buNone/>
            </a:pPr>
            <a:r>
              <a:rPr lang="en-US" sz="950" dirty="0">
                <a:solidFill>
                  <a:srgbClr val="8EB4C8"/>
                </a:solidFill>
                <a:latin typeface="Calibri" pitchFamily="34" charset="0"/>
                <a:ea typeface="Calibri" pitchFamily="34" charset="-122"/>
                <a:cs typeface="Calibri" pitchFamily="34" charset="-120"/>
              </a:rPr>
              <a:t>Every tech pivot was documented with a From → To → Why log. Six months later that record is invaluable — for debugging, onboarding, and this presentation.</a:t>
            </a:r>
            <a:endParaRPr lang="en-US" sz="950" dirty="0"/>
          </a:p>
        </p:txBody>
      </p:sp>
      <p:sp>
        <p:nvSpPr>
          <p:cNvPr id="19" name="Shape 14"/>
          <p:cNvSpPr/>
          <p:nvPr/>
        </p:nvSpPr>
        <p:spPr>
          <a:xfrm>
            <a:off x="4754880" y="2432304"/>
            <a:ext cx="4224528" cy="1133856"/>
          </a:xfrm>
          <a:prstGeom prst="rect">
            <a:avLst/>
          </a:prstGeom>
          <a:solidFill>
            <a:srgbClr val="0A1628"/>
          </a:solidFill>
          <a:ln w="12700">
            <a:solidFill>
              <a:srgbClr val="2A4A6A"/>
            </a:solidFill>
            <a:prstDash val="solid"/>
          </a:ln>
        </p:spPr>
      </p:sp>
      <p:sp>
        <p:nvSpPr>
          <p:cNvPr id="20" name="Shape 15"/>
          <p:cNvSpPr/>
          <p:nvPr/>
        </p:nvSpPr>
        <p:spPr>
          <a:xfrm>
            <a:off x="4864608" y="2560320"/>
            <a:ext cx="402336" cy="402336"/>
          </a:xfrm>
          <a:prstGeom prst="ellipse">
            <a:avLst/>
          </a:prstGeom>
          <a:solidFill>
            <a:srgbClr val="02C39A"/>
          </a:solidFill>
          <a:ln w="12700">
            <a:solidFill>
              <a:srgbClr val="02C39A"/>
            </a:solidFill>
            <a:prstDash val="solid"/>
          </a:ln>
        </p:spPr>
      </p:sp>
      <p:pic>
        <p:nvPicPr>
          <p:cNvPr id="21" name="Image 3" descr="preencoded.png">    </p:cNvPr>
          <p:cNvPicPr>
            <a:picLocks noChangeAspect="1"/>
          </p:cNvPicPr>
          <p:nvPr/>
        </p:nvPicPr>
        <p:blipFill>
          <a:blip r:embed="rId4"/>
          <a:stretch>
            <a:fillRect/>
          </a:stretch>
        </p:blipFill>
        <p:spPr>
          <a:xfrm>
            <a:off x="4956048" y="2651760"/>
            <a:ext cx="219456" cy="219456"/>
          </a:xfrm>
          <a:prstGeom prst="rect">
            <a:avLst/>
          </a:prstGeom>
        </p:spPr>
      </p:pic>
      <p:sp>
        <p:nvSpPr>
          <p:cNvPr id="22" name="Text 16"/>
          <p:cNvSpPr/>
          <p:nvPr/>
        </p:nvSpPr>
        <p:spPr>
          <a:xfrm>
            <a:off x="5358384" y="2523744"/>
            <a:ext cx="3493008"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Configurability is an architectural decision, not a feature</a:t>
            </a:r>
            <a:endParaRPr lang="en-US" sz="1100" dirty="0"/>
          </a:p>
        </p:txBody>
      </p:sp>
      <p:sp>
        <p:nvSpPr>
          <p:cNvPr id="23" name="Text 17"/>
          <p:cNvSpPr/>
          <p:nvPr/>
        </p:nvSpPr>
        <p:spPr>
          <a:xfrm>
            <a:off x="5358384" y="2834640"/>
            <a:ext cx="3493008" cy="621792"/>
          </a:xfrm>
          <a:prstGeom prst="rect">
            <a:avLst/>
          </a:prstGeom>
          <a:noFill/>
          <a:ln/>
        </p:spPr>
        <p:txBody>
          <a:bodyPr wrap="square" rtlCol="0" anchor="ctr"/>
          <a:lstStyle/>
          <a:p>
            <a:pPr indent="0" marL="0">
              <a:lnSpc>
                <a:spcPct val="135000"/>
              </a:lnSpc>
              <a:buNone/>
            </a:pPr>
            <a:r>
              <a:rPr lang="en-US" sz="950" dirty="0">
                <a:solidFill>
                  <a:srgbClr val="8EB4C8"/>
                </a:solidFill>
                <a:latin typeface="Calibri" pitchFamily="34" charset="0"/>
                <a:ea typeface="Calibri" pitchFamily="34" charset="-122"/>
                <a:cs typeface="Calibri" pitchFamily="34" charset="-120"/>
              </a:rPr>
              <a:t>Building tenant config into the data model from day one meant no code deploys for per-customer customisation. That decision at week 2 saved weeks later.</a:t>
            </a:r>
            <a:endParaRPr lang="en-US" sz="950" dirty="0"/>
          </a:p>
        </p:txBody>
      </p:sp>
      <p:sp>
        <p:nvSpPr>
          <p:cNvPr id="24" name="Shape 18"/>
          <p:cNvSpPr/>
          <p:nvPr/>
        </p:nvSpPr>
        <p:spPr>
          <a:xfrm>
            <a:off x="347472" y="3694176"/>
            <a:ext cx="4224528" cy="1133856"/>
          </a:xfrm>
          <a:prstGeom prst="rect">
            <a:avLst/>
          </a:prstGeom>
          <a:solidFill>
            <a:srgbClr val="0A1628"/>
          </a:solidFill>
          <a:ln w="12700">
            <a:solidFill>
              <a:srgbClr val="2A4A6A"/>
            </a:solidFill>
            <a:prstDash val="solid"/>
          </a:ln>
        </p:spPr>
      </p:sp>
      <p:sp>
        <p:nvSpPr>
          <p:cNvPr id="25" name="Shape 19"/>
          <p:cNvSpPr/>
          <p:nvPr/>
        </p:nvSpPr>
        <p:spPr>
          <a:xfrm>
            <a:off x="457200" y="3822192"/>
            <a:ext cx="402336" cy="402336"/>
          </a:xfrm>
          <a:prstGeom prst="ellipse">
            <a:avLst/>
          </a:prstGeom>
          <a:solidFill>
            <a:srgbClr val="1A936F"/>
          </a:solidFill>
          <a:ln w="12700">
            <a:solidFill>
              <a:srgbClr val="1A936F"/>
            </a:solidFill>
            <a:prstDash val="solid"/>
          </a:ln>
        </p:spPr>
      </p:sp>
      <p:pic>
        <p:nvPicPr>
          <p:cNvPr id="26" name="Image 4" descr="preencoded.png">    </p:cNvPr>
          <p:cNvPicPr>
            <a:picLocks noChangeAspect="1"/>
          </p:cNvPicPr>
          <p:nvPr/>
        </p:nvPicPr>
        <p:blipFill>
          <a:blip r:embed="rId5"/>
          <a:stretch>
            <a:fillRect/>
          </a:stretch>
        </p:blipFill>
        <p:spPr>
          <a:xfrm>
            <a:off x="548640" y="3913632"/>
            <a:ext cx="219456" cy="219456"/>
          </a:xfrm>
          <a:prstGeom prst="rect">
            <a:avLst/>
          </a:prstGeom>
        </p:spPr>
      </p:pic>
      <p:sp>
        <p:nvSpPr>
          <p:cNvPr id="27" name="Text 20"/>
          <p:cNvSpPr/>
          <p:nvPr/>
        </p:nvSpPr>
        <p:spPr>
          <a:xfrm>
            <a:off x="950976" y="3785616"/>
            <a:ext cx="3493008"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 infra is a real constraint discipline</a:t>
            </a:r>
            <a:endParaRPr lang="en-US" sz="1100" dirty="0"/>
          </a:p>
        </p:txBody>
      </p:sp>
      <p:sp>
        <p:nvSpPr>
          <p:cNvPr id="28" name="Text 21"/>
          <p:cNvSpPr/>
          <p:nvPr/>
        </p:nvSpPr>
        <p:spPr>
          <a:xfrm>
            <a:off x="950976" y="4096512"/>
            <a:ext cx="3493008" cy="621792"/>
          </a:xfrm>
          <a:prstGeom prst="rect">
            <a:avLst/>
          </a:prstGeom>
          <a:noFill/>
          <a:ln/>
        </p:spPr>
        <p:txBody>
          <a:bodyPr wrap="square" rtlCol="0" anchor="ctr"/>
          <a:lstStyle/>
          <a:p>
            <a:pPr indent="0" marL="0">
              <a:lnSpc>
                <a:spcPct val="135000"/>
              </a:lnSpc>
              <a:buNone/>
            </a:pPr>
            <a:r>
              <a:rPr lang="en-US" sz="950" dirty="0">
                <a:solidFill>
                  <a:srgbClr val="8EB4C8"/>
                </a:solidFill>
                <a:latin typeface="Calibri" pitchFamily="34" charset="0"/>
                <a:ea typeface="Calibri" pitchFamily="34" charset="-122"/>
                <a:cs typeface="Calibri" pitchFamily="34" charset="-120"/>
              </a:rPr>
              <a:t>Designing for zero infra cost forced better decisions: SQLite over Postgres, Valkey over Redis, Quarkus native over JVM. Constraint as creativity.</a:t>
            </a:r>
            <a:endParaRPr lang="en-US" sz="950" dirty="0"/>
          </a:p>
        </p:txBody>
      </p:sp>
      <p:sp>
        <p:nvSpPr>
          <p:cNvPr id="29" name="Shape 22"/>
          <p:cNvSpPr/>
          <p:nvPr/>
        </p:nvSpPr>
        <p:spPr>
          <a:xfrm>
            <a:off x="4754880" y="3694176"/>
            <a:ext cx="4224528" cy="1133856"/>
          </a:xfrm>
          <a:prstGeom prst="rect">
            <a:avLst/>
          </a:prstGeom>
          <a:solidFill>
            <a:srgbClr val="0A1628"/>
          </a:solidFill>
          <a:ln w="12700">
            <a:solidFill>
              <a:srgbClr val="2A4A6A"/>
            </a:solidFill>
            <a:prstDash val="solid"/>
          </a:ln>
        </p:spPr>
      </p:sp>
      <p:sp>
        <p:nvSpPr>
          <p:cNvPr id="30" name="Shape 23"/>
          <p:cNvSpPr/>
          <p:nvPr/>
        </p:nvSpPr>
        <p:spPr>
          <a:xfrm>
            <a:off x="4864608" y="3822192"/>
            <a:ext cx="402336" cy="402336"/>
          </a:xfrm>
          <a:prstGeom prst="ellipse">
            <a:avLst/>
          </a:prstGeom>
          <a:solidFill>
            <a:srgbClr val="8B6000"/>
          </a:solidFill>
          <a:ln w="12700">
            <a:solidFill>
              <a:srgbClr val="8B6000"/>
            </a:solidFill>
            <a:prstDash val="solid"/>
          </a:ln>
        </p:spPr>
      </p:sp>
      <p:pic>
        <p:nvPicPr>
          <p:cNvPr id="31" name="Image 5" descr="preencoded.png">    </p:cNvPr>
          <p:cNvPicPr>
            <a:picLocks noChangeAspect="1"/>
          </p:cNvPicPr>
          <p:nvPr/>
        </p:nvPicPr>
        <p:blipFill>
          <a:blip r:embed="rId6"/>
          <a:stretch>
            <a:fillRect/>
          </a:stretch>
        </p:blipFill>
        <p:spPr>
          <a:xfrm>
            <a:off x="4956048" y="3913632"/>
            <a:ext cx="219456" cy="219456"/>
          </a:xfrm>
          <a:prstGeom prst="rect">
            <a:avLst/>
          </a:prstGeom>
        </p:spPr>
      </p:pic>
      <p:sp>
        <p:nvSpPr>
          <p:cNvPr id="32" name="Text 24"/>
          <p:cNvSpPr/>
          <p:nvPr/>
        </p:nvSpPr>
        <p:spPr>
          <a:xfrm>
            <a:off x="5358384" y="3785616"/>
            <a:ext cx="3493008"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Spec-first development works</a:t>
            </a:r>
            <a:endParaRPr lang="en-US" sz="1100" dirty="0"/>
          </a:p>
        </p:txBody>
      </p:sp>
      <p:sp>
        <p:nvSpPr>
          <p:cNvPr id="33" name="Text 25"/>
          <p:cNvSpPr/>
          <p:nvPr/>
        </p:nvSpPr>
        <p:spPr>
          <a:xfrm>
            <a:off x="5358384" y="4096512"/>
            <a:ext cx="3493008" cy="621792"/>
          </a:xfrm>
          <a:prstGeom prst="rect">
            <a:avLst/>
          </a:prstGeom>
          <a:noFill/>
          <a:ln/>
        </p:spPr>
        <p:txBody>
          <a:bodyPr wrap="square" rtlCol="0" anchor="ctr"/>
          <a:lstStyle/>
          <a:p>
            <a:pPr indent="0" marL="0">
              <a:lnSpc>
                <a:spcPct val="135000"/>
              </a:lnSpc>
              <a:buNone/>
            </a:pPr>
            <a:r>
              <a:rPr lang="en-US" sz="950" dirty="0">
                <a:solidFill>
                  <a:srgbClr val="8EB4C8"/>
                </a:solidFill>
                <a:latin typeface="Calibri" pitchFamily="34" charset="0"/>
                <a:ea typeface="Calibri" pitchFamily="34" charset="-122"/>
                <a:cs typeface="Calibri" pitchFamily="34" charset="-120"/>
              </a:rPr>
              <a:t>Writing 19 modular MD feature files before writing code meant AI coding tools had precise context. Faster, fewer regressions, easier to onboard.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8090"/>
                </a:solidFill>
                <a:latin typeface="Calibri" pitchFamily="34" charset="0"/>
                <a:ea typeface="Calibri" pitchFamily="34" charset="-122"/>
                <a:cs typeface="Calibri" pitchFamily="34" charset="-120"/>
              </a:rPr>
              <a:t>WHAT I WOULD DO DIFFERENTLY</a:t>
            </a:r>
            <a:endParaRPr lang="en-US" sz="900" dirty="0"/>
          </a:p>
        </p:txBody>
      </p:sp>
      <p:sp>
        <p:nvSpPr>
          <p:cNvPr id="3" name="Text 1"/>
          <p:cNvSpPr/>
          <p:nvPr/>
        </p:nvSpPr>
        <p:spPr>
          <a:xfrm>
            <a:off x="457200" y="457200"/>
            <a:ext cx="8229600" cy="512064"/>
          </a:xfrm>
          <a:prstGeom prst="rect">
            <a:avLst/>
          </a:prstGeom>
          <a:noFill/>
          <a:ln/>
        </p:spPr>
        <p:txBody>
          <a:bodyPr wrap="square"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Honest retrospective.</a:t>
            </a:r>
            <a:endParaRPr lang="en-US" sz="2600" dirty="0"/>
          </a:p>
        </p:txBody>
      </p:sp>
      <p:sp>
        <p:nvSpPr>
          <p:cNvPr id="4" name="Shape 2"/>
          <p:cNvSpPr/>
          <p:nvPr/>
        </p:nvSpPr>
        <p:spPr>
          <a:xfrm>
            <a:off x="347472" y="1115568"/>
            <a:ext cx="8449056" cy="749808"/>
          </a:xfrm>
          <a:prstGeom prst="rect">
            <a:avLst/>
          </a:prstGeom>
          <a:solidFill>
            <a:srgbClr val="FFFFFF"/>
          </a:solidFill>
          <a:ln w="12700">
            <a:solidFill>
              <a:srgbClr val="E2E8F0"/>
            </a:solidFill>
            <a:prstDash val="solid"/>
          </a:ln>
        </p:spPr>
      </p:sp>
      <p:sp>
        <p:nvSpPr>
          <p:cNvPr id="5" name="Text 3"/>
          <p:cNvSpPr/>
          <p:nvPr/>
        </p:nvSpPr>
        <p:spPr>
          <a:xfrm>
            <a:off x="457200" y="1170432"/>
            <a:ext cx="438912" cy="256032"/>
          </a:xfrm>
          <a:prstGeom prst="rect">
            <a:avLst/>
          </a:prstGeom>
          <a:noFill/>
          <a:ln/>
        </p:spPr>
        <p:txBody>
          <a:bodyPr wrap="square"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01</a:t>
            </a:r>
            <a:endParaRPr lang="en-US" sz="1400" dirty="0"/>
          </a:p>
        </p:txBody>
      </p:sp>
      <p:sp>
        <p:nvSpPr>
          <p:cNvPr id="6" name="Text 4"/>
          <p:cNvSpPr/>
          <p:nvPr/>
        </p:nvSpPr>
        <p:spPr>
          <a:xfrm>
            <a:off x="969264" y="1170432"/>
            <a:ext cx="7699248" cy="27432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Secure a pilot commitment earlier</a:t>
            </a:r>
            <a:endParaRPr lang="en-US" sz="1300" dirty="0"/>
          </a:p>
        </p:txBody>
      </p:sp>
      <p:sp>
        <p:nvSpPr>
          <p:cNvPr id="7" name="Text 5"/>
          <p:cNvSpPr/>
          <p:nvPr/>
        </p:nvSpPr>
        <p:spPr>
          <a:xfrm>
            <a:off x="969264" y="1481328"/>
            <a:ext cx="7699248" cy="347472"/>
          </a:xfrm>
          <a:prstGeom prst="rect">
            <a:avLst/>
          </a:prstGeom>
          <a:noFill/>
          <a:ln/>
        </p:spPr>
        <p:txBody>
          <a:bodyPr wrap="square" rtlCol="0" anchor="ctr"/>
          <a:lstStyle/>
          <a:p>
            <a:pPr indent="0" marL="0">
              <a:lnSpc>
                <a:spcPct val="140000"/>
              </a:lnSpc>
              <a:buNone/>
            </a:pPr>
            <a:r>
              <a:rPr lang="en-US" sz="1050" dirty="0">
                <a:solidFill>
                  <a:srgbClr val="64748B"/>
                </a:solidFill>
                <a:latin typeface="Calibri" pitchFamily="34" charset="0"/>
                <a:ea typeface="Calibri" pitchFamily="34" charset="-122"/>
                <a:cs typeface="Calibri" pitchFamily="34" charset="-120"/>
              </a:rPr>
              <a:t>The TNEB interviews validated the problem. I should have pushed for a signed pilot agreement at the same time. A real customer changes everything — priorities, feature order, feedback quality.</a:t>
            </a:r>
            <a:endParaRPr lang="en-US" sz="1050" dirty="0"/>
          </a:p>
        </p:txBody>
      </p:sp>
      <p:sp>
        <p:nvSpPr>
          <p:cNvPr id="8" name="Shape 6"/>
          <p:cNvSpPr/>
          <p:nvPr/>
        </p:nvSpPr>
        <p:spPr>
          <a:xfrm>
            <a:off x="347472" y="1993392"/>
            <a:ext cx="8449056" cy="749808"/>
          </a:xfrm>
          <a:prstGeom prst="rect">
            <a:avLst/>
          </a:prstGeom>
          <a:solidFill>
            <a:srgbClr val="F8FAFC"/>
          </a:solidFill>
          <a:ln w="12700">
            <a:solidFill>
              <a:srgbClr val="E2E8F0"/>
            </a:solidFill>
            <a:prstDash val="solid"/>
          </a:ln>
        </p:spPr>
      </p:sp>
      <p:sp>
        <p:nvSpPr>
          <p:cNvPr id="9" name="Text 7"/>
          <p:cNvSpPr/>
          <p:nvPr/>
        </p:nvSpPr>
        <p:spPr>
          <a:xfrm>
            <a:off x="457200" y="2048256"/>
            <a:ext cx="438912" cy="256032"/>
          </a:xfrm>
          <a:prstGeom prst="rect">
            <a:avLst/>
          </a:prstGeom>
          <a:noFill/>
          <a:ln/>
        </p:spPr>
        <p:txBody>
          <a:bodyPr wrap="square"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02</a:t>
            </a:r>
            <a:endParaRPr lang="en-US" sz="1400" dirty="0"/>
          </a:p>
        </p:txBody>
      </p:sp>
      <p:sp>
        <p:nvSpPr>
          <p:cNvPr id="10" name="Text 8"/>
          <p:cNvSpPr/>
          <p:nvPr/>
        </p:nvSpPr>
        <p:spPr>
          <a:xfrm>
            <a:off x="969264" y="2048256"/>
            <a:ext cx="7699248" cy="27432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Write integration tests before integration</a:t>
            </a:r>
            <a:endParaRPr lang="en-US" sz="1300" dirty="0"/>
          </a:p>
        </p:txBody>
      </p:sp>
      <p:sp>
        <p:nvSpPr>
          <p:cNvPr id="11" name="Text 9"/>
          <p:cNvSpPr/>
          <p:nvPr/>
        </p:nvSpPr>
        <p:spPr>
          <a:xfrm>
            <a:off x="969264" y="2359152"/>
            <a:ext cx="7699248" cy="347472"/>
          </a:xfrm>
          <a:prstGeom prst="rect">
            <a:avLst/>
          </a:prstGeom>
          <a:noFill/>
          <a:ln/>
        </p:spPr>
        <p:txBody>
          <a:bodyPr wrap="square" rtlCol="0" anchor="ctr"/>
          <a:lstStyle/>
          <a:p>
            <a:pPr indent="0" marL="0">
              <a:lnSpc>
                <a:spcPct val="140000"/>
              </a:lnSpc>
              <a:buNone/>
            </a:pPr>
            <a:r>
              <a:rPr lang="en-US" sz="1050" dirty="0">
                <a:solidFill>
                  <a:srgbClr val="64748B"/>
                </a:solidFill>
                <a:latin typeface="Calibri" pitchFamily="34" charset="0"/>
                <a:ea typeface="Calibri" pitchFamily="34" charset="-122"/>
                <a:cs typeface="Calibri" pitchFamily="34" charset="-120"/>
              </a:rPr>
              <a:t>The WhatsApp conversation-threading bug (three tickets from one conversation) would have been caught by a test. Retrofitting tests on complex async flows is harder than writing them upfront.</a:t>
            </a:r>
            <a:endParaRPr lang="en-US" sz="1050" dirty="0"/>
          </a:p>
        </p:txBody>
      </p:sp>
      <p:sp>
        <p:nvSpPr>
          <p:cNvPr id="12" name="Shape 10"/>
          <p:cNvSpPr/>
          <p:nvPr/>
        </p:nvSpPr>
        <p:spPr>
          <a:xfrm>
            <a:off x="347472" y="2871216"/>
            <a:ext cx="8449056" cy="749808"/>
          </a:xfrm>
          <a:prstGeom prst="rect">
            <a:avLst/>
          </a:prstGeom>
          <a:solidFill>
            <a:srgbClr val="FFFFFF"/>
          </a:solidFill>
          <a:ln w="12700">
            <a:solidFill>
              <a:srgbClr val="E2E8F0"/>
            </a:solidFill>
            <a:prstDash val="solid"/>
          </a:ln>
        </p:spPr>
      </p:sp>
      <p:sp>
        <p:nvSpPr>
          <p:cNvPr id="13" name="Text 11"/>
          <p:cNvSpPr/>
          <p:nvPr/>
        </p:nvSpPr>
        <p:spPr>
          <a:xfrm>
            <a:off x="457200" y="2926080"/>
            <a:ext cx="438912" cy="256032"/>
          </a:xfrm>
          <a:prstGeom prst="rect">
            <a:avLst/>
          </a:prstGeom>
          <a:noFill/>
          <a:ln/>
        </p:spPr>
        <p:txBody>
          <a:bodyPr wrap="square"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03</a:t>
            </a:r>
            <a:endParaRPr lang="en-US" sz="1400" dirty="0"/>
          </a:p>
        </p:txBody>
      </p:sp>
      <p:sp>
        <p:nvSpPr>
          <p:cNvPr id="14" name="Text 12"/>
          <p:cNvSpPr/>
          <p:nvPr/>
        </p:nvSpPr>
        <p:spPr>
          <a:xfrm>
            <a:off x="969264" y="2926080"/>
            <a:ext cx="7699248" cy="27432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Decouple the AI fallback sooner</a:t>
            </a:r>
            <a:endParaRPr lang="en-US" sz="1300" dirty="0"/>
          </a:p>
        </p:txBody>
      </p:sp>
      <p:sp>
        <p:nvSpPr>
          <p:cNvPr id="15" name="Text 13"/>
          <p:cNvSpPr/>
          <p:nvPr/>
        </p:nvSpPr>
        <p:spPr>
          <a:xfrm>
            <a:off x="969264" y="3236976"/>
            <a:ext cx="7699248" cy="347472"/>
          </a:xfrm>
          <a:prstGeom prst="rect">
            <a:avLst/>
          </a:prstGeom>
          <a:noFill/>
          <a:ln/>
        </p:spPr>
        <p:txBody>
          <a:bodyPr wrap="square" rtlCol="0" anchor="ctr"/>
          <a:lstStyle/>
          <a:p>
            <a:pPr indent="0" marL="0">
              <a:lnSpc>
                <a:spcPct val="140000"/>
              </a:lnSpc>
              <a:buNone/>
            </a:pPr>
            <a:r>
              <a:rPr lang="en-US" sz="1050" dirty="0">
                <a:solidFill>
                  <a:srgbClr val="64748B"/>
                </a:solidFill>
                <a:latin typeface="Calibri" pitchFamily="34" charset="0"/>
                <a:ea typeface="Calibri" pitchFamily="34" charset="-122"/>
                <a:cs typeface="Calibri" pitchFamily="34" charset="-120"/>
              </a:rPr>
              <a:t>The rule-based fallback for when LLM is unavailable was added late. The system should have been designed fallback-first — graceful degradation is a feature, not a patch.</a:t>
            </a:r>
            <a:endParaRPr lang="en-US" sz="1050" dirty="0"/>
          </a:p>
        </p:txBody>
      </p:sp>
      <p:sp>
        <p:nvSpPr>
          <p:cNvPr id="16" name="Shape 14"/>
          <p:cNvSpPr/>
          <p:nvPr/>
        </p:nvSpPr>
        <p:spPr>
          <a:xfrm>
            <a:off x="347472" y="3749040"/>
            <a:ext cx="8449056" cy="749808"/>
          </a:xfrm>
          <a:prstGeom prst="rect">
            <a:avLst/>
          </a:prstGeom>
          <a:solidFill>
            <a:srgbClr val="F8FAFC"/>
          </a:solidFill>
          <a:ln w="12700">
            <a:solidFill>
              <a:srgbClr val="E2E8F0"/>
            </a:solidFill>
            <a:prstDash val="solid"/>
          </a:ln>
        </p:spPr>
      </p:sp>
      <p:sp>
        <p:nvSpPr>
          <p:cNvPr id="17" name="Text 15"/>
          <p:cNvSpPr/>
          <p:nvPr/>
        </p:nvSpPr>
        <p:spPr>
          <a:xfrm>
            <a:off x="457200" y="3803904"/>
            <a:ext cx="438912" cy="256032"/>
          </a:xfrm>
          <a:prstGeom prst="rect">
            <a:avLst/>
          </a:prstGeom>
          <a:noFill/>
          <a:ln/>
        </p:spPr>
        <p:txBody>
          <a:bodyPr wrap="square"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04</a:t>
            </a:r>
            <a:endParaRPr lang="en-US" sz="1400" dirty="0"/>
          </a:p>
        </p:txBody>
      </p:sp>
      <p:sp>
        <p:nvSpPr>
          <p:cNvPr id="18" name="Text 16"/>
          <p:cNvSpPr/>
          <p:nvPr/>
        </p:nvSpPr>
        <p:spPr>
          <a:xfrm>
            <a:off x="969264" y="3803904"/>
            <a:ext cx="7699248" cy="27432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Validate the pricing model with one real customer</a:t>
            </a:r>
            <a:endParaRPr lang="en-US" sz="1300" dirty="0"/>
          </a:p>
        </p:txBody>
      </p:sp>
      <p:sp>
        <p:nvSpPr>
          <p:cNvPr id="19" name="Text 17"/>
          <p:cNvSpPr/>
          <p:nvPr/>
        </p:nvSpPr>
        <p:spPr>
          <a:xfrm>
            <a:off x="969264" y="4114800"/>
            <a:ext cx="7699248" cy="347472"/>
          </a:xfrm>
          <a:prstGeom prst="rect">
            <a:avLst/>
          </a:prstGeom>
          <a:noFill/>
          <a:ln/>
        </p:spPr>
        <p:txBody>
          <a:bodyPr wrap="square" rtlCol="0" anchor="ctr"/>
          <a:lstStyle/>
          <a:p>
            <a:pPr indent="0" marL="0">
              <a:lnSpc>
                <a:spcPct val="140000"/>
              </a:lnSpc>
              <a:buNone/>
            </a:pPr>
            <a:r>
              <a:rPr lang="en-US" sz="1050" dirty="0">
                <a:solidFill>
                  <a:srgbClr val="64748B"/>
                </a:solidFill>
                <a:latin typeface="Calibri" pitchFamily="34" charset="0"/>
                <a:ea typeface="Calibri" pitchFamily="34" charset="-122"/>
                <a:cs typeface="Calibri" pitchFamily="34" charset="-120"/>
              </a:rPr>
              <a:t>The IMS pricing model was built analytically. One honest conversation with a TNEB procurement head about what they can actually pay would have been worth more than all the analysis.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rtlCol="0" anchor="ctr"/>
          <a:lstStyle/>
          <a:p>
            <a:pPr indent="0" marL="0">
              <a:buNone/>
            </a:pPr>
            <a:r>
              <a:rPr lang="en-US" sz="900" b="1" spc="400" kern="0" dirty="0">
                <a:solidFill>
                  <a:srgbClr val="02C39A"/>
                </a:solidFill>
                <a:latin typeface="Calibri" pitchFamily="34" charset="0"/>
                <a:ea typeface="Calibri" pitchFamily="34" charset="-122"/>
                <a:cs typeface="Calibri" pitchFamily="34" charset="-120"/>
              </a:rPr>
              <a:t>NEXT STEPS</a:t>
            </a:r>
            <a:endParaRPr lang="en-US" sz="900" dirty="0"/>
          </a:p>
        </p:txBody>
      </p:sp>
      <p:sp>
        <p:nvSpPr>
          <p:cNvPr id="3" name="Text 1"/>
          <p:cNvSpPr/>
          <p:nvPr/>
        </p:nvSpPr>
        <p:spPr>
          <a:xfrm>
            <a:off x="457200" y="457200"/>
            <a:ext cx="8229600" cy="512064"/>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Where this goes next.</a:t>
            </a:r>
            <a:endParaRPr lang="en-US" sz="2600" dirty="0"/>
          </a:p>
        </p:txBody>
      </p:sp>
      <p:sp>
        <p:nvSpPr>
          <p:cNvPr id="4" name="Shape 2"/>
          <p:cNvSpPr/>
          <p:nvPr/>
        </p:nvSpPr>
        <p:spPr>
          <a:xfrm>
            <a:off x="347472" y="1152144"/>
            <a:ext cx="2029968" cy="2999232"/>
          </a:xfrm>
          <a:prstGeom prst="rect">
            <a:avLst/>
          </a:prstGeom>
          <a:solidFill>
            <a:srgbClr val="0A1628"/>
          </a:solidFill>
          <a:ln w="12700">
            <a:solidFill>
              <a:srgbClr val="2A4A6A"/>
            </a:solidFill>
            <a:prstDash val="solid"/>
          </a:ln>
        </p:spPr>
      </p:sp>
      <p:sp>
        <p:nvSpPr>
          <p:cNvPr id="5" name="Shape 3"/>
          <p:cNvSpPr/>
          <p:nvPr/>
        </p:nvSpPr>
        <p:spPr>
          <a:xfrm>
            <a:off x="475488" y="1261872"/>
            <a:ext cx="475488" cy="475488"/>
          </a:xfrm>
          <a:prstGeom prst="ellipse">
            <a:avLst/>
          </a:prstGeom>
          <a:solidFill>
            <a:srgbClr val="028090"/>
          </a:solidFill>
          <a:ln w="12700">
            <a:solidFill>
              <a:srgbClr val="028090"/>
            </a:solidFill>
            <a:prstDash val="solid"/>
          </a:ln>
        </p:spPr>
      </p:sp>
      <p:pic>
        <p:nvPicPr>
          <p:cNvPr id="6" name="Image 0" descr="preencoded.png">    </p:cNvPr>
          <p:cNvPicPr>
            <a:picLocks noChangeAspect="1"/>
          </p:cNvPicPr>
          <p:nvPr/>
        </p:nvPicPr>
        <p:blipFill>
          <a:blip r:embed="rId1"/>
          <a:stretch>
            <a:fillRect/>
          </a:stretch>
        </p:blipFill>
        <p:spPr>
          <a:xfrm>
            <a:off x="566928" y="1353312"/>
            <a:ext cx="292608" cy="292608"/>
          </a:xfrm>
          <a:prstGeom prst="rect">
            <a:avLst/>
          </a:prstGeom>
        </p:spPr>
      </p:pic>
      <p:sp>
        <p:nvSpPr>
          <p:cNvPr id="7" name="Shape 4"/>
          <p:cNvSpPr/>
          <p:nvPr/>
        </p:nvSpPr>
        <p:spPr>
          <a:xfrm>
            <a:off x="475488" y="1828800"/>
            <a:ext cx="1371600" cy="237744"/>
          </a:xfrm>
          <a:prstGeom prst="roundRect">
            <a:avLst>
              <a:gd name="adj" fmla="val 50000"/>
            </a:avLst>
          </a:prstGeom>
          <a:solidFill>
            <a:srgbClr val="0A3A30"/>
          </a:solidFill>
          <a:ln w="12700">
            <a:solidFill>
              <a:srgbClr val="02C39A"/>
            </a:solidFill>
            <a:prstDash val="solid"/>
          </a:ln>
        </p:spPr>
      </p:sp>
      <p:sp>
        <p:nvSpPr>
          <p:cNvPr id="8" name="Text 5"/>
          <p:cNvSpPr/>
          <p:nvPr/>
        </p:nvSpPr>
        <p:spPr>
          <a:xfrm>
            <a:off x="475488" y="1847088"/>
            <a:ext cx="1371600" cy="201168"/>
          </a:xfrm>
          <a:prstGeom prst="rect">
            <a:avLst/>
          </a:prstGeom>
          <a:noFill/>
          <a:ln/>
        </p:spPr>
        <p:txBody>
          <a:bodyPr wrap="square" rtlCol="0" anchor="ctr"/>
          <a:lstStyle/>
          <a:p>
            <a:pPr algn="ctr" indent="0" marL="0">
              <a:buNone/>
            </a:pPr>
            <a:r>
              <a:rPr lang="en-US" sz="850" b="1" dirty="0">
                <a:solidFill>
                  <a:srgbClr val="02C39A"/>
                </a:solidFill>
                <a:latin typeface="Calibri" pitchFamily="34" charset="0"/>
                <a:ea typeface="Calibri" pitchFamily="34" charset="-122"/>
                <a:cs typeface="Calibri" pitchFamily="34" charset="-120"/>
              </a:rPr>
              <a:t>Immediate</a:t>
            </a:r>
            <a:endParaRPr lang="en-US" sz="850" dirty="0"/>
          </a:p>
        </p:txBody>
      </p:sp>
      <p:sp>
        <p:nvSpPr>
          <p:cNvPr id="9" name="Text 6"/>
          <p:cNvSpPr/>
          <p:nvPr/>
        </p:nvSpPr>
        <p:spPr>
          <a:xfrm>
            <a:off x="475488" y="2176272"/>
            <a:ext cx="1773936" cy="402336"/>
          </a:xfrm>
          <a:prstGeom prst="rect">
            <a:avLst/>
          </a:prstGeom>
          <a:noFill/>
          <a:ln/>
        </p:spPr>
        <p:txBody>
          <a:bodyPr wrap="square" rtlCol="0" anchor="ctr"/>
          <a:lstStyle/>
          <a:p>
            <a:pPr indent="0" marL="0">
              <a:lnSpc>
                <a:spcPct val="120000"/>
              </a:lnSpc>
              <a:buNone/>
            </a:pPr>
            <a:r>
              <a:rPr lang="en-US" sz="1100" b="1" dirty="0">
                <a:solidFill>
                  <a:srgbClr val="FFFFFF"/>
                </a:solidFill>
                <a:latin typeface="Calibri" pitchFamily="34" charset="0"/>
                <a:ea typeface="Calibri" pitchFamily="34" charset="-122"/>
                <a:cs typeface="Calibri" pitchFamily="34" charset="-120"/>
              </a:rPr>
              <a:t>First pilot customer</a:t>
            </a:r>
            <a:endParaRPr lang="en-US" sz="1100" dirty="0"/>
          </a:p>
        </p:txBody>
      </p:sp>
      <p:sp>
        <p:nvSpPr>
          <p:cNvPr id="10" name="Text 7"/>
          <p:cNvSpPr/>
          <p:nvPr/>
        </p:nvSpPr>
        <p:spPr>
          <a:xfrm>
            <a:off x="475488" y="2651760"/>
            <a:ext cx="1773936" cy="1389888"/>
          </a:xfrm>
          <a:prstGeom prst="rect">
            <a:avLst/>
          </a:prstGeom>
          <a:noFill/>
          <a:ln/>
        </p:spPr>
        <p:txBody>
          <a:bodyPr wrap="square" rtlCol="0" anchor="ctr"/>
          <a:lstStyle/>
          <a:p>
            <a:pPr indent="0" marL="0">
              <a:lnSpc>
                <a:spcPct val="140000"/>
              </a:lnSpc>
              <a:buNone/>
            </a:pPr>
            <a:r>
              <a:rPr lang="en-US" sz="950" dirty="0">
                <a:solidFill>
                  <a:srgbClr val="8EB4C8"/>
                </a:solidFill>
                <a:latin typeface="Calibri" pitchFamily="34" charset="0"/>
                <a:ea typeface="Calibri" pitchFamily="34" charset="-122"/>
                <a:cs typeface="Calibri" pitchFamily="34" charset="-120"/>
              </a:rPr>
              <a:t>Target a mid-size utility or BFSI firm willing to run a paid 3-month pilot. The product handles real load today.</a:t>
            </a:r>
            <a:endParaRPr lang="en-US" sz="950" dirty="0"/>
          </a:p>
        </p:txBody>
      </p:sp>
      <p:sp>
        <p:nvSpPr>
          <p:cNvPr id="11" name="Shape 8"/>
          <p:cNvSpPr/>
          <p:nvPr/>
        </p:nvSpPr>
        <p:spPr>
          <a:xfrm>
            <a:off x="2523744" y="1152144"/>
            <a:ext cx="2029968" cy="2999232"/>
          </a:xfrm>
          <a:prstGeom prst="rect">
            <a:avLst/>
          </a:prstGeom>
          <a:solidFill>
            <a:srgbClr val="0A1628"/>
          </a:solidFill>
          <a:ln w="12700">
            <a:solidFill>
              <a:srgbClr val="2A4A6A"/>
            </a:solidFill>
            <a:prstDash val="solid"/>
          </a:ln>
        </p:spPr>
      </p:sp>
      <p:sp>
        <p:nvSpPr>
          <p:cNvPr id="12" name="Shape 9"/>
          <p:cNvSpPr/>
          <p:nvPr/>
        </p:nvSpPr>
        <p:spPr>
          <a:xfrm>
            <a:off x="2651760" y="1261872"/>
            <a:ext cx="475488" cy="475488"/>
          </a:xfrm>
          <a:prstGeom prst="ellipse">
            <a:avLst/>
          </a:prstGeom>
          <a:solidFill>
            <a:srgbClr val="E07B54"/>
          </a:solidFill>
          <a:ln w="12700">
            <a:solidFill>
              <a:srgbClr val="E07B54"/>
            </a:solidFill>
            <a:prstDash val="solid"/>
          </a:ln>
        </p:spPr>
      </p:sp>
      <p:pic>
        <p:nvPicPr>
          <p:cNvPr id="13" name="Image 1" descr="preencoded.png">    </p:cNvPr>
          <p:cNvPicPr>
            <a:picLocks noChangeAspect="1"/>
          </p:cNvPicPr>
          <p:nvPr/>
        </p:nvPicPr>
        <p:blipFill>
          <a:blip r:embed="rId2"/>
          <a:stretch>
            <a:fillRect/>
          </a:stretch>
        </p:blipFill>
        <p:spPr>
          <a:xfrm>
            <a:off x="2743200" y="1353312"/>
            <a:ext cx="292608" cy="292608"/>
          </a:xfrm>
          <a:prstGeom prst="rect">
            <a:avLst/>
          </a:prstGeom>
        </p:spPr>
      </p:pic>
      <p:sp>
        <p:nvSpPr>
          <p:cNvPr id="14" name="Shape 10"/>
          <p:cNvSpPr/>
          <p:nvPr/>
        </p:nvSpPr>
        <p:spPr>
          <a:xfrm>
            <a:off x="2651760" y="1828800"/>
            <a:ext cx="1371600" cy="237744"/>
          </a:xfrm>
          <a:prstGeom prst="roundRect">
            <a:avLst>
              <a:gd name="adj" fmla="val 50000"/>
            </a:avLst>
          </a:prstGeom>
          <a:solidFill>
            <a:srgbClr val="1A1030"/>
          </a:solidFill>
          <a:ln w="12700">
            <a:solidFill>
              <a:srgbClr val="8A6AFF"/>
            </a:solidFill>
            <a:prstDash val="solid"/>
          </a:ln>
        </p:spPr>
      </p:sp>
      <p:sp>
        <p:nvSpPr>
          <p:cNvPr id="15" name="Text 11"/>
          <p:cNvSpPr/>
          <p:nvPr/>
        </p:nvSpPr>
        <p:spPr>
          <a:xfrm>
            <a:off x="2651760" y="1847088"/>
            <a:ext cx="1371600" cy="201168"/>
          </a:xfrm>
          <a:prstGeom prst="rect">
            <a:avLst/>
          </a:prstGeom>
          <a:noFill/>
          <a:ln/>
        </p:spPr>
        <p:txBody>
          <a:bodyPr wrap="square" rtlCol="0" anchor="ctr"/>
          <a:lstStyle/>
          <a:p>
            <a:pPr algn="ctr" indent="0" marL="0">
              <a:buNone/>
            </a:pPr>
            <a:r>
              <a:rPr lang="en-US" sz="850" b="1" dirty="0">
                <a:solidFill>
                  <a:srgbClr val="8A6AFF"/>
                </a:solidFill>
                <a:latin typeface="Calibri" pitchFamily="34" charset="0"/>
                <a:ea typeface="Calibri" pitchFamily="34" charset="-122"/>
                <a:cs typeface="Calibri" pitchFamily="34" charset="-120"/>
              </a:rPr>
              <a:t>Phase 2</a:t>
            </a:r>
            <a:endParaRPr lang="en-US" sz="850" dirty="0"/>
          </a:p>
        </p:txBody>
      </p:sp>
      <p:sp>
        <p:nvSpPr>
          <p:cNvPr id="16" name="Text 12"/>
          <p:cNvSpPr/>
          <p:nvPr/>
        </p:nvSpPr>
        <p:spPr>
          <a:xfrm>
            <a:off x="2651760" y="2176272"/>
            <a:ext cx="1773936" cy="402336"/>
          </a:xfrm>
          <a:prstGeom prst="rect">
            <a:avLst/>
          </a:prstGeom>
          <a:noFill/>
          <a:ln/>
        </p:spPr>
        <p:txBody>
          <a:bodyPr wrap="square" rtlCol="0" anchor="ctr"/>
          <a:lstStyle/>
          <a:p>
            <a:pPr indent="0" marL="0">
              <a:lnSpc>
                <a:spcPct val="120000"/>
              </a:lnSpc>
              <a:buNone/>
            </a:pPr>
            <a:r>
              <a:rPr lang="en-US" sz="1100" b="1" dirty="0">
                <a:solidFill>
                  <a:srgbClr val="FFFFFF"/>
                </a:solidFill>
                <a:latin typeface="Calibri" pitchFamily="34" charset="0"/>
                <a:ea typeface="Calibri" pitchFamily="34" charset="-122"/>
                <a:cs typeface="Calibri" pitchFamily="34" charset="-120"/>
              </a:rPr>
              <a:t>PII encryption (AES-256-GCM)</a:t>
            </a:r>
            <a:endParaRPr lang="en-US" sz="1100" dirty="0"/>
          </a:p>
        </p:txBody>
      </p:sp>
      <p:sp>
        <p:nvSpPr>
          <p:cNvPr id="17" name="Text 13"/>
          <p:cNvSpPr/>
          <p:nvPr/>
        </p:nvSpPr>
        <p:spPr>
          <a:xfrm>
            <a:off x="2651760" y="2651760"/>
            <a:ext cx="1773936" cy="1389888"/>
          </a:xfrm>
          <a:prstGeom prst="rect">
            <a:avLst/>
          </a:prstGeom>
          <a:noFill/>
          <a:ln/>
        </p:spPr>
        <p:txBody>
          <a:bodyPr wrap="square" rtlCol="0" anchor="ctr"/>
          <a:lstStyle/>
          <a:p>
            <a:pPr indent="0" marL="0">
              <a:lnSpc>
                <a:spcPct val="140000"/>
              </a:lnSpc>
              <a:buNone/>
            </a:pPr>
            <a:r>
              <a:rPr lang="en-US" sz="950" dirty="0">
                <a:solidFill>
                  <a:srgbClr val="8EB4C8"/>
                </a:solidFill>
                <a:latin typeface="Calibri" pitchFamily="34" charset="0"/>
                <a:ea typeface="Calibri" pitchFamily="34" charset="-122"/>
                <a:cs typeface="Calibri" pitchFamily="34" charset="-120"/>
              </a:rPr>
              <a:t>Schema markers in place. KMS or Vault integration. DPDP Act compliance. Estimated 3-4 weeks of development.</a:t>
            </a:r>
            <a:endParaRPr lang="en-US" sz="950" dirty="0"/>
          </a:p>
        </p:txBody>
      </p:sp>
      <p:sp>
        <p:nvSpPr>
          <p:cNvPr id="18" name="Shape 14"/>
          <p:cNvSpPr/>
          <p:nvPr/>
        </p:nvSpPr>
        <p:spPr>
          <a:xfrm>
            <a:off x="4700016" y="1152144"/>
            <a:ext cx="2029968" cy="2999232"/>
          </a:xfrm>
          <a:prstGeom prst="rect">
            <a:avLst/>
          </a:prstGeom>
          <a:solidFill>
            <a:srgbClr val="0A1628"/>
          </a:solidFill>
          <a:ln w="12700">
            <a:solidFill>
              <a:srgbClr val="2A4A6A"/>
            </a:solidFill>
            <a:prstDash val="solid"/>
          </a:ln>
        </p:spPr>
      </p:sp>
      <p:sp>
        <p:nvSpPr>
          <p:cNvPr id="19" name="Shape 15"/>
          <p:cNvSpPr/>
          <p:nvPr/>
        </p:nvSpPr>
        <p:spPr>
          <a:xfrm>
            <a:off x="4828032" y="1261872"/>
            <a:ext cx="475488" cy="475488"/>
          </a:xfrm>
          <a:prstGeom prst="ellipse">
            <a:avLst/>
          </a:prstGeom>
          <a:solidFill>
            <a:srgbClr val="1A936F"/>
          </a:solidFill>
          <a:ln w="12700">
            <a:solidFill>
              <a:srgbClr val="1A936F"/>
            </a:solidFill>
            <a:prstDash val="solid"/>
          </a:ln>
        </p:spPr>
      </p:sp>
      <p:pic>
        <p:nvPicPr>
          <p:cNvPr id="20" name="Image 2" descr="preencoded.png">    </p:cNvPr>
          <p:cNvPicPr>
            <a:picLocks noChangeAspect="1"/>
          </p:cNvPicPr>
          <p:nvPr/>
        </p:nvPicPr>
        <p:blipFill>
          <a:blip r:embed="rId3"/>
          <a:stretch>
            <a:fillRect/>
          </a:stretch>
        </p:blipFill>
        <p:spPr>
          <a:xfrm>
            <a:off x="4919472" y="1353312"/>
            <a:ext cx="292608" cy="292608"/>
          </a:xfrm>
          <a:prstGeom prst="rect">
            <a:avLst/>
          </a:prstGeom>
        </p:spPr>
      </p:pic>
      <p:sp>
        <p:nvSpPr>
          <p:cNvPr id="21" name="Shape 16"/>
          <p:cNvSpPr/>
          <p:nvPr/>
        </p:nvSpPr>
        <p:spPr>
          <a:xfrm>
            <a:off x="4828032" y="1828800"/>
            <a:ext cx="1371600" cy="237744"/>
          </a:xfrm>
          <a:prstGeom prst="roundRect">
            <a:avLst>
              <a:gd name="adj" fmla="val 50000"/>
            </a:avLst>
          </a:prstGeom>
          <a:solidFill>
            <a:srgbClr val="1A1030"/>
          </a:solidFill>
          <a:ln w="12700">
            <a:solidFill>
              <a:srgbClr val="8A6AFF"/>
            </a:solidFill>
            <a:prstDash val="solid"/>
          </a:ln>
        </p:spPr>
      </p:sp>
      <p:sp>
        <p:nvSpPr>
          <p:cNvPr id="22" name="Text 17"/>
          <p:cNvSpPr/>
          <p:nvPr/>
        </p:nvSpPr>
        <p:spPr>
          <a:xfrm>
            <a:off x="4828032" y="1847088"/>
            <a:ext cx="1371600" cy="201168"/>
          </a:xfrm>
          <a:prstGeom prst="rect">
            <a:avLst/>
          </a:prstGeom>
          <a:noFill/>
          <a:ln/>
        </p:spPr>
        <p:txBody>
          <a:bodyPr wrap="square" rtlCol="0" anchor="ctr"/>
          <a:lstStyle/>
          <a:p>
            <a:pPr algn="ctr" indent="0" marL="0">
              <a:buNone/>
            </a:pPr>
            <a:r>
              <a:rPr lang="en-US" sz="850" b="1" dirty="0">
                <a:solidFill>
                  <a:srgbClr val="8A6AFF"/>
                </a:solidFill>
                <a:latin typeface="Calibri" pitchFamily="34" charset="0"/>
                <a:ea typeface="Calibri" pitchFamily="34" charset="-122"/>
                <a:cs typeface="Calibri" pitchFamily="34" charset="-120"/>
              </a:rPr>
              <a:t>Phase 2</a:t>
            </a:r>
            <a:endParaRPr lang="en-US" sz="850" dirty="0"/>
          </a:p>
        </p:txBody>
      </p:sp>
      <p:sp>
        <p:nvSpPr>
          <p:cNvPr id="23" name="Text 18"/>
          <p:cNvSpPr/>
          <p:nvPr/>
        </p:nvSpPr>
        <p:spPr>
          <a:xfrm>
            <a:off x="4828032" y="2176272"/>
            <a:ext cx="1773936" cy="402336"/>
          </a:xfrm>
          <a:prstGeom prst="rect">
            <a:avLst/>
          </a:prstGeom>
          <a:noFill/>
          <a:ln/>
        </p:spPr>
        <p:txBody>
          <a:bodyPr wrap="square" rtlCol="0" anchor="ctr"/>
          <a:lstStyle/>
          <a:p>
            <a:pPr indent="0" marL="0">
              <a:lnSpc>
                <a:spcPct val="120000"/>
              </a:lnSpc>
              <a:buNone/>
            </a:pPr>
            <a:r>
              <a:rPr lang="en-US" sz="1100" b="1" dirty="0">
                <a:solidFill>
                  <a:srgbClr val="FFFFFF"/>
                </a:solidFill>
                <a:latin typeface="Calibri" pitchFamily="34" charset="0"/>
                <a:ea typeface="Calibri" pitchFamily="34" charset="-122"/>
                <a:cs typeface="Calibri" pitchFamily="34" charset="-120"/>
              </a:rPr>
              <a:t>Twitter + IVR channels</a:t>
            </a:r>
            <a:endParaRPr lang="en-US" sz="1100" dirty="0"/>
          </a:p>
        </p:txBody>
      </p:sp>
      <p:sp>
        <p:nvSpPr>
          <p:cNvPr id="24" name="Text 19"/>
          <p:cNvSpPr/>
          <p:nvPr/>
        </p:nvSpPr>
        <p:spPr>
          <a:xfrm>
            <a:off x="4828032" y="2651760"/>
            <a:ext cx="1773936" cy="1389888"/>
          </a:xfrm>
          <a:prstGeom prst="rect">
            <a:avLst/>
          </a:prstGeom>
          <a:noFill/>
          <a:ln/>
        </p:spPr>
        <p:txBody>
          <a:bodyPr wrap="square" rtlCol="0" anchor="ctr"/>
          <a:lstStyle/>
          <a:p>
            <a:pPr indent="0" marL="0">
              <a:lnSpc>
                <a:spcPct val="140000"/>
              </a:lnSpc>
              <a:buNone/>
            </a:pPr>
            <a:r>
              <a:rPr lang="en-US" sz="950" dirty="0">
                <a:solidFill>
                  <a:srgbClr val="8EB4C8"/>
                </a:solidFill>
                <a:latin typeface="Calibri" pitchFamily="34" charset="0"/>
                <a:ea typeface="Calibri" pitchFamily="34" charset="-122"/>
                <a:cs typeface="Calibri" pitchFamily="34" charset="-120"/>
              </a:rPr>
              <a:t>Adapter stubs already written. Twitter Filtered Stream for minister-tag alert. Twilio for IVR. Contract pattern means no core changes.</a:t>
            </a:r>
            <a:endParaRPr lang="en-US" sz="950" dirty="0"/>
          </a:p>
        </p:txBody>
      </p:sp>
      <p:sp>
        <p:nvSpPr>
          <p:cNvPr id="25" name="Shape 20"/>
          <p:cNvSpPr/>
          <p:nvPr/>
        </p:nvSpPr>
        <p:spPr>
          <a:xfrm>
            <a:off x="6876288" y="1152144"/>
            <a:ext cx="2029968" cy="2999232"/>
          </a:xfrm>
          <a:prstGeom prst="rect">
            <a:avLst/>
          </a:prstGeom>
          <a:solidFill>
            <a:srgbClr val="0A1628"/>
          </a:solidFill>
          <a:ln w="12700">
            <a:solidFill>
              <a:srgbClr val="2A4A6A"/>
            </a:solidFill>
            <a:prstDash val="solid"/>
          </a:ln>
        </p:spPr>
      </p:sp>
      <p:sp>
        <p:nvSpPr>
          <p:cNvPr id="26" name="Shape 21"/>
          <p:cNvSpPr/>
          <p:nvPr/>
        </p:nvSpPr>
        <p:spPr>
          <a:xfrm>
            <a:off x="7004304" y="1261872"/>
            <a:ext cx="475488" cy="475488"/>
          </a:xfrm>
          <a:prstGeom prst="ellipse">
            <a:avLst/>
          </a:prstGeom>
          <a:solidFill>
            <a:srgbClr val="F4A261"/>
          </a:solidFill>
          <a:ln w="12700">
            <a:solidFill>
              <a:srgbClr val="F4A261"/>
            </a:solidFill>
            <a:prstDash val="solid"/>
          </a:ln>
        </p:spPr>
      </p:sp>
      <p:pic>
        <p:nvPicPr>
          <p:cNvPr id="27" name="Image 3" descr="preencoded.png">    </p:cNvPr>
          <p:cNvPicPr>
            <a:picLocks noChangeAspect="1"/>
          </p:cNvPicPr>
          <p:nvPr/>
        </p:nvPicPr>
        <p:blipFill>
          <a:blip r:embed="rId4"/>
          <a:stretch>
            <a:fillRect/>
          </a:stretch>
        </p:blipFill>
        <p:spPr>
          <a:xfrm>
            <a:off x="7095744" y="1353312"/>
            <a:ext cx="292608" cy="292608"/>
          </a:xfrm>
          <a:prstGeom prst="rect">
            <a:avLst/>
          </a:prstGeom>
        </p:spPr>
      </p:pic>
      <p:sp>
        <p:nvSpPr>
          <p:cNvPr id="28" name="Shape 22"/>
          <p:cNvSpPr/>
          <p:nvPr/>
        </p:nvSpPr>
        <p:spPr>
          <a:xfrm>
            <a:off x="7004304" y="1828800"/>
            <a:ext cx="1371600" cy="237744"/>
          </a:xfrm>
          <a:prstGeom prst="roundRect">
            <a:avLst>
              <a:gd name="adj" fmla="val 50000"/>
            </a:avLst>
          </a:prstGeom>
          <a:solidFill>
            <a:srgbClr val="1A1030"/>
          </a:solidFill>
          <a:ln w="12700">
            <a:solidFill>
              <a:srgbClr val="8A6AFF"/>
            </a:solidFill>
            <a:prstDash val="solid"/>
          </a:ln>
        </p:spPr>
      </p:sp>
      <p:sp>
        <p:nvSpPr>
          <p:cNvPr id="29" name="Text 23"/>
          <p:cNvSpPr/>
          <p:nvPr/>
        </p:nvSpPr>
        <p:spPr>
          <a:xfrm>
            <a:off x="7004304" y="1847088"/>
            <a:ext cx="1371600" cy="201168"/>
          </a:xfrm>
          <a:prstGeom prst="rect">
            <a:avLst/>
          </a:prstGeom>
          <a:noFill/>
          <a:ln/>
        </p:spPr>
        <p:txBody>
          <a:bodyPr wrap="square" rtlCol="0" anchor="ctr"/>
          <a:lstStyle/>
          <a:p>
            <a:pPr algn="ctr" indent="0" marL="0">
              <a:buNone/>
            </a:pPr>
            <a:r>
              <a:rPr lang="en-US" sz="850" b="1" dirty="0">
                <a:solidFill>
                  <a:srgbClr val="8A6AFF"/>
                </a:solidFill>
                <a:latin typeface="Calibri" pitchFamily="34" charset="0"/>
                <a:ea typeface="Calibri" pitchFamily="34" charset="-122"/>
                <a:cs typeface="Calibri" pitchFamily="34" charset="-120"/>
              </a:rPr>
              <a:t>Phase 2</a:t>
            </a:r>
            <a:endParaRPr lang="en-US" sz="850" dirty="0"/>
          </a:p>
        </p:txBody>
      </p:sp>
      <p:sp>
        <p:nvSpPr>
          <p:cNvPr id="30" name="Text 24"/>
          <p:cNvSpPr/>
          <p:nvPr/>
        </p:nvSpPr>
        <p:spPr>
          <a:xfrm>
            <a:off x="7004304" y="2176272"/>
            <a:ext cx="1773936" cy="402336"/>
          </a:xfrm>
          <a:prstGeom prst="rect">
            <a:avLst/>
          </a:prstGeom>
          <a:noFill/>
          <a:ln/>
        </p:spPr>
        <p:txBody>
          <a:bodyPr wrap="square" rtlCol="0" anchor="ctr"/>
          <a:lstStyle/>
          <a:p>
            <a:pPr indent="0" marL="0">
              <a:lnSpc>
                <a:spcPct val="120000"/>
              </a:lnSpc>
              <a:buNone/>
            </a:pPr>
            <a:r>
              <a:rPr lang="en-US" sz="1100" b="1" dirty="0">
                <a:solidFill>
                  <a:srgbClr val="FFFFFF"/>
                </a:solidFill>
                <a:latin typeface="Calibri" pitchFamily="34" charset="0"/>
                <a:ea typeface="Calibri" pitchFamily="34" charset="-122"/>
                <a:cs typeface="Calibri" pitchFamily="34" charset="-120"/>
              </a:rPr>
              <a:t>Market strategy execution</a:t>
            </a:r>
            <a:endParaRPr lang="en-US" sz="1100" dirty="0"/>
          </a:p>
        </p:txBody>
      </p:sp>
      <p:sp>
        <p:nvSpPr>
          <p:cNvPr id="31" name="Text 25"/>
          <p:cNvSpPr/>
          <p:nvPr/>
        </p:nvSpPr>
        <p:spPr>
          <a:xfrm>
            <a:off x="7004304" y="2651760"/>
            <a:ext cx="1773936" cy="1389888"/>
          </a:xfrm>
          <a:prstGeom prst="rect">
            <a:avLst/>
          </a:prstGeom>
          <a:noFill/>
          <a:ln/>
        </p:spPr>
        <p:txBody>
          <a:bodyPr wrap="square" rtlCol="0" anchor="ctr"/>
          <a:lstStyle/>
          <a:p>
            <a:pPr indent="0" marL="0">
              <a:lnSpc>
                <a:spcPct val="140000"/>
              </a:lnSpc>
              <a:buNone/>
            </a:pPr>
            <a:r>
              <a:rPr lang="en-US" sz="950" dirty="0">
                <a:solidFill>
                  <a:srgbClr val="8EB4C8"/>
                </a:solidFill>
                <a:latin typeface="Calibri" pitchFamily="34" charset="0"/>
                <a:ea typeface="Calibri" pitchFamily="34" charset="-122"/>
                <a:cs typeface="Calibri" pitchFamily="34" charset="-120"/>
              </a:rPr>
              <a:t>IMS and DMS built via multi-agent review. Beachhead: Tamil Nadu govt utilities. Year 1 target: ₹25 lakhs ARR.</a:t>
            </a:r>
            <a:endParaRPr lang="en-US" sz="950" dirty="0"/>
          </a:p>
        </p:txBody>
      </p:sp>
      <p:sp>
        <p:nvSpPr>
          <p:cNvPr id="32" name="Shape 26"/>
          <p:cNvSpPr/>
          <p:nvPr/>
        </p:nvSpPr>
        <p:spPr>
          <a:xfrm>
            <a:off x="0" y="4297680"/>
            <a:ext cx="9144000" cy="850392"/>
          </a:xfrm>
          <a:prstGeom prst="rect">
            <a:avLst/>
          </a:prstGeom>
          <a:solidFill>
            <a:srgbClr val="0A2A30"/>
          </a:solidFill>
          <a:ln w="12700">
            <a:solidFill>
              <a:srgbClr val="028090"/>
            </a:solidFill>
            <a:prstDash val="solid"/>
          </a:ln>
        </p:spPr>
      </p:sp>
      <p:sp>
        <p:nvSpPr>
          <p:cNvPr id="33" name="Text 27"/>
          <p:cNvSpPr/>
          <p:nvPr/>
        </p:nvSpPr>
        <p:spPr>
          <a:xfrm>
            <a:off x="457200" y="4407408"/>
            <a:ext cx="8229600" cy="512064"/>
          </a:xfrm>
          <a:prstGeom prst="rect">
            <a:avLst/>
          </a:prstGeom>
          <a:noFill/>
          <a:ln/>
        </p:spPr>
        <p:txBody>
          <a:bodyPr wrap="square" rtlCol="0" anchor="ctr"/>
          <a:lstStyle/>
          <a:p>
            <a:pPr algn="ctr" indent="0" marL="0">
              <a:lnSpc>
                <a:spcPct val="130000"/>
              </a:lnSpc>
              <a:buNone/>
            </a:pPr>
            <a:r>
              <a:rPr lang="en-US" sz="1300" b="1" dirty="0">
                <a:solidFill>
                  <a:srgbClr val="02C39A"/>
                </a:solidFill>
                <a:latin typeface="Calibri" pitchFamily="34" charset="0"/>
                <a:ea typeface="Calibri" pitchFamily="34" charset="-122"/>
                <a:cs typeface="Calibri" pitchFamily="34" charset="-120"/>
              </a:rPr>
              <a:t>The product is live. The architecture is extensible. The market strategy is documented. What it needs now is a first paying customer.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200400" y="457200"/>
            <a:ext cx="2743200" cy="2743200"/>
          </a:xfrm>
          <a:prstGeom prst="ellipse">
            <a:avLst/>
          </a:prstGeom>
          <a:solidFill>
            <a:srgbClr val="028090">
              <a:alpha val="15000"/>
            </a:srgbClr>
          </a:solidFill>
          <a:ln w="12700">
            <a:solidFill>
              <a:srgbClr val="02C39A"/>
            </a:solidFill>
            <a:prstDash val="solid"/>
          </a:ln>
        </p:spPr>
      </p:sp>
      <p:sp>
        <p:nvSpPr>
          <p:cNvPr id="3" name="Shape 1"/>
          <p:cNvSpPr/>
          <p:nvPr/>
        </p:nvSpPr>
        <p:spPr>
          <a:xfrm>
            <a:off x="3840480" y="1005840"/>
            <a:ext cx="1463040" cy="1463040"/>
          </a:xfrm>
          <a:prstGeom prst="ellipse">
            <a:avLst/>
          </a:prstGeom>
          <a:solidFill>
            <a:srgbClr val="028090">
              <a:alpha val="30000"/>
            </a:srgbClr>
          </a:solidFill>
          <a:ln w="12700">
            <a:solidFill>
              <a:srgbClr val="02C39A"/>
            </a:solidFill>
            <a:prstDash val="solid"/>
          </a:ln>
        </p:spPr>
      </p:sp>
      <p:pic>
        <p:nvPicPr>
          <p:cNvPr id="4" name="Image 0" descr="preencoded.png">    </p:cNvPr>
          <p:cNvPicPr>
            <a:picLocks noChangeAspect="1"/>
          </p:cNvPicPr>
          <p:nvPr/>
        </p:nvPicPr>
        <p:blipFill>
          <a:blip r:embed="rId1"/>
          <a:stretch>
            <a:fillRect/>
          </a:stretch>
        </p:blipFill>
        <p:spPr>
          <a:xfrm>
            <a:off x="4160520" y="1325880"/>
            <a:ext cx="822960" cy="822960"/>
          </a:xfrm>
          <a:prstGeom prst="rect">
            <a:avLst/>
          </a:prstGeom>
        </p:spPr>
      </p:pic>
      <p:sp>
        <p:nvSpPr>
          <p:cNvPr id="5" name="Text 2"/>
          <p:cNvSpPr/>
          <p:nvPr/>
        </p:nvSpPr>
        <p:spPr>
          <a:xfrm>
            <a:off x="914400" y="2103120"/>
            <a:ext cx="7315200" cy="91440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Live Demo</a:t>
            </a:r>
            <a:endParaRPr lang="en-US" sz="5200" dirty="0"/>
          </a:p>
        </p:txBody>
      </p:sp>
      <p:sp>
        <p:nvSpPr>
          <p:cNvPr id="6" name="Text 3"/>
          <p:cNvSpPr/>
          <p:nvPr/>
        </p:nvSpPr>
        <p:spPr>
          <a:xfrm>
            <a:off x="914400" y="3017520"/>
            <a:ext cx="7315200" cy="420624"/>
          </a:xfrm>
          <a:prstGeom prst="rect">
            <a:avLst/>
          </a:prstGeom>
          <a:noFill/>
          <a:ln/>
        </p:spPr>
        <p:txBody>
          <a:bodyPr wrap="square" rtlCol="0" anchor="ctr"/>
          <a:lstStyle/>
          <a:p>
            <a:pPr algn="ctr" indent="0" marL="0">
              <a:buNone/>
            </a:pPr>
            <a:r>
              <a:rPr lang="en-US" sz="2200" dirty="0">
                <a:solidFill>
                  <a:srgbClr val="02C39A"/>
                </a:solidFill>
                <a:latin typeface="Calibri" pitchFamily="34" charset="0"/>
                <a:ea typeface="Calibri" pitchFamily="34" charset="-122"/>
                <a:cs typeface="Calibri" pitchFamily="34" charset="-120"/>
              </a:rPr>
              <a:t>15 minutes</a:t>
            </a:r>
            <a:endParaRPr lang="en-US" sz="2200" dirty="0"/>
          </a:p>
        </p:txBody>
      </p:sp>
      <p:sp>
        <p:nvSpPr>
          <p:cNvPr id="7" name="Text 4"/>
          <p:cNvSpPr/>
          <p:nvPr/>
        </p:nvSpPr>
        <p:spPr>
          <a:xfrm>
            <a:off x="1371600" y="3584448"/>
            <a:ext cx="6400800" cy="237744"/>
          </a:xfrm>
          <a:prstGeom prst="rect">
            <a:avLst/>
          </a:prstGeom>
          <a:noFill/>
          <a:ln/>
        </p:spPr>
        <p:txBody>
          <a:bodyPr wrap="square" rtlCol="0" anchor="ctr"/>
          <a:lstStyle/>
          <a:p>
            <a:pPr indent="0" marL="0">
              <a:buNone/>
            </a:pPr>
            <a:r>
              <a:rPr lang="en-US" sz="1100" dirty="0">
                <a:solidFill>
                  <a:srgbClr val="8EB4C8"/>
                </a:solidFill>
                <a:latin typeface="Calibri" pitchFamily="34" charset="0"/>
                <a:ea typeface="Calibri" pitchFamily="34" charset="-122"/>
                <a:cs typeface="Calibri" pitchFamily="34" charset="-120"/>
              </a:rPr>
              <a:t>▸  WhatsApp message arrives → AI identity gate → ticket created</a:t>
            </a:r>
            <a:endParaRPr lang="en-US" sz="1100" dirty="0"/>
          </a:p>
        </p:txBody>
      </p:sp>
      <p:sp>
        <p:nvSpPr>
          <p:cNvPr id="8" name="Text 5"/>
          <p:cNvSpPr/>
          <p:nvPr/>
        </p:nvSpPr>
        <p:spPr>
          <a:xfrm>
            <a:off x="1371600" y="3858768"/>
            <a:ext cx="6400800" cy="237744"/>
          </a:xfrm>
          <a:prstGeom prst="rect">
            <a:avLst/>
          </a:prstGeom>
          <a:noFill/>
          <a:ln/>
        </p:spPr>
        <p:txBody>
          <a:bodyPr wrap="square" rtlCol="0" anchor="ctr"/>
          <a:lstStyle/>
          <a:p>
            <a:pPr indent="0" marL="0">
              <a:buNone/>
            </a:pPr>
            <a:r>
              <a:rPr lang="en-US" sz="1100" dirty="0">
                <a:solidFill>
                  <a:srgbClr val="8EB4C8"/>
                </a:solidFill>
                <a:latin typeface="Calibri" pitchFamily="34" charset="0"/>
                <a:ea typeface="Calibri" pitchFamily="34" charset="-122"/>
                <a:cs typeface="Calibri" pitchFamily="34" charset="-120"/>
              </a:rPr>
              <a:t>▸  Agent dashboard: priority queue, ticket detail, notes timeline</a:t>
            </a:r>
            <a:endParaRPr lang="en-US" sz="1100" dirty="0"/>
          </a:p>
        </p:txBody>
      </p:sp>
      <p:sp>
        <p:nvSpPr>
          <p:cNvPr id="9" name="Text 6"/>
          <p:cNvSpPr/>
          <p:nvPr/>
        </p:nvSpPr>
        <p:spPr>
          <a:xfrm>
            <a:off x="1371600" y="4133088"/>
            <a:ext cx="6400800" cy="237744"/>
          </a:xfrm>
          <a:prstGeom prst="rect">
            <a:avLst/>
          </a:prstGeom>
          <a:noFill/>
          <a:ln/>
        </p:spPr>
        <p:txBody>
          <a:bodyPr wrap="square" rtlCol="0" anchor="ctr"/>
          <a:lstStyle/>
          <a:p>
            <a:pPr indent="0" marL="0">
              <a:buNone/>
            </a:pPr>
            <a:r>
              <a:rPr lang="en-US" sz="1100" dirty="0">
                <a:solidFill>
                  <a:srgbClr val="8EB4C8"/>
                </a:solidFill>
                <a:latin typeface="Calibri" pitchFamily="34" charset="0"/>
                <a:ea typeface="Calibri" pitchFamily="34" charset="-122"/>
                <a:cs typeface="Calibri" pitchFamily="34" charset="-120"/>
              </a:rPr>
              <a:t>▸  AI embedded: classification, resolution summary generation</a:t>
            </a:r>
            <a:endParaRPr lang="en-US" sz="1100" dirty="0"/>
          </a:p>
        </p:txBody>
      </p:sp>
      <p:sp>
        <p:nvSpPr>
          <p:cNvPr id="10" name="Text 7"/>
          <p:cNvSpPr/>
          <p:nvPr/>
        </p:nvSpPr>
        <p:spPr>
          <a:xfrm>
            <a:off x="1371600" y="4407408"/>
            <a:ext cx="6400800" cy="237744"/>
          </a:xfrm>
          <a:prstGeom prst="rect">
            <a:avLst/>
          </a:prstGeom>
          <a:noFill/>
          <a:ln/>
        </p:spPr>
        <p:txBody>
          <a:bodyPr wrap="square" rtlCol="0" anchor="ctr"/>
          <a:lstStyle/>
          <a:p>
            <a:pPr indent="0" marL="0">
              <a:buNone/>
            </a:pPr>
            <a:r>
              <a:rPr lang="en-US" sz="1100" dirty="0">
                <a:solidFill>
                  <a:srgbClr val="8EB4C8"/>
                </a:solidFill>
                <a:latin typeface="Calibri" pitchFamily="34" charset="0"/>
                <a:ea typeface="Calibri" pitchFamily="34" charset="-122"/>
                <a:cs typeface="Calibri" pitchFamily="34" charset="-120"/>
              </a:rPr>
              <a:t>▸  Configurability: intake fields, priority rubric, admin panel</a:t>
            </a:r>
            <a:endParaRPr lang="en-US" sz="1100" dirty="0"/>
          </a:p>
        </p:txBody>
      </p:sp>
      <p:sp>
        <p:nvSpPr>
          <p:cNvPr id="11" name="Shape 8"/>
          <p:cNvSpPr/>
          <p:nvPr/>
        </p:nvSpPr>
        <p:spPr>
          <a:xfrm>
            <a:off x="0" y="4754880"/>
            <a:ext cx="9144000" cy="388620"/>
          </a:xfrm>
          <a:prstGeom prst="rect">
            <a:avLst/>
          </a:prstGeom>
          <a:solidFill>
            <a:srgbClr val="028090"/>
          </a:solidFill>
          <a:ln w="12700">
            <a:solidFill>
              <a:srgbClr val="028090"/>
            </a:solidFill>
            <a:prstDash val="solid"/>
          </a:ln>
        </p:spPr>
      </p:sp>
      <p:sp>
        <p:nvSpPr>
          <p:cNvPr id="12" name="Text 9"/>
          <p:cNvSpPr/>
          <p:nvPr/>
        </p:nvSpPr>
        <p:spPr>
          <a:xfrm>
            <a:off x="365760" y="4791456"/>
            <a:ext cx="841248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uniserv-delta.vercel.app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UniServe — From Idea to Production</dc:title>
  <dc:subject>PptxGenJS Presentation</dc:subject>
  <dc:creator>PptxGenJS</dc:creator>
  <cp:lastModifiedBy>PptxGenJS</cp:lastModifiedBy>
  <cp:revision>1</cp:revision>
  <dcterms:created xsi:type="dcterms:W3CDTF">2026-08-03T08:55:24Z</dcterms:created>
  <dcterms:modified xsi:type="dcterms:W3CDTF">2026-08-03T08:55:24Z</dcterms:modified>
</cp:coreProperties>
</file>