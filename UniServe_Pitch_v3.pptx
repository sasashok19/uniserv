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h/ZuXIhfR0D6R9kmWjG+IQD028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customschemas.google.com/relationships/presentationmetadata" Target="metadata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ee1e65c604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g3ee1e65c60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g3ee1e65c604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9" name="Google Shape;30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2" name="Google Shape;35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1" name="Google Shape;49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.png"/><Relationship Id="rId6" Type="http://schemas.openxmlformats.org/officeDocument/2006/relationships/image" Target="../media/image31.png"/><Relationship Id="rId7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.png"/><Relationship Id="rId6" Type="http://schemas.openxmlformats.org/officeDocument/2006/relationships/image" Target="../media/image31.png"/><Relationship Id="rId7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50.png"/><Relationship Id="rId10" Type="http://schemas.openxmlformats.org/officeDocument/2006/relationships/image" Target="../media/image4.png"/><Relationship Id="rId13" Type="http://schemas.openxmlformats.org/officeDocument/2006/relationships/image" Target="../media/image18.png"/><Relationship Id="rId1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5.png"/><Relationship Id="rId4" Type="http://schemas.openxmlformats.org/officeDocument/2006/relationships/image" Target="../media/image23.png"/><Relationship Id="rId9" Type="http://schemas.openxmlformats.org/officeDocument/2006/relationships/image" Target="../media/image31.png"/><Relationship Id="rId14" Type="http://schemas.openxmlformats.org/officeDocument/2006/relationships/image" Target="../media/image15.png"/><Relationship Id="rId5" Type="http://schemas.openxmlformats.org/officeDocument/2006/relationships/image" Target="../media/image27.png"/><Relationship Id="rId6" Type="http://schemas.openxmlformats.org/officeDocument/2006/relationships/image" Target="../media/image3.png"/><Relationship Id="rId7" Type="http://schemas.openxmlformats.org/officeDocument/2006/relationships/image" Target="../media/image10.png"/><Relationship Id="rId8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0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9.png"/><Relationship Id="rId9" Type="http://schemas.openxmlformats.org/officeDocument/2006/relationships/image" Target="../media/image50.png"/><Relationship Id="rId5" Type="http://schemas.openxmlformats.org/officeDocument/2006/relationships/image" Target="../media/image15.png"/><Relationship Id="rId6" Type="http://schemas.openxmlformats.org/officeDocument/2006/relationships/image" Target="../media/image29.png"/><Relationship Id="rId7" Type="http://schemas.openxmlformats.org/officeDocument/2006/relationships/image" Target="../media/image18.png"/><Relationship Id="rId8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4.png"/><Relationship Id="rId4" Type="http://schemas.openxmlformats.org/officeDocument/2006/relationships/image" Target="../media/image60.png"/><Relationship Id="rId5" Type="http://schemas.openxmlformats.org/officeDocument/2006/relationships/image" Target="../media/image3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2.png"/><Relationship Id="rId4" Type="http://schemas.openxmlformats.org/officeDocument/2006/relationships/image" Target="../media/image37.png"/><Relationship Id="rId5" Type="http://schemas.openxmlformats.org/officeDocument/2006/relationships/image" Target="../media/image49.png"/><Relationship Id="rId6" Type="http://schemas.openxmlformats.org/officeDocument/2006/relationships/image" Target="../media/image44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56.png"/><Relationship Id="rId10" Type="http://schemas.openxmlformats.org/officeDocument/2006/relationships/image" Target="../media/image65.png"/><Relationship Id="rId13" Type="http://schemas.openxmlformats.org/officeDocument/2006/relationships/image" Target="../media/image50.png"/><Relationship Id="rId1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9" Type="http://schemas.openxmlformats.org/officeDocument/2006/relationships/image" Target="../media/image44.png"/><Relationship Id="rId14" Type="http://schemas.openxmlformats.org/officeDocument/2006/relationships/image" Target="../media/image72.png"/><Relationship Id="rId5" Type="http://schemas.openxmlformats.org/officeDocument/2006/relationships/image" Target="../media/image16.png"/><Relationship Id="rId6" Type="http://schemas.openxmlformats.org/officeDocument/2006/relationships/image" Target="../media/image31.png"/><Relationship Id="rId7" Type="http://schemas.openxmlformats.org/officeDocument/2006/relationships/image" Target="../media/image4.png"/><Relationship Id="rId8" Type="http://schemas.openxmlformats.org/officeDocument/2006/relationships/image" Target="../media/image5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ee1e65c604_0_0"/>
          <p:cNvSpPr/>
          <p:nvPr/>
        </p:nvSpPr>
        <p:spPr>
          <a:xfrm>
            <a:off x="6217920" y="-1280160"/>
            <a:ext cx="4206300" cy="4206300"/>
          </a:xfrm>
          <a:prstGeom prst="ellipse">
            <a:avLst/>
          </a:prstGeom>
          <a:solidFill>
            <a:srgbClr val="028090">
              <a:alpha val="12160"/>
            </a:srgbClr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g3ee1e65c604_0_0"/>
          <p:cNvSpPr/>
          <p:nvPr/>
        </p:nvSpPr>
        <p:spPr>
          <a:xfrm>
            <a:off x="7040880" y="-457200"/>
            <a:ext cx="2377500" cy="2377500"/>
          </a:xfrm>
          <a:prstGeom prst="ellipse">
            <a:avLst/>
          </a:prstGeom>
          <a:solidFill>
            <a:srgbClr val="028090">
              <a:alpha val="21960"/>
            </a:srgbClr>
          </a:solidFill>
          <a:ln cap="flat" cmpd="sng" w="952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g3ee1e65c604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0" y="256032"/>
            <a:ext cx="384048" cy="3840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9" name="Google Shape;19;g3ee1e65c604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18120" y="548640"/>
            <a:ext cx="384048" cy="3840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0" name="Google Shape;20;g3ee1e65c604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95360" y="201168"/>
            <a:ext cx="384048" cy="3840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1" name="Google Shape;21;g3ee1e65c604_0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32520" y="960120"/>
            <a:ext cx="384048" cy="3840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2" name="Google Shape;22;g3ee1e65c604_0_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498080" y="117043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g3ee1e65c604_0_0"/>
          <p:cNvSpPr/>
          <p:nvPr/>
        </p:nvSpPr>
        <p:spPr>
          <a:xfrm>
            <a:off x="502920" y="384048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EB4C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8EB4C8"/>
                </a:solidFill>
                <a:latin typeface="Calibri"/>
                <a:ea typeface="Calibri"/>
                <a:cs typeface="Calibri"/>
                <a:sym typeface="Calibri"/>
              </a:rPr>
              <a:t>CAPSTONE PROJECT PROPOSAL  ·  IIT PRAVARTAK  ·  JUNE 2025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g3ee1e65c604_0_0"/>
          <p:cNvSpPr/>
          <p:nvPr/>
        </p:nvSpPr>
        <p:spPr>
          <a:xfrm>
            <a:off x="502920" y="768096"/>
            <a:ext cx="5943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200"/>
              <a:buFont typeface="Cambria"/>
              <a:buNone/>
            </a:pPr>
            <a:r>
              <a:rPr b="1" i="0" lang="en-US" sz="6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UniServe</a:t>
            </a:r>
            <a:endParaRPr b="0" i="0" sz="6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g3ee1e65c604_0_0"/>
          <p:cNvSpPr/>
          <p:nvPr/>
        </p:nvSpPr>
        <p:spPr>
          <a:xfrm>
            <a:off x="502920" y="1737360"/>
            <a:ext cx="6583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AI-Powered Unified Complaint &amp; Feedback Portal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g3ee1e65c604_0_0"/>
          <p:cNvSpPr/>
          <p:nvPr/>
        </p:nvSpPr>
        <p:spPr>
          <a:xfrm>
            <a:off x="502920" y="2304288"/>
            <a:ext cx="1371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●  ●  ●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g3ee1e65c604_0_0"/>
          <p:cNvSpPr/>
          <p:nvPr/>
        </p:nvSpPr>
        <p:spPr>
          <a:xfrm>
            <a:off x="502920" y="2578608"/>
            <a:ext cx="5029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EB4C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8EB4C8"/>
                </a:solidFill>
                <a:latin typeface="Calibri"/>
                <a:ea typeface="Calibri"/>
                <a:cs typeface="Calibri"/>
                <a:sym typeface="Calibri"/>
              </a:rPr>
              <a:t>What this presentation covers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g3ee1e65c604_0_0"/>
          <p:cNvSpPr/>
          <p:nvPr/>
        </p:nvSpPr>
        <p:spPr>
          <a:xfrm>
            <a:off x="502920" y="2944368"/>
            <a:ext cx="82200" cy="82200"/>
          </a:xfrm>
          <a:prstGeom prst="ellipse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g3ee1e65c604_0_0"/>
          <p:cNvSpPr/>
          <p:nvPr/>
        </p:nvSpPr>
        <p:spPr>
          <a:xfrm>
            <a:off x="667512" y="2944368"/>
            <a:ext cx="530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The real problem — observed firsthand at TNEB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g3ee1e65c604_0_0"/>
          <p:cNvSpPr/>
          <p:nvPr/>
        </p:nvSpPr>
        <p:spPr>
          <a:xfrm>
            <a:off x="502920" y="3264408"/>
            <a:ext cx="82200" cy="82200"/>
          </a:xfrm>
          <a:prstGeom prst="ellipse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g3ee1e65c604_0_0"/>
          <p:cNvSpPr/>
          <p:nvPr/>
        </p:nvSpPr>
        <p:spPr>
          <a:xfrm>
            <a:off x="667512" y="3264408"/>
            <a:ext cx="530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Why existing tools leave the gap open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g3ee1e65c604_0_0"/>
          <p:cNvSpPr/>
          <p:nvPr/>
        </p:nvSpPr>
        <p:spPr>
          <a:xfrm>
            <a:off x="502920" y="3584448"/>
            <a:ext cx="82200" cy="82200"/>
          </a:xfrm>
          <a:prstGeom prst="ellipse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g3ee1e65c604_0_0"/>
          <p:cNvSpPr/>
          <p:nvPr/>
        </p:nvSpPr>
        <p:spPr>
          <a:xfrm>
            <a:off x="667512" y="3584448"/>
            <a:ext cx="530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The UniServe solution — how it works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g3ee1e65c604_0_0"/>
          <p:cNvSpPr/>
          <p:nvPr/>
        </p:nvSpPr>
        <p:spPr>
          <a:xfrm>
            <a:off x="502920" y="3904488"/>
            <a:ext cx="82200" cy="82200"/>
          </a:xfrm>
          <a:prstGeom prst="ellipse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g3ee1e65c604_0_0"/>
          <p:cNvSpPr/>
          <p:nvPr/>
        </p:nvSpPr>
        <p:spPr>
          <a:xfrm>
            <a:off x="667512" y="3904488"/>
            <a:ext cx="530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Who it serves and how it scales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g3ee1e65c604_0_0"/>
          <p:cNvSpPr/>
          <p:nvPr/>
        </p:nvSpPr>
        <p:spPr>
          <a:xfrm>
            <a:off x="502920" y="4224528"/>
            <a:ext cx="82200" cy="82200"/>
          </a:xfrm>
          <a:prstGeom prst="ellipse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g3ee1e65c604_0_0"/>
          <p:cNvSpPr/>
          <p:nvPr/>
        </p:nvSpPr>
        <p:spPr>
          <a:xfrm>
            <a:off x="667512" y="4224528"/>
            <a:ext cx="5303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Business case, ROI, and the path to market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g3ee1e65c604_0_0"/>
          <p:cNvSpPr/>
          <p:nvPr/>
        </p:nvSpPr>
        <p:spPr>
          <a:xfrm>
            <a:off x="0" y="4462272"/>
            <a:ext cx="9144000" cy="681300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g3ee1e65c604_0_0"/>
          <p:cNvSpPr/>
          <p:nvPr/>
        </p:nvSpPr>
        <p:spPr>
          <a:xfrm>
            <a:off x="1097280" y="4480560"/>
            <a:ext cx="2011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10 min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g3ee1e65c604_0_0"/>
          <p:cNvSpPr/>
          <p:nvPr/>
        </p:nvSpPr>
        <p:spPr>
          <a:xfrm>
            <a:off x="1097280" y="4800600"/>
            <a:ext cx="20118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F0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F0F5"/>
                </a:solidFill>
                <a:latin typeface="Calibri"/>
                <a:ea typeface="Calibri"/>
                <a:cs typeface="Calibri"/>
                <a:sym typeface="Calibri"/>
              </a:rPr>
              <a:t>presentation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g3ee1e65c604_0_0"/>
          <p:cNvSpPr/>
          <p:nvPr/>
        </p:nvSpPr>
        <p:spPr>
          <a:xfrm>
            <a:off x="3749040" y="4480560"/>
            <a:ext cx="2011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 min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g3ee1e65c604_0_0"/>
          <p:cNvSpPr/>
          <p:nvPr/>
        </p:nvSpPr>
        <p:spPr>
          <a:xfrm>
            <a:off x="3749040" y="4800600"/>
            <a:ext cx="20118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F0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F0F5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g3ee1e65c604_0_0"/>
          <p:cNvSpPr/>
          <p:nvPr/>
        </p:nvSpPr>
        <p:spPr>
          <a:xfrm>
            <a:off x="6400800" y="4480560"/>
            <a:ext cx="2011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g3ee1e65c604_0_0"/>
          <p:cNvSpPr/>
          <p:nvPr/>
        </p:nvSpPr>
        <p:spPr>
          <a:xfrm>
            <a:off x="6400800" y="4800600"/>
            <a:ext cx="20118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F0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F0F5"/>
                </a:solidFill>
                <a:latin typeface="Calibri"/>
                <a:ea typeface="Calibri"/>
                <a:cs typeface="Calibri"/>
                <a:sym typeface="Calibri"/>
              </a:rPr>
              <a:t>channels unified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B47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1"/>
          <p:cNvSpPr/>
          <p:nvPr/>
        </p:nvSpPr>
        <p:spPr>
          <a:xfrm>
            <a:off x="6035040" y="-1188720"/>
            <a:ext cx="4389120" cy="4389120"/>
          </a:xfrm>
          <a:prstGeom prst="ellipse">
            <a:avLst/>
          </a:prstGeom>
          <a:solidFill>
            <a:srgbClr val="1E2761">
              <a:alpha val="60000"/>
            </a:srgbClr>
          </a:solidFill>
          <a:ln cap="flat" cmpd="sng" w="1905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028090">
              <a:alpha val="40000"/>
            </a:srgbClr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" name="Google Shape;5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3680" y="164592"/>
            <a:ext cx="402336" cy="4023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4" name="Google Shape;54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35240" y="457200"/>
            <a:ext cx="402336" cy="4023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5" name="Google Shape;55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8200" y="109728"/>
            <a:ext cx="402336" cy="4023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6" name="Google Shape;56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32520" y="960120"/>
            <a:ext cx="402336" cy="4023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7" name="Google Shape;57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23760" y="1143000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"/>
          <p:cNvSpPr/>
          <p:nvPr/>
        </p:nvSpPr>
        <p:spPr>
          <a:xfrm>
            <a:off x="347472" y="384048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GROUNDED IN A REAL OBSERVATION · TNEB CUSTOMER CARE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"/>
          <p:cNvSpPr/>
          <p:nvPr/>
        </p:nvSpPr>
        <p:spPr>
          <a:xfrm>
            <a:off x="347472" y="694944"/>
            <a:ext cx="603504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Priya manages 200+ complaints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Georgia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 day. Five tools. Zero connection.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"/>
          <p:cNvSpPr/>
          <p:nvPr/>
        </p:nvSpPr>
        <p:spPr>
          <a:xfrm>
            <a:off x="347472" y="2304288"/>
            <a:ext cx="5852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We spent time with her team — and with TNEB's Twitter monitoring desk.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What we found became UniServe.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"/>
          <p:cNvSpPr/>
          <p:nvPr/>
        </p:nvSpPr>
        <p:spPr>
          <a:xfrm>
            <a:off x="347472" y="3145536"/>
            <a:ext cx="1280160" cy="36576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"/>
          <p:cNvSpPr/>
          <p:nvPr/>
        </p:nvSpPr>
        <p:spPr>
          <a:xfrm>
            <a:off x="347472" y="3310128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CAPSTONE PROJECT  ·  AI-POWERED COMPLAINT PORTAL  ·  JUNE 2025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"/>
          <p:cNvSpPr/>
          <p:nvPr/>
        </p:nvSpPr>
        <p:spPr>
          <a:xfrm>
            <a:off x="640080" y="4480560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200+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"/>
          <p:cNvSpPr/>
          <p:nvPr/>
        </p:nvSpPr>
        <p:spPr>
          <a:xfrm>
            <a:off x="640080" y="4809744"/>
            <a:ext cx="2194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complaints/day at one utility desk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"/>
          <p:cNvSpPr/>
          <p:nvPr/>
        </p:nvSpPr>
        <p:spPr>
          <a:xfrm>
            <a:off x="3474720" y="4480560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15 min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"/>
          <p:cNvSpPr/>
          <p:nvPr/>
        </p:nvSpPr>
        <p:spPr>
          <a:xfrm>
            <a:off x="3474720" y="4809744"/>
            <a:ext cx="2194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window before a minister-tagged tweet trends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"/>
          <p:cNvSpPr/>
          <p:nvPr/>
        </p:nvSpPr>
        <p:spPr>
          <a:xfrm>
            <a:off x="6309360" y="4480560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"/>
          <p:cNvSpPr/>
          <p:nvPr/>
        </p:nvSpPr>
        <p:spPr>
          <a:xfrm>
            <a:off x="6309360" y="4809744"/>
            <a:ext cx="2194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tickets created with missing info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"/>
          <p:cNvSpPr/>
          <p:nvPr/>
        </p:nvSpPr>
        <p:spPr>
          <a:xfrm>
            <a:off x="0" y="0"/>
            <a:ext cx="3364992" cy="514350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"/>
          <p:cNvSpPr/>
          <p:nvPr/>
        </p:nvSpPr>
        <p:spPr>
          <a:xfrm>
            <a:off x="201168" y="274320"/>
            <a:ext cx="29260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Georg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FROM THE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Georg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FIELD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228600" y="1463040"/>
            <a:ext cx="822960" cy="36576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228600" y="1572768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TWO PEOPLE. ONE BROKEN SYSTEM.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9" name="Google Shape;7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0" y="188366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2"/>
          <p:cNvSpPr/>
          <p:nvPr/>
        </p:nvSpPr>
        <p:spPr>
          <a:xfrm>
            <a:off x="566928" y="1901952"/>
            <a:ext cx="25603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Customer Care Lead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1" name="Google Shape;8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8600" y="219456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2"/>
          <p:cNvSpPr/>
          <p:nvPr/>
        </p:nvSpPr>
        <p:spPr>
          <a:xfrm>
            <a:off x="475488" y="2157984"/>
            <a:ext cx="2697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We get the same complaint on WhatsApp, IVR and email — three tickets, three agents, nobody knows it is the same person.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228600" y="2926080"/>
            <a:ext cx="2907792" cy="18288"/>
          </a:xfrm>
          <a:prstGeom prst="rect">
            <a:avLst/>
          </a:prstGeom>
          <a:solidFill>
            <a:srgbClr val="2D3A80"/>
          </a:solidFill>
          <a:ln cap="flat" cmpd="sng" w="12700">
            <a:solidFill>
              <a:srgbClr val="2D3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4" name="Google Shape;8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28600" y="30175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2"/>
          <p:cNvSpPr/>
          <p:nvPr/>
        </p:nvSpPr>
        <p:spPr>
          <a:xfrm>
            <a:off x="566928" y="3035808"/>
            <a:ext cx="25603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Social Media Monitor, TNEB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6" name="Google Shape;86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8600" y="33101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"/>
          <p:cNvSpPr/>
          <p:nvPr/>
        </p:nvSpPr>
        <p:spPr>
          <a:xfrm>
            <a:off x="475488" y="3273552"/>
            <a:ext cx="2697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If a complaint tags the Minister's handle and we don't respond in 15 minutes, it trends. I watch Twitter manually. All day. There is no alert system.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8" name="Google Shape;88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82880" y="4736592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89" name="Google Shape;89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8952" y="4736592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90" name="Google Shape;90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335024" y="4736592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91" name="Google Shape;91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911096" y="4736592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92" name="Google Shape;92;p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487168" y="473659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"/>
          <p:cNvSpPr/>
          <p:nvPr/>
        </p:nvSpPr>
        <p:spPr>
          <a:xfrm>
            <a:off x="3547872" y="182880"/>
            <a:ext cx="2542032" cy="2286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3547872" y="182880"/>
            <a:ext cx="2542032" cy="54864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5" name="Google Shape;95;p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675888" y="3474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"/>
          <p:cNvSpPr/>
          <p:nvPr/>
        </p:nvSpPr>
        <p:spPr>
          <a:xfrm>
            <a:off x="3675888" y="777240"/>
            <a:ext cx="23408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Fragmented channels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3675888" y="1115568"/>
            <a:ext cx="2340864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Same complaint via WhatsApp + IVR + email creates 3 tickets across 3 agents. No one connects the dots.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3547872" y="2048256"/>
            <a:ext cx="2542032" cy="420624"/>
          </a:xfrm>
          <a:prstGeom prst="rect">
            <a:avLst/>
          </a:prstGeom>
          <a:solidFill>
            <a:srgbClr val="0D1540"/>
          </a:solidFill>
          <a:ln cap="flat" cmpd="sng" w="12700">
            <a:solidFill>
              <a:srgbClr val="0D1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3547872" y="2048256"/>
            <a:ext cx="45720" cy="420624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3639312" y="2084832"/>
            <a:ext cx="24140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⚡ Observed: manual dedup takes 2 hrs/day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6272784" y="182880"/>
            <a:ext cx="2542032" cy="2286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272784" y="182880"/>
            <a:ext cx="2542032" cy="54864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6272784" y="182880"/>
            <a:ext cx="2542032" cy="2286000"/>
          </a:xfrm>
          <a:prstGeom prst="rect">
            <a:avLst/>
          </a:prstGeom>
          <a:solidFill>
            <a:srgbClr val="FFF5F5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4" name="Google Shape;104;p2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00800" y="3474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"/>
          <p:cNvSpPr/>
          <p:nvPr/>
        </p:nvSpPr>
        <p:spPr>
          <a:xfrm>
            <a:off x="6400800" y="777240"/>
            <a:ext cx="23408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Twitter = a public ticking clock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1115568"/>
            <a:ext cx="2340864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A tweet tagging the Minister of Electricity left unanswered for 30 mins can trend statewide. Today: one person watches manually — no automated alert, no escalation path.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6272784" y="2048256"/>
            <a:ext cx="2542032" cy="420624"/>
          </a:xfrm>
          <a:prstGeom prst="rect">
            <a:avLst/>
          </a:prstGeom>
          <a:solidFill>
            <a:srgbClr val="3D0000"/>
          </a:solidFill>
          <a:ln cap="flat" cmpd="sng" w="12700">
            <a:solidFill>
              <a:srgbClr val="3D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6272784" y="2048256"/>
            <a:ext cx="45720" cy="420624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6364224" y="2084832"/>
            <a:ext cx="24140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⚡ 15-min window before it escalates publicly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3547872" y="2615184"/>
            <a:ext cx="2542032" cy="2286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3547872" y="2615184"/>
            <a:ext cx="2542032" cy="54864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2" name="Google Shape;112;p2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675888" y="2779776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"/>
          <p:cNvSpPr/>
          <p:nvPr/>
        </p:nvSpPr>
        <p:spPr>
          <a:xfrm>
            <a:off x="3675888" y="3209544"/>
            <a:ext cx="23408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Agents flying blind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3675888" y="3547872"/>
            <a:ext cx="2340864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No single view of a customer's full history. Supervisors learn about escalations only when the customer tweets publicly.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3547872" y="4480560"/>
            <a:ext cx="2542032" cy="420624"/>
          </a:xfrm>
          <a:prstGeom prst="rect">
            <a:avLst/>
          </a:prstGeom>
          <a:solidFill>
            <a:srgbClr val="0D1540"/>
          </a:solidFill>
          <a:ln cap="flat" cmpd="sng" w="12700">
            <a:solidFill>
              <a:srgbClr val="0D1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"/>
          <p:cNvSpPr/>
          <p:nvPr/>
        </p:nvSpPr>
        <p:spPr>
          <a:xfrm>
            <a:off x="3547872" y="4480560"/>
            <a:ext cx="45720" cy="420624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2"/>
          <p:cNvSpPr/>
          <p:nvPr/>
        </p:nvSpPr>
        <p:spPr>
          <a:xfrm>
            <a:off x="3639312" y="4517136"/>
            <a:ext cx="24140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⚡ Observed: no real-time escalation visibility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6272784" y="2615184"/>
            <a:ext cx="2542032" cy="2286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6272784" y="2615184"/>
            <a:ext cx="2542032" cy="54864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0" name="Google Shape;120;p2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400800" y="2779776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"/>
          <p:cNvSpPr/>
          <p:nvPr/>
        </p:nvSpPr>
        <p:spPr>
          <a:xfrm>
            <a:off x="6400800" y="3209544"/>
            <a:ext cx="23408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Complaints arrive incomplete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6400800" y="3547872"/>
            <a:ext cx="2340864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30% of tickets created without meter number, bill ref or incident date. Agents call back to collect what AI could ask upfront.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6272784" y="4480560"/>
            <a:ext cx="2542032" cy="420624"/>
          </a:xfrm>
          <a:prstGeom prst="rect">
            <a:avLst/>
          </a:prstGeom>
          <a:solidFill>
            <a:srgbClr val="0D1540"/>
          </a:solidFill>
          <a:ln cap="flat" cmpd="sng" w="12700">
            <a:solidFill>
              <a:srgbClr val="0D1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2"/>
          <p:cNvSpPr/>
          <p:nvPr/>
        </p:nvSpPr>
        <p:spPr>
          <a:xfrm>
            <a:off x="6272784" y="4480560"/>
            <a:ext cx="45720" cy="420624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6364224" y="4517136"/>
            <a:ext cx="241401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⚡ Observed: 30% tickets need follow-up call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B47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"/>
          <p:cNvSpPr/>
          <p:nvPr/>
        </p:nvSpPr>
        <p:spPr>
          <a:xfrm>
            <a:off x="365760" y="164592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WHAT WE OBSERVED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365760" y="438912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The current process — mapped honestly.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256032" y="1042416"/>
            <a:ext cx="8631936" cy="329184"/>
          </a:xfrm>
          <a:prstGeom prst="rect">
            <a:avLst/>
          </a:prstGeom>
          <a:solidFill>
            <a:srgbClr val="283580"/>
          </a:solidFill>
          <a:ln cap="flat" cmpd="sng" w="12700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3"/>
          <p:cNvSpPr/>
          <p:nvPr/>
        </p:nvSpPr>
        <p:spPr>
          <a:xfrm>
            <a:off x="320040" y="1078992"/>
            <a:ext cx="8503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Current complaint journey at a utility customer care desk  (as observed)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256032" y="1444752"/>
            <a:ext cx="1316736" cy="914400"/>
          </a:xfrm>
          <a:prstGeom prst="rect">
            <a:avLst/>
          </a:prstGeom>
          <a:solidFill>
            <a:srgbClr val="1A2255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256032" y="1499616"/>
            <a:ext cx="13167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256032" y="1755648"/>
            <a:ext cx="13167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Customer contacts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256032" y="2066544"/>
            <a:ext cx="1316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Any channel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1572768" y="1865376"/>
            <a:ext cx="91440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1591056" y="1719072"/>
            <a:ext cx="1463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274320" y="2487168"/>
            <a:ext cx="1280160" cy="1225296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"/>
          <p:cNvSpPr/>
          <p:nvPr/>
        </p:nvSpPr>
        <p:spPr>
          <a:xfrm>
            <a:off x="274320" y="2487168"/>
            <a:ext cx="1280160" cy="4572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3" name="Google Shape;14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8096" y="250545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3"/>
          <p:cNvSpPr/>
          <p:nvPr/>
        </p:nvSpPr>
        <p:spPr>
          <a:xfrm>
            <a:off x="310896" y="2816352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No unified entry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point — channel is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chosen by customer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1700784" y="1444752"/>
            <a:ext cx="1316736" cy="914400"/>
          </a:xfrm>
          <a:prstGeom prst="rect">
            <a:avLst/>
          </a:prstGeom>
          <a:solidFill>
            <a:srgbClr val="1A2255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3"/>
          <p:cNvSpPr/>
          <p:nvPr/>
        </p:nvSpPr>
        <p:spPr>
          <a:xfrm>
            <a:off x="1700784" y="1499616"/>
            <a:ext cx="13167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1700784" y="1755648"/>
            <a:ext cx="13167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 checks history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1700784" y="2066544"/>
            <a:ext cx="1316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Manual search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3017520" y="1865376"/>
            <a:ext cx="91440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3"/>
          <p:cNvSpPr/>
          <p:nvPr/>
        </p:nvSpPr>
        <p:spPr>
          <a:xfrm>
            <a:off x="3035808" y="1719072"/>
            <a:ext cx="1463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1719072" y="2487168"/>
            <a:ext cx="1280160" cy="1225296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1719072" y="2487168"/>
            <a:ext cx="1280160" cy="4572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3" name="Google Shape;15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2848" y="250545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"/>
          <p:cNvSpPr/>
          <p:nvPr/>
        </p:nvSpPr>
        <p:spPr>
          <a:xfrm>
            <a:off x="1755648" y="2816352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Takes 10–15 min.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Often skipped under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pressure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3145536" y="1444752"/>
            <a:ext cx="1316736" cy="914400"/>
          </a:xfrm>
          <a:prstGeom prst="rect">
            <a:avLst/>
          </a:prstGeom>
          <a:solidFill>
            <a:srgbClr val="1A2255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3"/>
          <p:cNvSpPr/>
          <p:nvPr/>
        </p:nvSpPr>
        <p:spPr>
          <a:xfrm>
            <a:off x="3145536" y="1499616"/>
            <a:ext cx="13167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3145536" y="1755648"/>
            <a:ext cx="13167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Ticket created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3145536" y="2066544"/>
            <a:ext cx="1316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With available info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4462272" y="1865376"/>
            <a:ext cx="91440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3"/>
          <p:cNvSpPr/>
          <p:nvPr/>
        </p:nvSpPr>
        <p:spPr>
          <a:xfrm>
            <a:off x="4480560" y="1719072"/>
            <a:ext cx="1463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/>
          <p:nvPr/>
        </p:nvSpPr>
        <p:spPr>
          <a:xfrm>
            <a:off x="3163824" y="2487168"/>
            <a:ext cx="1280160" cy="1225296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3"/>
          <p:cNvSpPr/>
          <p:nvPr/>
        </p:nvSpPr>
        <p:spPr>
          <a:xfrm>
            <a:off x="3163824" y="2487168"/>
            <a:ext cx="1280160" cy="45720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3" name="Google Shape;1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0" y="250545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"/>
          <p:cNvSpPr/>
          <p:nvPr/>
        </p:nvSpPr>
        <p:spPr>
          <a:xfrm>
            <a:off x="3200400" y="2816352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30% incomplete —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meter no., bill ref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missing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4590288" y="1444752"/>
            <a:ext cx="1316736" cy="914400"/>
          </a:xfrm>
          <a:prstGeom prst="rect">
            <a:avLst/>
          </a:prstGeom>
          <a:solidFill>
            <a:srgbClr val="1A2255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3"/>
          <p:cNvSpPr/>
          <p:nvPr/>
        </p:nvSpPr>
        <p:spPr>
          <a:xfrm>
            <a:off x="4590288" y="1499616"/>
            <a:ext cx="13167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4590288" y="1755648"/>
            <a:ext cx="13167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Manual routing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4590288" y="2066544"/>
            <a:ext cx="1316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By category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5907024" y="1865376"/>
            <a:ext cx="91440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3"/>
          <p:cNvSpPr/>
          <p:nvPr/>
        </p:nvSpPr>
        <p:spPr>
          <a:xfrm>
            <a:off x="5925312" y="1719072"/>
            <a:ext cx="1463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4608576" y="2487168"/>
            <a:ext cx="1280160" cy="1225296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3"/>
          <p:cNvSpPr/>
          <p:nvPr/>
        </p:nvSpPr>
        <p:spPr>
          <a:xfrm>
            <a:off x="4608576" y="2487168"/>
            <a:ext cx="1280160" cy="45720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3" name="Google Shape;17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02352" y="250545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"/>
          <p:cNvSpPr/>
          <p:nvPr/>
        </p:nvSpPr>
        <p:spPr>
          <a:xfrm>
            <a:off x="4645152" y="2816352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Wrong routing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20% of the time —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back to queue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6035040" y="1444752"/>
            <a:ext cx="1316736" cy="914400"/>
          </a:xfrm>
          <a:prstGeom prst="rect">
            <a:avLst/>
          </a:prstGeom>
          <a:solidFill>
            <a:srgbClr val="1A2255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3"/>
          <p:cNvSpPr/>
          <p:nvPr/>
        </p:nvSpPr>
        <p:spPr>
          <a:xfrm>
            <a:off x="6035040" y="1499616"/>
            <a:ext cx="13167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3"/>
          <p:cNvSpPr/>
          <p:nvPr/>
        </p:nvSpPr>
        <p:spPr>
          <a:xfrm>
            <a:off x="6035040" y="1755648"/>
            <a:ext cx="13167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Resolution attempt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"/>
          <p:cNvSpPr/>
          <p:nvPr/>
        </p:nvSpPr>
        <p:spPr>
          <a:xfrm>
            <a:off x="6035040" y="2066544"/>
            <a:ext cx="1316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By assigned agent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3"/>
          <p:cNvSpPr/>
          <p:nvPr/>
        </p:nvSpPr>
        <p:spPr>
          <a:xfrm>
            <a:off x="7351776" y="1865376"/>
            <a:ext cx="91440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"/>
          <p:cNvSpPr/>
          <p:nvPr/>
        </p:nvSpPr>
        <p:spPr>
          <a:xfrm>
            <a:off x="7370064" y="1719072"/>
            <a:ext cx="1463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"/>
          <p:cNvSpPr/>
          <p:nvPr/>
        </p:nvSpPr>
        <p:spPr>
          <a:xfrm>
            <a:off x="6053328" y="2487168"/>
            <a:ext cx="1280160" cy="1225296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3"/>
          <p:cNvSpPr/>
          <p:nvPr/>
        </p:nvSpPr>
        <p:spPr>
          <a:xfrm>
            <a:off x="6053328" y="2487168"/>
            <a:ext cx="1280160" cy="4572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3" name="Google Shape;18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47104" y="250545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"/>
          <p:cNvSpPr/>
          <p:nvPr/>
        </p:nvSpPr>
        <p:spPr>
          <a:xfrm>
            <a:off x="6089904" y="2816352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No cross-channel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follow-up — customer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may still be tweeting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3"/>
          <p:cNvSpPr/>
          <p:nvPr/>
        </p:nvSpPr>
        <p:spPr>
          <a:xfrm>
            <a:off x="7479792" y="1444752"/>
            <a:ext cx="1316736" cy="914400"/>
          </a:xfrm>
          <a:prstGeom prst="rect">
            <a:avLst/>
          </a:prstGeom>
          <a:solidFill>
            <a:srgbClr val="1A2255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3"/>
          <p:cNvSpPr/>
          <p:nvPr/>
        </p:nvSpPr>
        <p:spPr>
          <a:xfrm>
            <a:off x="7479792" y="1499616"/>
            <a:ext cx="131673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7479792" y="1755648"/>
            <a:ext cx="13167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Weekly Excel report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7479792" y="2066544"/>
            <a:ext cx="1316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Manual SLA tracking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3"/>
          <p:cNvSpPr/>
          <p:nvPr/>
        </p:nvSpPr>
        <p:spPr>
          <a:xfrm>
            <a:off x="7498080" y="2487168"/>
            <a:ext cx="1280160" cy="1225296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3"/>
          <p:cNvSpPr/>
          <p:nvPr/>
        </p:nvSpPr>
        <p:spPr>
          <a:xfrm>
            <a:off x="7498080" y="2487168"/>
            <a:ext cx="1280160" cy="4572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1" name="Google Shape;19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91856" y="250545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"/>
          <p:cNvSpPr/>
          <p:nvPr/>
        </p:nvSpPr>
        <p:spPr>
          <a:xfrm>
            <a:off x="7534656" y="2816352"/>
            <a:ext cx="1188720" cy="8412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No real-time view.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SLA breaches found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days later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"/>
          <p:cNvSpPr/>
          <p:nvPr/>
        </p:nvSpPr>
        <p:spPr>
          <a:xfrm>
            <a:off x="658368" y="2359152"/>
            <a:ext cx="7424928" cy="36576"/>
          </a:xfrm>
          <a:prstGeom prst="rect">
            <a:avLst/>
          </a:prstGeom>
          <a:solidFill>
            <a:srgbClr val="283580"/>
          </a:solidFill>
          <a:ln cap="flat" cmpd="sng" w="12700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3"/>
          <p:cNvSpPr/>
          <p:nvPr/>
        </p:nvSpPr>
        <p:spPr>
          <a:xfrm>
            <a:off x="256032" y="3785616"/>
            <a:ext cx="8631936" cy="896112"/>
          </a:xfrm>
          <a:prstGeom prst="rect">
            <a:avLst/>
          </a:prstGeom>
          <a:solidFill>
            <a:srgbClr val="1A0000"/>
          </a:solidFill>
          <a:ln cap="flat" cmpd="sng" w="1015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"/>
          <p:cNvSpPr/>
          <p:nvPr/>
        </p:nvSpPr>
        <p:spPr>
          <a:xfrm>
            <a:off x="256032" y="3785616"/>
            <a:ext cx="54864" cy="896112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6" name="Google Shape;19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391363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"/>
          <p:cNvSpPr/>
          <p:nvPr/>
        </p:nvSpPr>
        <p:spPr>
          <a:xfrm>
            <a:off x="768096" y="3822192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Critical gap observed at TNEB: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768096" y="4078224"/>
            <a:ext cx="801014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Twitter complaints tagging the Minister or Director have a 15-minute window before they trend statewide. Today this is monitored by one person, manually, with no automated alert, no escalation workflow, and no integration with the complaint ticketing system.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F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"/>
          <p:cNvSpPr/>
          <p:nvPr/>
        </p:nvSpPr>
        <p:spPr>
          <a:xfrm>
            <a:off x="0" y="0"/>
            <a:ext cx="9144000" cy="117043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4"/>
          <p:cNvSpPr/>
          <p:nvPr/>
        </p:nvSpPr>
        <p:spPr>
          <a:xfrm>
            <a:off x="457200" y="9144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4"/>
          <p:cNvSpPr/>
          <p:nvPr/>
        </p:nvSpPr>
        <p:spPr>
          <a:xfrm>
            <a:off x="457200" y="365760"/>
            <a:ext cx="82296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Georgia"/>
              <a:buNone/>
            </a:pPr>
            <a:r>
              <a:rPr b="1" i="0" lang="en-US" sz="25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One AI brain. Every channel. One truth.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4"/>
          <p:cNvSpPr/>
          <p:nvPr/>
        </p:nvSpPr>
        <p:spPr>
          <a:xfrm>
            <a:off x="274320" y="1243584"/>
            <a:ext cx="4023360" cy="402336"/>
          </a:xfrm>
          <a:prstGeom prst="rect">
            <a:avLst/>
          </a:prstGeom>
          <a:solidFill>
            <a:srgbClr val="F8EDED"/>
          </a:solidFill>
          <a:ln cap="flat" cmpd="sng" w="9525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4"/>
          <p:cNvSpPr/>
          <p:nvPr/>
        </p:nvSpPr>
        <p:spPr>
          <a:xfrm>
            <a:off x="347472" y="1280160"/>
            <a:ext cx="38770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BEFORE  →  5 channels · 5 tools · manual linking · incomplete tickets · missed SLAs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4"/>
          <p:cNvSpPr/>
          <p:nvPr/>
        </p:nvSpPr>
        <p:spPr>
          <a:xfrm>
            <a:off x="4434840" y="1243584"/>
            <a:ext cx="4434840" cy="402336"/>
          </a:xfrm>
          <a:prstGeom prst="rect">
            <a:avLst/>
          </a:prstGeom>
          <a:solidFill>
            <a:srgbClr val="E8FBF5"/>
          </a:solidFill>
          <a:ln cap="flat" cmpd="sng" w="952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4"/>
          <p:cNvSpPr/>
          <p:nvPr/>
        </p:nvSpPr>
        <p:spPr>
          <a:xfrm>
            <a:off x="4507992" y="1280160"/>
            <a:ext cx="42793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AFTER  →  Any channel · AI identity gate · AI gathers info · scored queue · one agent view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"/>
          <p:cNvSpPr/>
          <p:nvPr/>
        </p:nvSpPr>
        <p:spPr>
          <a:xfrm>
            <a:off x="658368" y="1719072"/>
            <a:ext cx="914400" cy="914400"/>
          </a:xfrm>
          <a:prstGeom prst="ellipse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2" name="Google Shape;21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248" y="1901952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4"/>
          <p:cNvSpPr/>
          <p:nvPr/>
        </p:nvSpPr>
        <p:spPr>
          <a:xfrm>
            <a:off x="1609344" y="2139696"/>
            <a:ext cx="329184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4"/>
          <p:cNvSpPr/>
          <p:nvPr/>
        </p:nvSpPr>
        <p:spPr>
          <a:xfrm>
            <a:off x="1847088" y="1993392"/>
            <a:ext cx="182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4"/>
          <p:cNvSpPr/>
          <p:nvPr/>
        </p:nvSpPr>
        <p:spPr>
          <a:xfrm>
            <a:off x="256032" y="2688336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Any Channel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4"/>
          <p:cNvSpPr/>
          <p:nvPr/>
        </p:nvSpPr>
        <p:spPr>
          <a:xfrm>
            <a:off x="256032" y="2980944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Email · WA · Twitter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IVR · Web Chat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4"/>
          <p:cNvSpPr/>
          <p:nvPr/>
        </p:nvSpPr>
        <p:spPr>
          <a:xfrm>
            <a:off x="2395728" y="1719072"/>
            <a:ext cx="914400" cy="914400"/>
          </a:xfrm>
          <a:prstGeom prst="ellipse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8" name="Google Shape;21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78608" y="1901952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4"/>
          <p:cNvSpPr/>
          <p:nvPr/>
        </p:nvSpPr>
        <p:spPr>
          <a:xfrm>
            <a:off x="3346704" y="2139696"/>
            <a:ext cx="329184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4"/>
          <p:cNvSpPr/>
          <p:nvPr/>
        </p:nvSpPr>
        <p:spPr>
          <a:xfrm>
            <a:off x="3584448" y="1993392"/>
            <a:ext cx="182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4"/>
          <p:cNvSpPr/>
          <p:nvPr/>
        </p:nvSpPr>
        <p:spPr>
          <a:xfrm>
            <a:off x="1993392" y="2688336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Identity Gate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4"/>
          <p:cNvSpPr/>
          <p:nvPr/>
        </p:nvSpPr>
        <p:spPr>
          <a:xfrm>
            <a:off x="1993392" y="2980944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AI confirms who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you are first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4"/>
          <p:cNvSpPr/>
          <p:nvPr/>
        </p:nvSpPr>
        <p:spPr>
          <a:xfrm>
            <a:off x="4133088" y="1719072"/>
            <a:ext cx="914400" cy="914400"/>
          </a:xfrm>
          <a:prstGeom prst="ellipse">
            <a:avLst/>
          </a:prstGeom>
          <a:solidFill>
            <a:srgbClr val="B8600A"/>
          </a:solidFill>
          <a:ln cap="flat" cmpd="sng" w="12700">
            <a:solidFill>
              <a:srgbClr val="B8600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4" name="Google Shape;22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15968" y="1901952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"/>
          <p:cNvSpPr/>
          <p:nvPr/>
        </p:nvSpPr>
        <p:spPr>
          <a:xfrm>
            <a:off x="5084064" y="2139696"/>
            <a:ext cx="329184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4"/>
          <p:cNvSpPr/>
          <p:nvPr/>
        </p:nvSpPr>
        <p:spPr>
          <a:xfrm>
            <a:off x="5321808" y="1993392"/>
            <a:ext cx="182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4"/>
          <p:cNvSpPr/>
          <p:nvPr/>
        </p:nvSpPr>
        <p:spPr>
          <a:xfrm>
            <a:off x="3730752" y="2688336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AI Gathers Info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"/>
          <p:cNvSpPr/>
          <p:nvPr/>
        </p:nvSpPr>
        <p:spPr>
          <a:xfrm>
            <a:off x="3730752" y="2980944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Asks smart follow-up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questions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"/>
          <p:cNvSpPr/>
          <p:nvPr/>
        </p:nvSpPr>
        <p:spPr>
          <a:xfrm>
            <a:off x="5870448" y="1719072"/>
            <a:ext cx="914400" cy="914400"/>
          </a:xfrm>
          <a:prstGeom prst="ellipse">
            <a:avLst/>
          </a:prstGeom>
          <a:solidFill>
            <a:srgbClr val="8B1E1E"/>
          </a:solidFill>
          <a:ln cap="flat" cmpd="sng" w="12700">
            <a:solidFill>
              <a:srgbClr val="8B1E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0" name="Google Shape;230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53328" y="1901952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"/>
          <p:cNvSpPr/>
          <p:nvPr/>
        </p:nvSpPr>
        <p:spPr>
          <a:xfrm>
            <a:off x="6821424" y="2139696"/>
            <a:ext cx="329184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"/>
          <p:cNvSpPr/>
          <p:nvPr/>
        </p:nvSpPr>
        <p:spPr>
          <a:xfrm>
            <a:off x="7059168" y="1993392"/>
            <a:ext cx="182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4"/>
          <p:cNvSpPr/>
          <p:nvPr/>
        </p:nvSpPr>
        <p:spPr>
          <a:xfrm>
            <a:off x="5468112" y="2688336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Priority Score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4"/>
          <p:cNvSpPr/>
          <p:nvPr/>
        </p:nvSpPr>
        <p:spPr>
          <a:xfrm>
            <a:off x="5468112" y="2980944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Sentiment · SLA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Severity · Twitter🔴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4"/>
          <p:cNvSpPr/>
          <p:nvPr/>
        </p:nvSpPr>
        <p:spPr>
          <a:xfrm>
            <a:off x="7607808" y="1719072"/>
            <a:ext cx="914400" cy="914400"/>
          </a:xfrm>
          <a:prstGeom prst="ellipse">
            <a:avLst/>
          </a:prstGeom>
          <a:solidFill>
            <a:srgbClr val="0A5F6B"/>
          </a:solidFill>
          <a:ln cap="flat" cmpd="sng" w="12700">
            <a:solidFill>
              <a:srgbClr val="0A5F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6" name="Google Shape;236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90688" y="1901952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4"/>
          <p:cNvSpPr/>
          <p:nvPr/>
        </p:nvSpPr>
        <p:spPr>
          <a:xfrm>
            <a:off x="7205472" y="2688336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Agent Dashboard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"/>
          <p:cNvSpPr/>
          <p:nvPr/>
        </p:nvSpPr>
        <p:spPr>
          <a:xfrm>
            <a:off x="7205472" y="2980944"/>
            <a:ext cx="1737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One queue · Full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history · AI alerts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4"/>
          <p:cNvSpPr/>
          <p:nvPr/>
        </p:nvSpPr>
        <p:spPr>
          <a:xfrm>
            <a:off x="256032" y="3401568"/>
            <a:ext cx="2048256" cy="15727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4"/>
          <p:cNvSpPr/>
          <p:nvPr/>
        </p:nvSpPr>
        <p:spPr>
          <a:xfrm>
            <a:off x="256032" y="3401568"/>
            <a:ext cx="2048256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1" name="Google Shape;24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" y="3584448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4"/>
          <p:cNvSpPr/>
          <p:nvPr/>
        </p:nvSpPr>
        <p:spPr>
          <a:xfrm>
            <a:off x="365760" y="402336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Identity stitching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4"/>
          <p:cNvSpPr/>
          <p:nvPr/>
        </p:nvSpPr>
        <p:spPr>
          <a:xfrm>
            <a:off x="365760" y="4352544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Same person across channels — one ticket, always.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4"/>
          <p:cNvSpPr/>
          <p:nvPr/>
        </p:nvSpPr>
        <p:spPr>
          <a:xfrm>
            <a:off x="2432304" y="3401568"/>
            <a:ext cx="2048256" cy="15727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4"/>
          <p:cNvSpPr/>
          <p:nvPr/>
        </p:nvSpPr>
        <p:spPr>
          <a:xfrm>
            <a:off x="2432304" y="3401568"/>
            <a:ext cx="2048256" cy="54864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6" name="Google Shape;246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542032" y="3584448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4"/>
          <p:cNvSpPr/>
          <p:nvPr/>
        </p:nvSpPr>
        <p:spPr>
          <a:xfrm>
            <a:off x="2542032" y="402336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Twitter alert engine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4"/>
          <p:cNvSpPr/>
          <p:nvPr/>
        </p:nvSpPr>
        <p:spPr>
          <a:xfrm>
            <a:off x="2542032" y="4352544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Tags to minister/director trigger instant escalation alert — 15-min SLA enforced.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4"/>
          <p:cNvSpPr/>
          <p:nvPr/>
        </p:nvSpPr>
        <p:spPr>
          <a:xfrm>
            <a:off x="4608576" y="3401568"/>
            <a:ext cx="2048256" cy="15727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4"/>
          <p:cNvSpPr/>
          <p:nvPr/>
        </p:nvSpPr>
        <p:spPr>
          <a:xfrm>
            <a:off x="4608576" y="3401568"/>
            <a:ext cx="2048256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1" name="Google Shape;251;p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18304" y="3584448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4"/>
          <p:cNvSpPr/>
          <p:nvPr/>
        </p:nvSpPr>
        <p:spPr>
          <a:xfrm>
            <a:off x="4718304" y="402336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Anonymous support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4"/>
          <p:cNvSpPr/>
          <p:nvPr/>
        </p:nvSpPr>
        <p:spPr>
          <a:xfrm>
            <a:off x="4718304" y="4352544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Complaints accepted anonymously with a reference ID.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4"/>
          <p:cNvSpPr/>
          <p:nvPr/>
        </p:nvSpPr>
        <p:spPr>
          <a:xfrm>
            <a:off x="6784848" y="3401568"/>
            <a:ext cx="2048256" cy="15727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4"/>
          <p:cNvSpPr/>
          <p:nvPr/>
        </p:nvSpPr>
        <p:spPr>
          <a:xfrm>
            <a:off x="6784848" y="3401568"/>
            <a:ext cx="2048256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6" name="Google Shape;256;p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894576" y="3584448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"/>
          <p:cNvSpPr/>
          <p:nvPr/>
        </p:nvSpPr>
        <p:spPr>
          <a:xfrm>
            <a:off x="6894576" y="402336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Cloud or on-prem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4"/>
          <p:cNvSpPr/>
          <p:nvPr/>
        </p:nvSpPr>
        <p:spPr>
          <a:xfrm>
            <a:off x="6894576" y="4352544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Govt-ready: data never leaves their premises.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B47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"/>
          <p:cNvSpPr/>
          <p:nvPr/>
        </p:nvSpPr>
        <p:spPr>
          <a:xfrm>
            <a:off x="457200" y="25603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WHY EXISTING TOOLS DON'T CUT IT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5"/>
          <p:cNvSpPr/>
          <p:nvPr/>
        </p:nvSpPr>
        <p:spPr>
          <a:xfrm>
            <a:off x="457200" y="56692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Georgia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The gap the incumbents left open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365760" y="1389888"/>
            <a:ext cx="8412480" cy="402336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5"/>
          <p:cNvSpPr/>
          <p:nvPr/>
        </p:nvSpPr>
        <p:spPr>
          <a:xfrm>
            <a:off x="365760" y="1426464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Capability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5"/>
          <p:cNvSpPr/>
          <p:nvPr/>
        </p:nvSpPr>
        <p:spPr>
          <a:xfrm>
            <a:off x="2834640" y="1426464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Zendesk / Freshdesk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5"/>
          <p:cNvSpPr/>
          <p:nvPr/>
        </p:nvSpPr>
        <p:spPr>
          <a:xfrm>
            <a:off x="4663440" y="1426464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Sprinklr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6492240" y="1426464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UniServe ✦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5"/>
          <p:cNvSpPr/>
          <p:nvPr/>
        </p:nvSpPr>
        <p:spPr>
          <a:xfrm>
            <a:off x="365760" y="1819656"/>
            <a:ext cx="8412480" cy="402336"/>
          </a:xfrm>
          <a:prstGeom prst="rect">
            <a:avLst/>
          </a:prstGeom>
          <a:solidFill>
            <a:srgbClr val="1A2255"/>
          </a:solidFill>
          <a:ln cap="flat" cmpd="sng" w="12700">
            <a:solidFill>
              <a:srgbClr val="1A22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5"/>
          <p:cNvSpPr/>
          <p:nvPr/>
        </p:nvSpPr>
        <p:spPr>
          <a:xfrm>
            <a:off x="365760" y="185623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Multi-channel unified inbox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2834640" y="1856232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4663440" y="1856232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6492240" y="185623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365760" y="2240280"/>
            <a:ext cx="8412480" cy="402336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5"/>
          <p:cNvSpPr/>
          <p:nvPr/>
        </p:nvSpPr>
        <p:spPr>
          <a:xfrm>
            <a:off x="365760" y="2276856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Cross-channel identity stitching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5"/>
          <p:cNvSpPr/>
          <p:nvPr/>
        </p:nvSpPr>
        <p:spPr>
          <a:xfrm>
            <a:off x="2834640" y="2276856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5"/>
          <p:cNvSpPr/>
          <p:nvPr/>
        </p:nvSpPr>
        <p:spPr>
          <a:xfrm>
            <a:off x="4663440" y="2276856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Partial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5"/>
          <p:cNvSpPr/>
          <p:nvPr/>
        </p:nvSpPr>
        <p:spPr>
          <a:xfrm>
            <a:off x="6492240" y="2276856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5"/>
          <p:cNvSpPr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solidFill>
            <a:srgbClr val="1A2255"/>
          </a:solidFill>
          <a:ln cap="flat" cmpd="sng" w="12700">
            <a:solidFill>
              <a:srgbClr val="1A22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5"/>
          <p:cNvSpPr/>
          <p:nvPr/>
        </p:nvSpPr>
        <p:spPr>
          <a:xfrm>
            <a:off x="365760" y="2697480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Twitter alert — minister/director tag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5"/>
          <p:cNvSpPr/>
          <p:nvPr/>
        </p:nvSpPr>
        <p:spPr>
          <a:xfrm>
            <a:off x="2834640" y="2697480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"/>
          <p:cNvSpPr/>
          <p:nvPr/>
        </p:nvSpPr>
        <p:spPr>
          <a:xfrm>
            <a:off x="4663440" y="2697480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5"/>
          <p:cNvSpPr/>
          <p:nvPr/>
        </p:nvSpPr>
        <p:spPr>
          <a:xfrm>
            <a:off x="6492240" y="2697480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5"/>
          <p:cNvSpPr/>
          <p:nvPr/>
        </p:nvSpPr>
        <p:spPr>
          <a:xfrm>
            <a:off x="365760" y="3081528"/>
            <a:ext cx="8412480" cy="402336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5"/>
          <p:cNvSpPr/>
          <p:nvPr/>
        </p:nvSpPr>
        <p:spPr>
          <a:xfrm>
            <a:off x="365760" y="3118104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AI gathers missing info (in-loop)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5"/>
          <p:cNvSpPr/>
          <p:nvPr/>
        </p:nvSpPr>
        <p:spPr>
          <a:xfrm>
            <a:off x="2834640" y="3118104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5"/>
          <p:cNvSpPr/>
          <p:nvPr/>
        </p:nvSpPr>
        <p:spPr>
          <a:xfrm>
            <a:off x="4663440" y="3118104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5"/>
          <p:cNvSpPr/>
          <p:nvPr/>
        </p:nvSpPr>
        <p:spPr>
          <a:xfrm>
            <a:off x="6492240" y="3118104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5"/>
          <p:cNvSpPr/>
          <p:nvPr/>
        </p:nvSpPr>
        <p:spPr>
          <a:xfrm>
            <a:off x="365760" y="3502152"/>
            <a:ext cx="8412480" cy="402336"/>
          </a:xfrm>
          <a:prstGeom prst="rect">
            <a:avLst/>
          </a:prstGeom>
          <a:solidFill>
            <a:srgbClr val="1A2255"/>
          </a:solidFill>
          <a:ln cap="flat" cmpd="sng" w="12700">
            <a:solidFill>
              <a:srgbClr val="1A22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5"/>
          <p:cNvSpPr/>
          <p:nvPr/>
        </p:nvSpPr>
        <p:spPr>
          <a:xfrm>
            <a:off x="365760" y="3538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Anonymous complaint support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5"/>
          <p:cNvSpPr/>
          <p:nvPr/>
        </p:nvSpPr>
        <p:spPr>
          <a:xfrm>
            <a:off x="2834640" y="3538728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5"/>
          <p:cNvSpPr/>
          <p:nvPr/>
        </p:nvSpPr>
        <p:spPr>
          <a:xfrm>
            <a:off x="4663440" y="3538728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5"/>
          <p:cNvSpPr/>
          <p:nvPr/>
        </p:nvSpPr>
        <p:spPr>
          <a:xfrm>
            <a:off x="6492240" y="3538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5"/>
          <p:cNvSpPr/>
          <p:nvPr/>
        </p:nvSpPr>
        <p:spPr>
          <a:xfrm>
            <a:off x="365760" y="3922776"/>
            <a:ext cx="8412480" cy="402336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5"/>
          <p:cNvSpPr/>
          <p:nvPr/>
        </p:nvSpPr>
        <p:spPr>
          <a:xfrm>
            <a:off x="365760" y="395935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AI priority scoring (multi-factor)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5"/>
          <p:cNvSpPr/>
          <p:nvPr/>
        </p:nvSpPr>
        <p:spPr>
          <a:xfrm>
            <a:off x="2834640" y="3959352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Limited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5"/>
          <p:cNvSpPr/>
          <p:nvPr/>
        </p:nvSpPr>
        <p:spPr>
          <a:xfrm>
            <a:off x="4663440" y="3959352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Limited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5"/>
          <p:cNvSpPr/>
          <p:nvPr/>
        </p:nvSpPr>
        <p:spPr>
          <a:xfrm>
            <a:off x="6492240" y="395935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5"/>
          <p:cNvSpPr/>
          <p:nvPr/>
        </p:nvSpPr>
        <p:spPr>
          <a:xfrm>
            <a:off x="365760" y="4343400"/>
            <a:ext cx="8412480" cy="402336"/>
          </a:xfrm>
          <a:prstGeom prst="rect">
            <a:avLst/>
          </a:prstGeom>
          <a:solidFill>
            <a:srgbClr val="1A2255"/>
          </a:solidFill>
          <a:ln cap="flat" cmpd="sng" w="12700">
            <a:solidFill>
              <a:srgbClr val="1A22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5"/>
          <p:cNvSpPr/>
          <p:nvPr/>
        </p:nvSpPr>
        <p:spPr>
          <a:xfrm>
            <a:off x="365760" y="4379976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On-prem / govt deployment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5"/>
          <p:cNvSpPr/>
          <p:nvPr/>
        </p:nvSpPr>
        <p:spPr>
          <a:xfrm>
            <a:off x="2834640" y="4379976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5"/>
          <p:cNvSpPr/>
          <p:nvPr/>
        </p:nvSpPr>
        <p:spPr>
          <a:xfrm>
            <a:off x="4663440" y="4379976"/>
            <a:ext cx="17373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5"/>
          <p:cNvSpPr/>
          <p:nvPr/>
        </p:nvSpPr>
        <p:spPr>
          <a:xfrm>
            <a:off x="6492240" y="4379976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5"/>
          <p:cNvSpPr/>
          <p:nvPr/>
        </p:nvSpPr>
        <p:spPr>
          <a:xfrm>
            <a:off x="365760" y="4791456"/>
            <a:ext cx="8412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✦ Twitter alert engine for minister/director tags is a capability built from a direct TNEB observation — not available in any incumbent product.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B47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"/>
          <p:cNvSpPr/>
          <p:nvPr/>
        </p:nvSpPr>
        <p:spPr>
          <a:xfrm>
            <a:off x="365760" y="16459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FROM ONE FIRM TO EVERY SECTOR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6"/>
          <p:cNvSpPr/>
          <p:nvPr/>
        </p:nvSpPr>
        <p:spPr>
          <a:xfrm>
            <a:off x="365760" y="45720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Georgia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We solved it for one firm.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Georgia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The architecture solves it for all of these.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6"/>
          <p:cNvSpPr/>
          <p:nvPr/>
        </p:nvSpPr>
        <p:spPr>
          <a:xfrm>
            <a:off x="365760" y="1371600"/>
            <a:ext cx="2560320" cy="384048"/>
          </a:xfrm>
          <a:prstGeom prst="rect">
            <a:avLst/>
          </a:prstGeom>
          <a:solidFill>
            <a:srgbClr val="0A2A30"/>
          </a:solidFill>
          <a:ln cap="flat" cmpd="sng" w="952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5" name="Google Shape;31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42646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6"/>
          <p:cNvSpPr/>
          <p:nvPr/>
        </p:nvSpPr>
        <p:spPr>
          <a:xfrm>
            <a:off x="768096" y="1426464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Originated from: Utility / Customer Care (TNEB)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6"/>
          <p:cNvSpPr/>
          <p:nvPr/>
        </p:nvSpPr>
        <p:spPr>
          <a:xfrm>
            <a:off x="2999232" y="1426464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generalises to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6"/>
          <p:cNvSpPr/>
          <p:nvPr/>
        </p:nvSpPr>
        <p:spPr>
          <a:xfrm>
            <a:off x="365760" y="1847088"/>
            <a:ext cx="2633472" cy="658368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9" name="Google Shape;3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2064" y="1920240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6"/>
          <p:cNvSpPr/>
          <p:nvPr/>
        </p:nvSpPr>
        <p:spPr>
          <a:xfrm>
            <a:off x="1042416" y="1938528"/>
            <a:ext cx="18836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41B47"/>
                </a:solidFill>
                <a:latin typeface="Calibri"/>
                <a:ea typeface="Calibri"/>
                <a:cs typeface="Calibri"/>
                <a:sym typeface="Calibri"/>
              </a:rPr>
              <a:t>Government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6"/>
          <p:cNvSpPr/>
          <p:nvPr/>
        </p:nvSpPr>
        <p:spPr>
          <a:xfrm>
            <a:off x="365760" y="2505456"/>
            <a:ext cx="2633472" cy="80467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6"/>
          <p:cNvSpPr/>
          <p:nvPr/>
        </p:nvSpPr>
        <p:spPr>
          <a:xfrm>
            <a:off x="475488" y="2560320"/>
            <a:ext cx="24505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›  TNEB · PF grievance · RTI portals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6"/>
          <p:cNvSpPr/>
          <p:nvPr/>
        </p:nvSpPr>
        <p:spPr>
          <a:xfrm>
            <a:off x="475488" y="2907792"/>
            <a:ext cx="24505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›  Municipal corporations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6"/>
          <p:cNvSpPr/>
          <p:nvPr/>
        </p:nvSpPr>
        <p:spPr>
          <a:xfrm>
            <a:off x="365760" y="3328416"/>
            <a:ext cx="2633472" cy="1188720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6"/>
          <p:cNvSpPr/>
          <p:nvPr/>
        </p:nvSpPr>
        <p:spPr>
          <a:xfrm>
            <a:off x="365760" y="3328416"/>
            <a:ext cx="45720" cy="1188720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6"/>
          <p:cNvSpPr/>
          <p:nvPr/>
        </p:nvSpPr>
        <p:spPr>
          <a:xfrm>
            <a:off x="475488" y="3364992"/>
            <a:ext cx="24871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What changes per tenant: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6"/>
          <p:cNvSpPr/>
          <p:nvPr/>
        </p:nvSpPr>
        <p:spPr>
          <a:xfrm>
            <a:off x="475488" y="3602736"/>
            <a:ext cx="2487168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Categories: power outage, billing, meter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SLA: 1hr for outage, 48hr for billing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Channel: IVR-first + Twitter alert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6"/>
          <p:cNvSpPr/>
          <p:nvPr/>
        </p:nvSpPr>
        <p:spPr>
          <a:xfrm>
            <a:off x="3200400" y="1847088"/>
            <a:ext cx="2633472" cy="658368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29" name="Google Shape;32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46704" y="1920240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6"/>
          <p:cNvSpPr/>
          <p:nvPr/>
        </p:nvSpPr>
        <p:spPr>
          <a:xfrm>
            <a:off x="3877056" y="1938528"/>
            <a:ext cx="18836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41B47"/>
                </a:solidFill>
                <a:latin typeface="Calibri"/>
                <a:ea typeface="Calibri"/>
                <a:cs typeface="Calibri"/>
                <a:sym typeface="Calibri"/>
              </a:rPr>
              <a:t>Private Sector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6"/>
          <p:cNvSpPr/>
          <p:nvPr/>
        </p:nvSpPr>
        <p:spPr>
          <a:xfrm>
            <a:off x="3200400" y="2505456"/>
            <a:ext cx="2633472" cy="80467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6"/>
          <p:cNvSpPr/>
          <p:nvPr/>
        </p:nvSpPr>
        <p:spPr>
          <a:xfrm>
            <a:off x="3310128" y="2560320"/>
            <a:ext cx="24505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›  Maruti service · Banks · E-commerce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6"/>
          <p:cNvSpPr/>
          <p:nvPr/>
        </p:nvSpPr>
        <p:spPr>
          <a:xfrm>
            <a:off x="3310128" y="2907792"/>
            <a:ext cx="24505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›  Telecom operators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6"/>
          <p:cNvSpPr/>
          <p:nvPr/>
        </p:nvSpPr>
        <p:spPr>
          <a:xfrm>
            <a:off x="3200400" y="3328416"/>
            <a:ext cx="2633472" cy="1188720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6"/>
          <p:cNvSpPr/>
          <p:nvPr/>
        </p:nvSpPr>
        <p:spPr>
          <a:xfrm>
            <a:off x="3200400" y="3328416"/>
            <a:ext cx="45720" cy="1188720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6"/>
          <p:cNvSpPr/>
          <p:nvPr/>
        </p:nvSpPr>
        <p:spPr>
          <a:xfrm>
            <a:off x="3310128" y="3364992"/>
            <a:ext cx="24871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What changes per tenant: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6"/>
          <p:cNvSpPr/>
          <p:nvPr/>
        </p:nvSpPr>
        <p:spPr>
          <a:xfrm>
            <a:off x="3310128" y="3602736"/>
            <a:ext cx="2487168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Categories: service, product, delivery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SLA: 4hr response, 72hr resolution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Channel: WhatsApp-first + Twitter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6"/>
          <p:cNvSpPr/>
          <p:nvPr/>
        </p:nvSpPr>
        <p:spPr>
          <a:xfrm>
            <a:off x="6035040" y="1847088"/>
            <a:ext cx="2633472" cy="658368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9" name="Google Shape;339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81344" y="1920240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"/>
          <p:cNvSpPr/>
          <p:nvPr/>
        </p:nvSpPr>
        <p:spPr>
          <a:xfrm>
            <a:off x="6711696" y="1938528"/>
            <a:ext cx="1883664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41B47"/>
                </a:solidFill>
                <a:latin typeface="Calibri"/>
                <a:ea typeface="Calibri"/>
                <a:cs typeface="Calibri"/>
                <a:sym typeface="Calibri"/>
              </a:rPr>
              <a:t>Healthcare &amp; Edu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6"/>
          <p:cNvSpPr/>
          <p:nvPr/>
        </p:nvSpPr>
        <p:spPr>
          <a:xfrm>
            <a:off x="6035040" y="2505456"/>
            <a:ext cx="2633472" cy="804672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6"/>
          <p:cNvSpPr/>
          <p:nvPr/>
        </p:nvSpPr>
        <p:spPr>
          <a:xfrm>
            <a:off x="6144768" y="2560320"/>
            <a:ext cx="24505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›  Hospital patient feedback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6"/>
          <p:cNvSpPr/>
          <p:nvPr/>
        </p:nvSpPr>
        <p:spPr>
          <a:xfrm>
            <a:off x="6144768" y="2907792"/>
            <a:ext cx="24505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›  University grievance cells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6"/>
          <p:cNvSpPr/>
          <p:nvPr/>
        </p:nvSpPr>
        <p:spPr>
          <a:xfrm>
            <a:off x="6035040" y="3328416"/>
            <a:ext cx="2633472" cy="1188720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6"/>
          <p:cNvSpPr/>
          <p:nvPr/>
        </p:nvSpPr>
        <p:spPr>
          <a:xfrm>
            <a:off x="6035040" y="3328416"/>
            <a:ext cx="45720" cy="1188720"/>
          </a:xfrm>
          <a:prstGeom prst="rect">
            <a:avLst/>
          </a:prstGeom>
          <a:solidFill>
            <a:srgbClr val="F96167"/>
          </a:solidFill>
          <a:ln cap="flat" cmpd="sng" w="127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6"/>
          <p:cNvSpPr/>
          <p:nvPr/>
        </p:nvSpPr>
        <p:spPr>
          <a:xfrm>
            <a:off x="6144768" y="3364992"/>
            <a:ext cx="24871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What changes per tenant: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6"/>
          <p:cNvSpPr/>
          <p:nvPr/>
        </p:nvSpPr>
        <p:spPr>
          <a:xfrm>
            <a:off x="6144768" y="3602736"/>
            <a:ext cx="2487168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Categories: treatment, billing, staff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SLA: 2hr for medical urgency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D0D8E8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D8E8"/>
                </a:solidFill>
                <a:latin typeface="Calibri"/>
                <a:ea typeface="Calibri"/>
                <a:cs typeface="Calibri"/>
                <a:sym typeface="Calibri"/>
              </a:rPr>
              <a:t>Anonymity: mandatory option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6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6"/>
          <p:cNvSpPr/>
          <p:nvPr/>
        </p:nvSpPr>
        <p:spPr>
          <a:xfrm>
            <a:off x="365760" y="4773168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Same codebase · Only categories, SLAs, channels and language change per tenant · Not a different product — a different configuration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F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7"/>
          <p:cNvSpPr/>
          <p:nvPr/>
        </p:nvSpPr>
        <p:spPr>
          <a:xfrm>
            <a:off x="457200" y="9144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BUILT TO GO ANYWHERE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7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Georgia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On your terms. For any domain's compliance reality.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7"/>
          <p:cNvSpPr/>
          <p:nvPr/>
        </p:nvSpPr>
        <p:spPr>
          <a:xfrm>
            <a:off x="256032" y="1188720"/>
            <a:ext cx="2761488" cy="3730752"/>
          </a:xfrm>
          <a:prstGeom prst="rect">
            <a:avLst/>
          </a:prstGeom>
          <a:solidFill>
            <a:srgbClr val="E8FBF5"/>
          </a:solidFill>
          <a:ln cap="flat" cmpd="sng" w="101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7"/>
          <p:cNvSpPr/>
          <p:nvPr/>
        </p:nvSpPr>
        <p:spPr>
          <a:xfrm>
            <a:off x="256032" y="1188720"/>
            <a:ext cx="2761488" cy="804672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0" name="Google Shape;36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0624" y="1371600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7"/>
          <p:cNvSpPr/>
          <p:nvPr/>
        </p:nvSpPr>
        <p:spPr>
          <a:xfrm>
            <a:off x="914400" y="1280160"/>
            <a:ext cx="20299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Cloud SaaS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7"/>
          <p:cNvSpPr/>
          <p:nvPr/>
        </p:nvSpPr>
        <p:spPr>
          <a:xfrm>
            <a:off x="914400" y="1609344"/>
            <a:ext cx="20299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Multi-tenant · Shared infrastructure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7"/>
          <p:cNvSpPr/>
          <p:nvPr/>
        </p:nvSpPr>
        <p:spPr>
          <a:xfrm>
            <a:off x="365760" y="2066544"/>
            <a:ext cx="2560320" cy="36576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7"/>
          <p:cNvSpPr/>
          <p:nvPr/>
        </p:nvSpPr>
        <p:spPr>
          <a:xfrm>
            <a:off x="420624" y="2103120"/>
            <a:ext cx="24871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✦ Private sector — Maruti, banks, e-commerce, telecom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5" name="Google Shape;365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4048" y="25603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7"/>
          <p:cNvSpPr/>
          <p:nvPr/>
        </p:nvSpPr>
        <p:spPr>
          <a:xfrm>
            <a:off x="640080" y="25603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Fastest onboarding — connect channels and go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7" name="Google Shape;36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4048" y="30175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7"/>
          <p:cNvSpPr/>
          <p:nvPr/>
        </p:nvSpPr>
        <p:spPr>
          <a:xfrm>
            <a:off x="640080" y="30175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Pay-per-tenant pricing model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9" name="Google Shape;36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4048" y="34747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7"/>
          <p:cNvSpPr/>
          <p:nvPr/>
        </p:nvSpPr>
        <p:spPr>
          <a:xfrm>
            <a:off x="640080" y="34747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Auto-scaling · zero infra management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71" name="Google Shape;37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4048" y="39319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7"/>
          <p:cNvSpPr/>
          <p:nvPr/>
        </p:nvSpPr>
        <p:spPr>
          <a:xfrm>
            <a:off x="640080" y="39319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Data: cloud region of your choice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7"/>
          <p:cNvSpPr/>
          <p:nvPr/>
        </p:nvSpPr>
        <p:spPr>
          <a:xfrm>
            <a:off x="256032" y="4498848"/>
            <a:ext cx="2761488" cy="42062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7"/>
          <p:cNvSpPr/>
          <p:nvPr/>
        </p:nvSpPr>
        <p:spPr>
          <a:xfrm>
            <a:off x="365760" y="4553712"/>
            <a:ext cx="25786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Best for: speed to market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7"/>
          <p:cNvSpPr/>
          <p:nvPr/>
        </p:nvSpPr>
        <p:spPr>
          <a:xfrm>
            <a:off x="3163824" y="1188720"/>
            <a:ext cx="2761488" cy="3730752"/>
          </a:xfrm>
          <a:prstGeom prst="rect">
            <a:avLst/>
          </a:prstGeom>
          <a:solidFill>
            <a:srgbClr val="FEFBF0"/>
          </a:solidFill>
          <a:ln cap="flat" cmpd="sng" w="1015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7"/>
          <p:cNvSpPr/>
          <p:nvPr/>
        </p:nvSpPr>
        <p:spPr>
          <a:xfrm>
            <a:off x="3163824" y="1188720"/>
            <a:ext cx="2761488" cy="804672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7" name="Google Shape;37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8416" y="1371600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7"/>
          <p:cNvSpPr/>
          <p:nvPr/>
        </p:nvSpPr>
        <p:spPr>
          <a:xfrm>
            <a:off x="3822192" y="1280160"/>
            <a:ext cx="20299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On-Premises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7"/>
          <p:cNvSpPr/>
          <p:nvPr/>
        </p:nvSpPr>
        <p:spPr>
          <a:xfrm>
            <a:off x="3822192" y="1609344"/>
            <a:ext cx="20299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Single-tenant · Client's own network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7"/>
          <p:cNvSpPr/>
          <p:nvPr/>
        </p:nvSpPr>
        <p:spPr>
          <a:xfrm>
            <a:off x="3273552" y="2066544"/>
            <a:ext cx="2560320" cy="36576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7"/>
          <p:cNvSpPr/>
          <p:nvPr/>
        </p:nvSpPr>
        <p:spPr>
          <a:xfrm>
            <a:off x="3328416" y="2103120"/>
            <a:ext cx="24871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60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8B6000"/>
                </a:solidFill>
                <a:latin typeface="Calibri"/>
                <a:ea typeface="Calibri"/>
                <a:cs typeface="Calibri"/>
                <a:sym typeface="Calibri"/>
              </a:rPr>
              <a:t>✦ Govt — TNEB, PF cell, municipal bodies, defence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2" name="Google Shape;38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91840" y="25603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7"/>
          <p:cNvSpPr/>
          <p:nvPr/>
        </p:nvSpPr>
        <p:spPr>
          <a:xfrm>
            <a:off x="3547872" y="25603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Full Docker bundle — deployed within client firewall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4" name="Google Shape;38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91840" y="30175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7"/>
          <p:cNvSpPr/>
          <p:nvPr/>
        </p:nvSpPr>
        <p:spPr>
          <a:xfrm>
            <a:off x="3547872" y="30175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Data never leaves client premises — contractually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6" name="Google Shape;38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91840" y="34747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7"/>
          <p:cNvSpPr/>
          <p:nvPr/>
        </p:nvSpPr>
        <p:spPr>
          <a:xfrm>
            <a:off x="3547872" y="34747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Optional: fully air-gapped with local Llama 3 LLM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8" name="Google Shape;388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91840" y="39319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7"/>
          <p:cNvSpPr/>
          <p:nvPr/>
        </p:nvSpPr>
        <p:spPr>
          <a:xfrm>
            <a:off x="3547872" y="39319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Meets NIC / MeitY data residency requirements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7"/>
          <p:cNvSpPr/>
          <p:nvPr/>
        </p:nvSpPr>
        <p:spPr>
          <a:xfrm>
            <a:off x="3163824" y="4498848"/>
            <a:ext cx="2761488" cy="420624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7"/>
          <p:cNvSpPr/>
          <p:nvPr/>
        </p:nvSpPr>
        <p:spPr>
          <a:xfrm>
            <a:off x="3273552" y="4553712"/>
            <a:ext cx="25786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Best for: govt &amp; regulated sectors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7"/>
          <p:cNvSpPr/>
          <p:nvPr/>
        </p:nvSpPr>
        <p:spPr>
          <a:xfrm>
            <a:off x="6071616" y="1188720"/>
            <a:ext cx="2761488" cy="3730752"/>
          </a:xfrm>
          <a:prstGeom prst="rect">
            <a:avLst/>
          </a:prstGeom>
          <a:solidFill>
            <a:srgbClr val="F5F0FF"/>
          </a:solidFill>
          <a:ln cap="flat" cmpd="sng" w="10150">
            <a:solidFill>
              <a:srgbClr val="6B4FB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254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7"/>
          <p:cNvSpPr/>
          <p:nvPr/>
        </p:nvSpPr>
        <p:spPr>
          <a:xfrm>
            <a:off x="6071616" y="1188720"/>
            <a:ext cx="2761488" cy="804672"/>
          </a:xfrm>
          <a:prstGeom prst="rect">
            <a:avLst/>
          </a:prstGeom>
          <a:solidFill>
            <a:srgbClr val="6B4FBB"/>
          </a:solidFill>
          <a:ln cap="flat" cmpd="sng" w="12700">
            <a:solidFill>
              <a:srgbClr val="6B4F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94" name="Google Shape;39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6208" y="1371600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7"/>
          <p:cNvSpPr/>
          <p:nvPr/>
        </p:nvSpPr>
        <p:spPr>
          <a:xfrm>
            <a:off x="6729984" y="1280160"/>
            <a:ext cx="202996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Hybrid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7"/>
          <p:cNvSpPr/>
          <p:nvPr/>
        </p:nvSpPr>
        <p:spPr>
          <a:xfrm>
            <a:off x="6729984" y="1609344"/>
            <a:ext cx="20299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On-prem data · PII-stripped AI calls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7"/>
          <p:cNvSpPr/>
          <p:nvPr/>
        </p:nvSpPr>
        <p:spPr>
          <a:xfrm>
            <a:off x="6181344" y="2066544"/>
            <a:ext cx="2560320" cy="36576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6B4F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7"/>
          <p:cNvSpPr/>
          <p:nvPr/>
        </p:nvSpPr>
        <p:spPr>
          <a:xfrm>
            <a:off x="6236208" y="2103120"/>
            <a:ext cx="24871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4FBB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6B4FBB"/>
                </a:solidFill>
                <a:latin typeface="Calibri"/>
                <a:ea typeface="Calibri"/>
                <a:cs typeface="Calibri"/>
                <a:sym typeface="Calibri"/>
              </a:rPr>
              <a:t>✦ Healthcare, insurance, education (FERPA-adjacent)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9" name="Google Shape;39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9632" y="25603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7"/>
          <p:cNvSpPr/>
          <p:nvPr/>
        </p:nvSpPr>
        <p:spPr>
          <a:xfrm>
            <a:off x="6455664" y="25603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Core data stays on-prem at all times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1" name="Google Shape;4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9632" y="30175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7"/>
          <p:cNvSpPr/>
          <p:nvPr/>
        </p:nvSpPr>
        <p:spPr>
          <a:xfrm>
            <a:off x="6455664" y="30175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PII stripped before any LLM API call leaves network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3" name="Google Shape;40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9632" y="34747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7"/>
          <p:cNvSpPr/>
          <p:nvPr/>
        </p:nvSpPr>
        <p:spPr>
          <a:xfrm>
            <a:off x="6455664" y="34747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Best of both — compliance + latest AI capability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5" name="Google Shape;405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9632" y="393192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7"/>
          <p:cNvSpPr/>
          <p:nvPr/>
        </p:nvSpPr>
        <p:spPr>
          <a:xfrm>
            <a:off x="6455664" y="393192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45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334455"/>
                </a:solidFill>
                <a:latin typeface="Calibri"/>
                <a:ea typeface="Calibri"/>
                <a:cs typeface="Calibri"/>
                <a:sym typeface="Calibri"/>
              </a:rPr>
              <a:t>Configurable: switch LLM provider per tenant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7"/>
          <p:cNvSpPr/>
          <p:nvPr/>
        </p:nvSpPr>
        <p:spPr>
          <a:xfrm>
            <a:off x="6071616" y="4498848"/>
            <a:ext cx="2761488" cy="420624"/>
          </a:xfrm>
          <a:prstGeom prst="rect">
            <a:avLst/>
          </a:prstGeom>
          <a:solidFill>
            <a:srgbClr val="6B4FBB"/>
          </a:solidFill>
          <a:ln cap="flat" cmpd="sng" w="12700">
            <a:solidFill>
              <a:srgbClr val="6B4F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7"/>
          <p:cNvSpPr/>
          <p:nvPr/>
        </p:nvSpPr>
        <p:spPr>
          <a:xfrm>
            <a:off x="6181344" y="4553712"/>
            <a:ext cx="257860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Best for: sensitive data + AI power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7"/>
          <p:cNvSpPr/>
          <p:nvPr/>
        </p:nvSpPr>
        <p:spPr>
          <a:xfrm>
            <a:off x="256032" y="4992624"/>
            <a:ext cx="8631936" cy="91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Same AI core · Same codebase · Deployment mode is a config switch — not a different product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B47"/>
        </a:solid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8"/>
          <p:cNvSpPr/>
          <p:nvPr/>
        </p:nvSpPr>
        <p:spPr>
          <a:xfrm>
            <a:off x="365760" y="164592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UNDER THE HOOD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8"/>
          <p:cNvSpPr/>
          <p:nvPr/>
        </p:nvSpPr>
        <p:spPr>
          <a:xfrm>
            <a:off x="365760" y="438912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Built to scale. Designed to comply.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8"/>
          <p:cNvSpPr/>
          <p:nvPr/>
        </p:nvSpPr>
        <p:spPr>
          <a:xfrm>
            <a:off x="228600" y="1115568"/>
            <a:ext cx="2029968" cy="2999232"/>
          </a:xfrm>
          <a:prstGeom prst="rect">
            <a:avLst/>
          </a:prstGeom>
          <a:solidFill>
            <a:srgbClr val="1A2255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8"/>
          <p:cNvSpPr/>
          <p:nvPr/>
        </p:nvSpPr>
        <p:spPr>
          <a:xfrm>
            <a:off x="228600" y="1115568"/>
            <a:ext cx="2029968" cy="347472"/>
          </a:xfrm>
          <a:prstGeom prst="rect">
            <a:avLst/>
          </a:prstGeom>
          <a:solidFill>
            <a:srgbClr val="283580"/>
          </a:solidFill>
          <a:ln cap="flat" cmpd="sng" w="12700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8"/>
          <p:cNvSpPr/>
          <p:nvPr/>
        </p:nvSpPr>
        <p:spPr>
          <a:xfrm>
            <a:off x="320040" y="1143000"/>
            <a:ext cx="1874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INPUT CHANNELS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8"/>
          <p:cNvSpPr/>
          <p:nvPr/>
        </p:nvSpPr>
        <p:spPr>
          <a:xfrm>
            <a:off x="320040" y="1536192"/>
            <a:ext cx="1847088" cy="347472"/>
          </a:xfrm>
          <a:prstGeom prst="rect">
            <a:avLst/>
          </a:prstGeom>
          <a:solidFill>
            <a:srgbClr val="232D6B"/>
          </a:solidFill>
          <a:ln cap="flat" cmpd="sng" w="9525">
            <a:solidFill>
              <a:srgbClr val="2D3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1" name="Google Shape;42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4904" y="15910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8"/>
          <p:cNvSpPr/>
          <p:nvPr/>
        </p:nvSpPr>
        <p:spPr>
          <a:xfrm>
            <a:off x="667512" y="1609344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WhatsApp Business API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8"/>
          <p:cNvSpPr/>
          <p:nvPr/>
        </p:nvSpPr>
        <p:spPr>
          <a:xfrm>
            <a:off x="320040" y="1993392"/>
            <a:ext cx="1847088" cy="347472"/>
          </a:xfrm>
          <a:prstGeom prst="rect">
            <a:avLst/>
          </a:prstGeom>
          <a:solidFill>
            <a:srgbClr val="232D6B"/>
          </a:solidFill>
          <a:ln cap="flat" cmpd="sng" w="9525">
            <a:solidFill>
              <a:srgbClr val="2D3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4" name="Google Shape;42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4904" y="20482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8"/>
          <p:cNvSpPr/>
          <p:nvPr/>
        </p:nvSpPr>
        <p:spPr>
          <a:xfrm>
            <a:off x="667512" y="2066544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Email (IMAP / OAuth)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8"/>
          <p:cNvSpPr/>
          <p:nvPr/>
        </p:nvSpPr>
        <p:spPr>
          <a:xfrm>
            <a:off x="320040" y="2450592"/>
            <a:ext cx="1847088" cy="347472"/>
          </a:xfrm>
          <a:prstGeom prst="rect">
            <a:avLst/>
          </a:prstGeom>
          <a:solidFill>
            <a:srgbClr val="2D0A0A"/>
          </a:solidFill>
          <a:ln cap="flat" cmpd="sng" w="9525">
            <a:solidFill>
              <a:srgbClr val="5D101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7" name="Google Shape;42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4904" y="25054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8"/>
          <p:cNvSpPr/>
          <p:nvPr/>
        </p:nvSpPr>
        <p:spPr>
          <a:xfrm>
            <a:off x="667512" y="2523744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Twitter / X — alert mode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8"/>
          <p:cNvSpPr/>
          <p:nvPr/>
        </p:nvSpPr>
        <p:spPr>
          <a:xfrm>
            <a:off x="320040" y="2907792"/>
            <a:ext cx="1847088" cy="347472"/>
          </a:xfrm>
          <a:prstGeom prst="rect">
            <a:avLst/>
          </a:prstGeom>
          <a:solidFill>
            <a:srgbClr val="232D6B"/>
          </a:solidFill>
          <a:ln cap="flat" cmpd="sng" w="9525">
            <a:solidFill>
              <a:srgbClr val="2D3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0" name="Google Shape;430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74904" y="29626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8"/>
          <p:cNvSpPr/>
          <p:nvPr/>
        </p:nvSpPr>
        <p:spPr>
          <a:xfrm>
            <a:off x="667512" y="2980944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IVR — Twilio Voice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8"/>
          <p:cNvSpPr/>
          <p:nvPr/>
        </p:nvSpPr>
        <p:spPr>
          <a:xfrm>
            <a:off x="320040" y="3364992"/>
            <a:ext cx="1847088" cy="347472"/>
          </a:xfrm>
          <a:prstGeom prst="rect">
            <a:avLst/>
          </a:prstGeom>
          <a:solidFill>
            <a:srgbClr val="232D6B"/>
          </a:solidFill>
          <a:ln cap="flat" cmpd="sng" w="9525">
            <a:solidFill>
              <a:srgbClr val="2D3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3" name="Google Shape;43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4904" y="3419856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8"/>
          <p:cNvSpPr/>
          <p:nvPr/>
        </p:nvSpPr>
        <p:spPr>
          <a:xfrm>
            <a:off x="667512" y="3438144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Web Chat Widget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8"/>
          <p:cNvSpPr/>
          <p:nvPr/>
        </p:nvSpPr>
        <p:spPr>
          <a:xfrm>
            <a:off x="2286000" y="2487168"/>
            <a:ext cx="320040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8"/>
          <p:cNvSpPr/>
          <p:nvPr/>
        </p:nvSpPr>
        <p:spPr>
          <a:xfrm>
            <a:off x="2523744" y="2350008"/>
            <a:ext cx="182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8"/>
          <p:cNvSpPr/>
          <p:nvPr/>
        </p:nvSpPr>
        <p:spPr>
          <a:xfrm>
            <a:off x="2176272" y="2578608"/>
            <a:ext cx="530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700"/>
              <a:buFont typeface="Calibri"/>
              <a:buNone/>
            </a:pPr>
            <a:r>
              <a:rPr b="0" i="0" lang="en-US" sz="70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MCP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700"/>
              <a:buFont typeface="Calibri"/>
              <a:buNone/>
            </a:pPr>
            <a:r>
              <a:rPr b="0" i="0" lang="en-US" sz="70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Adapters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8"/>
          <p:cNvSpPr/>
          <p:nvPr/>
        </p:nvSpPr>
        <p:spPr>
          <a:xfrm>
            <a:off x="2670048" y="1115568"/>
            <a:ext cx="3547872" cy="2999232"/>
          </a:xfrm>
          <a:prstGeom prst="rect">
            <a:avLst/>
          </a:prstGeom>
          <a:solidFill>
            <a:srgbClr val="0A2A30"/>
          </a:solidFill>
          <a:ln cap="flat" cmpd="sng" w="15225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8"/>
          <p:cNvSpPr/>
          <p:nvPr/>
        </p:nvSpPr>
        <p:spPr>
          <a:xfrm>
            <a:off x="2670048" y="1115568"/>
            <a:ext cx="3547872" cy="347472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8"/>
          <p:cNvSpPr/>
          <p:nvPr/>
        </p:nvSpPr>
        <p:spPr>
          <a:xfrm>
            <a:off x="2761488" y="1143000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✦  AI CORE  ✦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8"/>
          <p:cNvSpPr/>
          <p:nvPr/>
        </p:nvSpPr>
        <p:spPr>
          <a:xfrm>
            <a:off x="2779776" y="1572768"/>
            <a:ext cx="3328416" cy="502920"/>
          </a:xfrm>
          <a:prstGeom prst="rect">
            <a:avLst/>
          </a:prstGeom>
          <a:solidFill>
            <a:srgbClr val="0D5C6B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2" name="Google Shape;442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834640" y="1664208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"/>
          <p:cNvSpPr/>
          <p:nvPr/>
        </p:nvSpPr>
        <p:spPr>
          <a:xfrm>
            <a:off x="3200400" y="1609344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Identity Gate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8"/>
          <p:cNvSpPr/>
          <p:nvPr/>
        </p:nvSpPr>
        <p:spPr>
          <a:xfrm>
            <a:off x="3200400" y="182880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Cross-channel person matching · Anonymous flow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8"/>
          <p:cNvSpPr/>
          <p:nvPr/>
        </p:nvSpPr>
        <p:spPr>
          <a:xfrm>
            <a:off x="2779776" y="2084832"/>
            <a:ext cx="3328416" cy="365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"/>
          <p:cNvSpPr/>
          <p:nvPr/>
        </p:nvSpPr>
        <p:spPr>
          <a:xfrm>
            <a:off x="2779776" y="2157984"/>
            <a:ext cx="3328416" cy="502920"/>
          </a:xfrm>
          <a:prstGeom prst="rect">
            <a:avLst/>
          </a:prstGeom>
          <a:solidFill>
            <a:srgbClr val="0D3D5C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7" name="Google Shape;447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834640" y="224942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8"/>
          <p:cNvSpPr/>
          <p:nvPr/>
        </p:nvSpPr>
        <p:spPr>
          <a:xfrm>
            <a:off x="3200400" y="21945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PII Scrubber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8"/>
          <p:cNvSpPr/>
          <p:nvPr/>
        </p:nvSpPr>
        <p:spPr>
          <a:xfrm>
            <a:off x="3200400" y="2414016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Presidio · India-specific (Aadhaar, PAN, mobile)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8"/>
          <p:cNvSpPr/>
          <p:nvPr/>
        </p:nvSpPr>
        <p:spPr>
          <a:xfrm>
            <a:off x="2779776" y="2670048"/>
            <a:ext cx="3328416" cy="365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8"/>
          <p:cNvSpPr/>
          <p:nvPr/>
        </p:nvSpPr>
        <p:spPr>
          <a:xfrm>
            <a:off x="2779776" y="2743200"/>
            <a:ext cx="3328416" cy="502920"/>
          </a:xfrm>
          <a:prstGeom prst="rect">
            <a:avLst/>
          </a:prstGeom>
          <a:solidFill>
            <a:srgbClr val="3D2A00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2" name="Google Shape;452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834640" y="28346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8"/>
          <p:cNvSpPr/>
          <p:nvPr/>
        </p:nvSpPr>
        <p:spPr>
          <a:xfrm>
            <a:off x="3200400" y="2779776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Conversation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8"/>
          <p:cNvSpPr/>
          <p:nvPr/>
        </p:nvSpPr>
        <p:spPr>
          <a:xfrm>
            <a:off x="3200400" y="2999232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LangChain · GPT-4o / Claude / Gemini / Llama 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8"/>
          <p:cNvSpPr/>
          <p:nvPr/>
        </p:nvSpPr>
        <p:spPr>
          <a:xfrm>
            <a:off x="2779776" y="3255264"/>
            <a:ext cx="3328416" cy="365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8"/>
          <p:cNvSpPr/>
          <p:nvPr/>
        </p:nvSpPr>
        <p:spPr>
          <a:xfrm>
            <a:off x="2779776" y="3328416"/>
            <a:ext cx="3328416" cy="502920"/>
          </a:xfrm>
          <a:prstGeom prst="rect">
            <a:avLst/>
          </a:prstGeom>
          <a:solidFill>
            <a:srgbClr val="3D0A0A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7" name="Google Shape;457;p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834640" y="341985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8"/>
          <p:cNvSpPr/>
          <p:nvPr/>
        </p:nvSpPr>
        <p:spPr>
          <a:xfrm>
            <a:off x="3200400" y="3364992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Classify + Prioritise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8"/>
          <p:cNvSpPr/>
          <p:nvPr/>
        </p:nvSpPr>
        <p:spPr>
          <a:xfrm>
            <a:off x="3200400" y="3584448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Sentiment · SLA · Twitter urgency · Repeat score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8"/>
          <p:cNvSpPr/>
          <p:nvPr/>
        </p:nvSpPr>
        <p:spPr>
          <a:xfrm>
            <a:off x="6245352" y="2487168"/>
            <a:ext cx="320040" cy="54864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8"/>
          <p:cNvSpPr/>
          <p:nvPr/>
        </p:nvSpPr>
        <p:spPr>
          <a:xfrm>
            <a:off x="6473952" y="2350008"/>
            <a:ext cx="1828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090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028090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8"/>
          <p:cNvSpPr/>
          <p:nvPr/>
        </p:nvSpPr>
        <p:spPr>
          <a:xfrm>
            <a:off x="6144768" y="2578608"/>
            <a:ext cx="5303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700"/>
              <a:buFont typeface="Calibri"/>
              <a:buNone/>
            </a:pPr>
            <a:r>
              <a:rPr b="0" i="0" lang="en-US" sz="70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700"/>
              <a:buFont typeface="Calibri"/>
              <a:buNone/>
            </a:pPr>
            <a:r>
              <a:rPr b="0" i="0" lang="en-US" sz="70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Bus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8"/>
          <p:cNvSpPr/>
          <p:nvPr/>
        </p:nvSpPr>
        <p:spPr>
          <a:xfrm>
            <a:off x="6675120" y="1115568"/>
            <a:ext cx="2148840" cy="2999232"/>
          </a:xfrm>
          <a:prstGeom prst="rect">
            <a:avLst/>
          </a:prstGeom>
          <a:solidFill>
            <a:srgbClr val="1A2255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8"/>
          <p:cNvSpPr/>
          <p:nvPr/>
        </p:nvSpPr>
        <p:spPr>
          <a:xfrm>
            <a:off x="6675120" y="1115568"/>
            <a:ext cx="2148840" cy="347472"/>
          </a:xfrm>
          <a:prstGeom prst="rect">
            <a:avLst/>
          </a:prstGeom>
          <a:solidFill>
            <a:srgbClr val="283580"/>
          </a:solidFill>
          <a:ln cap="flat" cmpd="sng" w="12700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8"/>
          <p:cNvSpPr/>
          <p:nvPr/>
        </p:nvSpPr>
        <p:spPr>
          <a:xfrm>
            <a:off x="6766560" y="1143000"/>
            <a:ext cx="19933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8"/>
          <p:cNvSpPr/>
          <p:nvPr/>
        </p:nvSpPr>
        <p:spPr>
          <a:xfrm>
            <a:off x="6766560" y="1554480"/>
            <a:ext cx="1965960" cy="749808"/>
          </a:xfrm>
          <a:prstGeom prst="rect">
            <a:avLst/>
          </a:prstGeom>
          <a:solidFill>
            <a:srgbClr val="0A3D5C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67" name="Google Shape;467;p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821424" y="168249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8"/>
          <p:cNvSpPr/>
          <p:nvPr/>
        </p:nvSpPr>
        <p:spPr>
          <a:xfrm>
            <a:off x="7168896" y="1609344"/>
            <a:ext cx="15087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 Dashboard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8"/>
          <p:cNvSpPr/>
          <p:nvPr/>
        </p:nvSpPr>
        <p:spPr>
          <a:xfrm>
            <a:off x="7168896" y="1847088"/>
            <a:ext cx="15087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Priority inbox · AI tips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SLA tracker · Analytics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8"/>
          <p:cNvSpPr/>
          <p:nvPr/>
        </p:nvSpPr>
        <p:spPr>
          <a:xfrm>
            <a:off x="6766560" y="2432304"/>
            <a:ext cx="1965960" cy="749808"/>
          </a:xfrm>
          <a:prstGeom prst="rect">
            <a:avLst/>
          </a:prstGeom>
          <a:solidFill>
            <a:srgbClr val="0A3D2A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1" name="Google Shape;471;p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821424" y="256032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8"/>
          <p:cNvSpPr/>
          <p:nvPr/>
        </p:nvSpPr>
        <p:spPr>
          <a:xfrm>
            <a:off x="7168896" y="2487168"/>
            <a:ext cx="15087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Citizen Portal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8"/>
          <p:cNvSpPr/>
          <p:nvPr/>
        </p:nvSpPr>
        <p:spPr>
          <a:xfrm>
            <a:off x="7168896" y="2724912"/>
            <a:ext cx="15087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Self-serve status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Anon reference lookup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8"/>
          <p:cNvSpPr/>
          <p:nvPr/>
        </p:nvSpPr>
        <p:spPr>
          <a:xfrm>
            <a:off x="6766560" y="3310128"/>
            <a:ext cx="1965960" cy="749808"/>
          </a:xfrm>
          <a:prstGeom prst="rect">
            <a:avLst/>
          </a:prstGeom>
          <a:solidFill>
            <a:srgbClr val="3D2A00"/>
          </a:solidFill>
          <a:ln cap="flat" cmpd="sng" w="9525">
            <a:solidFill>
              <a:srgbClr val="2835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5" name="Google Shape;47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21424" y="343814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8"/>
          <p:cNvSpPr/>
          <p:nvPr/>
        </p:nvSpPr>
        <p:spPr>
          <a:xfrm>
            <a:off x="7168896" y="3364992"/>
            <a:ext cx="15087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Notifications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8"/>
          <p:cNvSpPr/>
          <p:nvPr/>
        </p:nvSpPr>
        <p:spPr>
          <a:xfrm>
            <a:off x="7168896" y="3602736"/>
            <a:ext cx="150876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SMS · Email · Webhook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Twitter auto-reply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8"/>
          <p:cNvSpPr/>
          <p:nvPr/>
        </p:nvSpPr>
        <p:spPr>
          <a:xfrm>
            <a:off x="3401568" y="4206240"/>
            <a:ext cx="2084832" cy="420624"/>
          </a:xfrm>
          <a:prstGeom prst="rect">
            <a:avLst/>
          </a:prstGeom>
          <a:solidFill>
            <a:srgbClr val="0A2A30"/>
          </a:solidFill>
          <a:ln cap="flat" cmpd="sng" w="101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9" name="Google Shape;479;p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3474720" y="42428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Google Shape;480;p8"/>
          <p:cNvSpPr/>
          <p:nvPr/>
        </p:nvSpPr>
        <p:spPr>
          <a:xfrm>
            <a:off x="3803904" y="4261104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PostgreSQL + Valkey (MIT licensed)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8"/>
          <p:cNvSpPr/>
          <p:nvPr/>
        </p:nvSpPr>
        <p:spPr>
          <a:xfrm>
            <a:off x="228600" y="4645152"/>
            <a:ext cx="2121408" cy="384048"/>
          </a:xfrm>
          <a:prstGeom prst="rect">
            <a:avLst/>
          </a:prstGeom>
          <a:solidFill>
            <a:srgbClr val="0A3D2A"/>
          </a:solidFill>
          <a:ln cap="flat" cmpd="sng" w="952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8"/>
          <p:cNvSpPr/>
          <p:nvPr/>
        </p:nvSpPr>
        <p:spPr>
          <a:xfrm>
            <a:off x="301752" y="4681728"/>
            <a:ext cx="19933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☁  Cloud SaaS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8"/>
          <p:cNvSpPr/>
          <p:nvPr/>
        </p:nvSpPr>
        <p:spPr>
          <a:xfrm>
            <a:off x="2459736" y="4645152"/>
            <a:ext cx="2121408" cy="384048"/>
          </a:xfrm>
          <a:prstGeom prst="rect">
            <a:avLst/>
          </a:prstGeom>
          <a:solidFill>
            <a:srgbClr val="3D2A00"/>
          </a:solidFill>
          <a:ln cap="flat" cmpd="sng" w="9525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8"/>
          <p:cNvSpPr/>
          <p:nvPr/>
        </p:nvSpPr>
        <p:spPr>
          <a:xfrm>
            <a:off x="2532888" y="4681728"/>
            <a:ext cx="19933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🏛  On-premises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8"/>
          <p:cNvSpPr/>
          <p:nvPr/>
        </p:nvSpPr>
        <p:spPr>
          <a:xfrm>
            <a:off x="4690872" y="4645152"/>
            <a:ext cx="2121408" cy="384048"/>
          </a:xfrm>
          <a:prstGeom prst="rect">
            <a:avLst/>
          </a:prstGeom>
          <a:solidFill>
            <a:srgbClr val="1A1040"/>
          </a:solidFill>
          <a:ln cap="flat" cmpd="sng" w="9525">
            <a:solidFill>
              <a:srgbClr val="6B4F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8"/>
          <p:cNvSpPr/>
          <p:nvPr/>
        </p:nvSpPr>
        <p:spPr>
          <a:xfrm>
            <a:off x="4764024" y="4681728"/>
            <a:ext cx="19933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4FBB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6B4FBB"/>
                </a:solidFill>
                <a:latin typeface="Calibri"/>
                <a:ea typeface="Calibri"/>
                <a:cs typeface="Calibri"/>
                <a:sym typeface="Calibri"/>
              </a:rPr>
              <a:t>🔒  PII stripped pre-LLM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8"/>
          <p:cNvSpPr/>
          <p:nvPr/>
        </p:nvSpPr>
        <p:spPr>
          <a:xfrm>
            <a:off x="6922008" y="4645152"/>
            <a:ext cx="2121408" cy="384048"/>
          </a:xfrm>
          <a:prstGeom prst="rect">
            <a:avLst/>
          </a:prstGeom>
          <a:solidFill>
            <a:srgbClr val="1A3D00"/>
          </a:solidFill>
          <a:ln cap="flat" cmpd="sng" w="9525">
            <a:solidFill>
              <a:srgbClr val="1A936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6995160" y="4681728"/>
            <a:ext cx="199339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936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1A936F"/>
                </a:solidFill>
                <a:latin typeface="Calibri"/>
                <a:ea typeface="Calibri"/>
                <a:cs typeface="Calibri"/>
                <a:sym typeface="Calibri"/>
              </a:rPr>
              <a:t>⚡  MIT open source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B47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cap="flat" cmpd="sng" w="1270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9"/>
          <p:cNvSpPr/>
          <p:nvPr/>
        </p:nvSpPr>
        <p:spPr>
          <a:xfrm>
            <a:off x="6400800" y="-1005840"/>
            <a:ext cx="3657600" cy="3657600"/>
          </a:xfrm>
          <a:prstGeom prst="ellipse">
            <a:avLst/>
          </a:prstGeom>
          <a:solidFill>
            <a:srgbClr val="1E2761">
              <a:alpha val="60000"/>
            </a:srgbClr>
          </a:solidFill>
          <a:ln cap="flat" cmpd="sng" w="15225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9"/>
          <p:cNvSpPr/>
          <p:nvPr/>
        </p:nvSpPr>
        <p:spPr>
          <a:xfrm>
            <a:off x="7223760" y="-365760"/>
            <a:ext cx="2194560" cy="2194560"/>
          </a:xfrm>
          <a:prstGeom prst="ellipse">
            <a:avLst/>
          </a:prstGeom>
          <a:solidFill>
            <a:srgbClr val="028090">
              <a:alpha val="34901"/>
            </a:srgbClr>
          </a:solidFill>
          <a:ln cap="flat" cmpd="sng" w="1015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9"/>
          <p:cNvSpPr/>
          <p:nvPr/>
        </p:nvSpPr>
        <p:spPr>
          <a:xfrm>
            <a:off x="365760" y="45720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Georgia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The complaint that gets heard —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9"/>
          <p:cNvSpPr/>
          <p:nvPr/>
        </p:nvSpPr>
        <p:spPr>
          <a:xfrm>
            <a:off x="365760" y="100584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2700"/>
              <a:buFont typeface="Georgia"/>
              <a:buNone/>
            </a:pPr>
            <a:r>
              <a:rPr b="1" i="0" lang="en-US" sz="2700" u="none" cap="none" strike="noStrike">
                <a:solidFill>
                  <a:srgbClr val="02C39A"/>
                </a:solidFill>
                <a:latin typeface="Georgia"/>
                <a:ea typeface="Georgia"/>
                <a:cs typeface="Georgia"/>
                <a:sym typeface="Georgia"/>
              </a:rPr>
              <a:t>every time, on every channel.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9"/>
          <p:cNvSpPr/>
          <p:nvPr/>
        </p:nvSpPr>
        <p:spPr>
          <a:xfrm>
            <a:off x="365760" y="1664208"/>
            <a:ext cx="2011680" cy="36576"/>
          </a:xfrm>
          <a:prstGeom prst="rect">
            <a:avLst/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9"/>
          <p:cNvSpPr/>
          <p:nvPr/>
        </p:nvSpPr>
        <p:spPr>
          <a:xfrm>
            <a:off x="365760" y="1847088"/>
            <a:ext cx="2688336" cy="786384"/>
          </a:xfrm>
          <a:prstGeom prst="rect">
            <a:avLst/>
          </a:prstGeom>
          <a:solidFill>
            <a:srgbClr val="0A2A30"/>
          </a:solidFill>
          <a:ln cap="flat" cmpd="sng" w="101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01" name="Google Shape;50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88" y="19202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9"/>
          <p:cNvSpPr/>
          <p:nvPr/>
        </p:nvSpPr>
        <p:spPr>
          <a:xfrm>
            <a:off x="841248" y="1901952"/>
            <a:ext cx="212140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Anchored in a real problem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9"/>
          <p:cNvSpPr/>
          <p:nvPr/>
        </p:nvSpPr>
        <p:spPr>
          <a:xfrm>
            <a:off x="841248" y="2157984"/>
            <a:ext cx="2121408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TNEB customer care + social media desk — observed firsthand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9"/>
          <p:cNvSpPr/>
          <p:nvPr/>
        </p:nvSpPr>
        <p:spPr>
          <a:xfrm>
            <a:off x="3218688" y="1847088"/>
            <a:ext cx="2688336" cy="786384"/>
          </a:xfrm>
          <a:prstGeom prst="rect">
            <a:avLst/>
          </a:prstGeom>
          <a:solidFill>
            <a:srgbClr val="0A2A30"/>
          </a:solidFill>
          <a:ln cap="flat" cmpd="sng" w="101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05" name="Google Shape;50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28416" y="19202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9"/>
          <p:cNvSpPr/>
          <p:nvPr/>
        </p:nvSpPr>
        <p:spPr>
          <a:xfrm>
            <a:off x="3694176" y="1901952"/>
            <a:ext cx="212140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19 feature specs complete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9"/>
          <p:cNvSpPr/>
          <p:nvPr/>
        </p:nvSpPr>
        <p:spPr>
          <a:xfrm>
            <a:off x="3694176" y="2157984"/>
            <a:ext cx="2121408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Build-order defined · fully modular · ready for Claude Code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9"/>
          <p:cNvSpPr/>
          <p:nvPr/>
        </p:nvSpPr>
        <p:spPr>
          <a:xfrm>
            <a:off x="6071616" y="1847088"/>
            <a:ext cx="2688336" cy="786384"/>
          </a:xfrm>
          <a:prstGeom prst="rect">
            <a:avLst/>
          </a:prstGeom>
          <a:solidFill>
            <a:srgbClr val="0A2A30"/>
          </a:solidFill>
          <a:ln cap="flat" cmpd="sng" w="101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09" name="Google Shape;50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81344" y="19202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10" name="Google Shape;510;p9"/>
          <p:cNvSpPr/>
          <p:nvPr/>
        </p:nvSpPr>
        <p:spPr>
          <a:xfrm>
            <a:off x="6547104" y="1901952"/>
            <a:ext cx="2121408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chosen — fully open source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9"/>
          <p:cNvSpPr/>
          <p:nvPr/>
        </p:nvSpPr>
        <p:spPr>
          <a:xfrm>
            <a:off x="6547104" y="2157984"/>
            <a:ext cx="2121408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Node · Python · PostgreSQL · Valkey · Next.js · MIT licensed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9"/>
          <p:cNvSpPr/>
          <p:nvPr/>
        </p:nvSpPr>
        <p:spPr>
          <a:xfrm>
            <a:off x="365760" y="2788920"/>
            <a:ext cx="8412480" cy="1316736"/>
          </a:xfrm>
          <a:prstGeom prst="rect">
            <a:avLst/>
          </a:prstGeom>
          <a:solidFill>
            <a:srgbClr val="0D1540"/>
          </a:solidFill>
          <a:ln cap="flat" cmpd="sng" w="9525">
            <a:solidFill>
              <a:srgbClr val="CADC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9"/>
          <p:cNvSpPr/>
          <p:nvPr/>
        </p:nvSpPr>
        <p:spPr>
          <a:xfrm>
            <a:off x="365760" y="2788920"/>
            <a:ext cx="54864" cy="1316736"/>
          </a:xfrm>
          <a:prstGeom prst="rect">
            <a:avLst/>
          </a:prstGeom>
          <a:solidFill>
            <a:srgbClr val="F9C74F"/>
          </a:solidFill>
          <a:ln cap="flat" cmpd="sng" w="12700">
            <a:solidFill>
              <a:srgbClr val="F9C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9"/>
          <p:cNvSpPr/>
          <p:nvPr/>
        </p:nvSpPr>
        <p:spPr>
          <a:xfrm>
            <a:off x="548640" y="28346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C74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9C74F"/>
                </a:solidFill>
                <a:latin typeface="Calibri"/>
                <a:ea typeface="Calibri"/>
                <a:cs typeface="Calibri"/>
                <a:sym typeface="Calibri"/>
              </a:rPr>
              <a:t>Questions for our professor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9"/>
          <p:cNvSpPr/>
          <p:nvPr/>
        </p:nvSpPr>
        <p:spPr>
          <a:xfrm>
            <a:off x="566928" y="3163824"/>
            <a:ext cx="81015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1.  We anchored in a utility customer care context — is this the right vertical to validate first, or would a private sector pilot be faster?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9"/>
          <p:cNvSpPr/>
          <p:nvPr/>
        </p:nvSpPr>
        <p:spPr>
          <a:xfrm>
            <a:off x="566928" y="3438144"/>
            <a:ext cx="81015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2.  What would make this credible enough for a first real pilot — even an unpaid one with a small team at TNEB or a mid-size company?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9"/>
          <p:cNvSpPr/>
          <p:nvPr/>
        </p:nvSpPr>
        <p:spPr>
          <a:xfrm>
            <a:off x="566928" y="3712464"/>
            <a:ext cx="81015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3.  Any gaps in how we have framed the bottom-up story — from one observed firm to a scalable platform?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9"/>
          <p:cNvSpPr/>
          <p:nvPr/>
        </p:nvSpPr>
        <p:spPr>
          <a:xfrm>
            <a:off x="0" y="4443984"/>
            <a:ext cx="9144000" cy="699516"/>
          </a:xfrm>
          <a:prstGeom prst="rect">
            <a:avLst/>
          </a:prstGeom>
          <a:solidFill>
            <a:srgbClr val="1E2761"/>
          </a:solidFill>
          <a:ln cap="flat" cmpd="sng" w="12700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9"/>
          <p:cNvSpPr/>
          <p:nvPr/>
        </p:nvSpPr>
        <p:spPr>
          <a:xfrm>
            <a:off x="365760" y="4498848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UniServe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9"/>
          <p:cNvSpPr/>
          <p:nvPr/>
        </p:nvSpPr>
        <p:spPr>
          <a:xfrm>
            <a:off x="365760" y="4809744"/>
            <a:ext cx="45720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AI-Powered Complaint Portal · One platform for every sector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9"/>
          <p:cNvSpPr/>
          <p:nvPr/>
        </p:nvSpPr>
        <p:spPr>
          <a:xfrm>
            <a:off x="6858000" y="4626864"/>
            <a:ext cx="19202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899A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899AA"/>
                </a:solidFill>
                <a:latin typeface="Calibri"/>
                <a:ea typeface="Calibri"/>
                <a:cs typeface="Calibri"/>
                <a:sym typeface="Calibri"/>
              </a:rPr>
              <a:t>Capstone · June 2025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9"/>
          <p:cNvSpPr/>
          <p:nvPr/>
        </p:nvSpPr>
        <p:spPr>
          <a:xfrm>
            <a:off x="5669280" y="4864608"/>
            <a:ext cx="31089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Bottom-up from a real TNEB observation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2026-06-06T06:20:13Z</dcterms:created>
  <dc:creator>PptxGenJS</dc:creator>
</cp:coreProperties>
</file>