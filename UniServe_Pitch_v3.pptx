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/ZuXIhfR0D6R9kmWjG+IQD028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e1e65c60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e1e65c60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e1e65c60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13" Type="http://schemas.openxmlformats.org/officeDocument/2006/relationships/image" Target="../media/image40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9" Type="http://schemas.openxmlformats.org/officeDocument/2006/relationships/image" Target="../media/image14.png"/><Relationship Id="rId1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5.png"/><Relationship Id="rId9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0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70.png"/><Relationship Id="rId5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3.png"/><Relationship Id="rId4" Type="http://schemas.openxmlformats.org/officeDocument/2006/relationships/image" Target="../media/image32.png"/><Relationship Id="rId5" Type="http://schemas.openxmlformats.org/officeDocument/2006/relationships/image" Target="../media/image45.png"/><Relationship Id="rId6" Type="http://schemas.openxmlformats.org/officeDocument/2006/relationships/image" Target="../media/image7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66.png"/><Relationship Id="rId13" Type="http://schemas.openxmlformats.org/officeDocument/2006/relationships/image" Target="../media/image4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72.png"/><Relationship Id="rId14" Type="http://schemas.openxmlformats.org/officeDocument/2006/relationships/image" Target="../media/image6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6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74.png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e1e65c604_0_0"/>
          <p:cNvSpPr/>
          <p:nvPr/>
        </p:nvSpPr>
        <p:spPr>
          <a:xfrm>
            <a:off x="6217920" y="-1280160"/>
            <a:ext cx="4206300" cy="4206300"/>
          </a:xfrm>
          <a:prstGeom prst="ellipse">
            <a:avLst/>
          </a:prstGeom>
          <a:solidFill>
            <a:srgbClr val="028090">
              <a:alpha val="1216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ee1e65c604_0_0"/>
          <p:cNvSpPr/>
          <p:nvPr/>
        </p:nvSpPr>
        <p:spPr>
          <a:xfrm>
            <a:off x="7040880" y="-457200"/>
            <a:ext cx="2377500" cy="2377500"/>
          </a:xfrm>
          <a:prstGeom prst="ellipse">
            <a:avLst/>
          </a:prstGeom>
          <a:solidFill>
            <a:srgbClr val="028090">
              <a:alpha val="21960"/>
            </a:srgbClr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g3ee1e65c60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256032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g3ee1e65c60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8120" y="54864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g3ee1e65c60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201168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g3ee1e65c604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252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g3ee1e65c604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8080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ee1e65c604_0_0"/>
          <p:cNvSpPr/>
          <p:nvPr/>
        </p:nvSpPr>
        <p:spPr>
          <a:xfrm>
            <a:off x="502920" y="38404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B4C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EB4C8"/>
                </a:solidFill>
                <a:latin typeface="Calibri"/>
                <a:ea typeface="Calibri"/>
                <a:cs typeface="Calibri"/>
                <a:sym typeface="Calibri"/>
              </a:rPr>
              <a:t>CAPSTONE PROJECT PROPOSAL  ·  IIT PRAVARTAK  ·  JUNE 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ee1e65c604_0_0"/>
          <p:cNvSpPr/>
          <p:nvPr/>
        </p:nvSpPr>
        <p:spPr>
          <a:xfrm>
            <a:off x="502920" y="768096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mbria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UniServe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ee1e65c604_0_0"/>
          <p:cNvSpPr/>
          <p:nvPr/>
        </p:nvSpPr>
        <p:spPr>
          <a:xfrm>
            <a:off x="502920" y="1737360"/>
            <a:ext cx="65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AI-Powered Unified Complaint &amp; Feedback Portal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ee1e65c604_0_0"/>
          <p:cNvSpPr/>
          <p:nvPr/>
        </p:nvSpPr>
        <p:spPr>
          <a:xfrm>
            <a:off x="502920" y="2304288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●  ●  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ee1e65c604_0_0"/>
          <p:cNvSpPr/>
          <p:nvPr/>
        </p:nvSpPr>
        <p:spPr>
          <a:xfrm>
            <a:off x="502920" y="2578608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B4C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EB4C8"/>
                </a:solidFill>
                <a:latin typeface="Calibri"/>
                <a:ea typeface="Calibri"/>
                <a:cs typeface="Calibri"/>
                <a:sym typeface="Calibri"/>
              </a:rPr>
              <a:t>What this presentation covers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ee1e65c604_0_0"/>
          <p:cNvSpPr/>
          <p:nvPr/>
        </p:nvSpPr>
        <p:spPr>
          <a:xfrm>
            <a:off x="502920" y="2944368"/>
            <a:ext cx="82200" cy="822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ee1e65c604_0_0"/>
          <p:cNvSpPr/>
          <p:nvPr/>
        </p:nvSpPr>
        <p:spPr>
          <a:xfrm>
            <a:off x="667512" y="2944368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real problem — observed firsthand at TNEB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ee1e65c604_0_0"/>
          <p:cNvSpPr/>
          <p:nvPr/>
        </p:nvSpPr>
        <p:spPr>
          <a:xfrm>
            <a:off x="502920" y="3264408"/>
            <a:ext cx="82200" cy="822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ee1e65c604_0_0"/>
          <p:cNvSpPr/>
          <p:nvPr/>
        </p:nvSpPr>
        <p:spPr>
          <a:xfrm>
            <a:off x="667512" y="3264408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Why existing tools leave the gap open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ee1e65c604_0_0"/>
          <p:cNvSpPr/>
          <p:nvPr/>
        </p:nvSpPr>
        <p:spPr>
          <a:xfrm>
            <a:off x="502920" y="3584448"/>
            <a:ext cx="82200" cy="822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ee1e65c604_0_0"/>
          <p:cNvSpPr/>
          <p:nvPr/>
        </p:nvSpPr>
        <p:spPr>
          <a:xfrm>
            <a:off x="667512" y="3584448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UniServe solution — 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ee1e65c604_0_0"/>
          <p:cNvSpPr/>
          <p:nvPr/>
        </p:nvSpPr>
        <p:spPr>
          <a:xfrm>
            <a:off x="502920" y="3904488"/>
            <a:ext cx="82200" cy="822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ee1e65c604_0_0"/>
          <p:cNvSpPr/>
          <p:nvPr/>
        </p:nvSpPr>
        <p:spPr>
          <a:xfrm>
            <a:off x="667512" y="3904488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Who it serves and how it scales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e1e65c604_0_0"/>
          <p:cNvSpPr/>
          <p:nvPr/>
        </p:nvSpPr>
        <p:spPr>
          <a:xfrm>
            <a:off x="502920" y="4224528"/>
            <a:ext cx="82200" cy="822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ee1e65c604_0_0"/>
          <p:cNvSpPr/>
          <p:nvPr/>
        </p:nvSpPr>
        <p:spPr>
          <a:xfrm>
            <a:off x="667512" y="4224528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Business case, ROI, and the path to market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ee1e65c604_0_0"/>
          <p:cNvSpPr/>
          <p:nvPr/>
        </p:nvSpPr>
        <p:spPr>
          <a:xfrm>
            <a:off x="0" y="4462272"/>
            <a:ext cx="9144000" cy="6813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ee1e65c604_0_0"/>
          <p:cNvSpPr/>
          <p:nvPr/>
        </p:nvSpPr>
        <p:spPr>
          <a:xfrm>
            <a:off x="1097280" y="448056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 min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ee1e65c604_0_0"/>
          <p:cNvSpPr/>
          <p:nvPr/>
        </p:nvSpPr>
        <p:spPr>
          <a:xfrm>
            <a:off x="1097280" y="4800600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F0F5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ee1e65c604_0_0"/>
          <p:cNvSpPr/>
          <p:nvPr/>
        </p:nvSpPr>
        <p:spPr>
          <a:xfrm>
            <a:off x="3749040" y="448056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 min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ee1e65c604_0_0"/>
          <p:cNvSpPr/>
          <p:nvPr/>
        </p:nvSpPr>
        <p:spPr>
          <a:xfrm>
            <a:off x="3749040" y="4800600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F0F5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ee1e65c604_0_0"/>
          <p:cNvSpPr/>
          <p:nvPr/>
        </p:nvSpPr>
        <p:spPr>
          <a:xfrm>
            <a:off x="6400800" y="4480560"/>
            <a:ext cx="201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ee1e65c604_0_0"/>
          <p:cNvSpPr/>
          <p:nvPr/>
        </p:nvSpPr>
        <p:spPr>
          <a:xfrm>
            <a:off x="6400800" y="4800600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F0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F0F5"/>
                </a:solidFill>
                <a:latin typeface="Calibri"/>
                <a:ea typeface="Calibri"/>
                <a:cs typeface="Calibri"/>
                <a:sym typeface="Calibri"/>
              </a:rPr>
              <a:t>channels unified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6035040" y="-1188720"/>
            <a:ext cx="4389120" cy="4389120"/>
          </a:xfrm>
          <a:prstGeom prst="ellipse">
            <a:avLst/>
          </a:prstGeom>
          <a:solidFill>
            <a:srgbClr val="1E2761">
              <a:alpha val="60000"/>
            </a:srgbClr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4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164592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240" y="457200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109728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2520" y="960120"/>
            <a:ext cx="402336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3760" y="114300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347472" y="38404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GROUNDED IN A REAL OBSERVATION · TNEB CUSTOMER CARE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47472" y="694944"/>
            <a:ext cx="60350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Priya manages 200+ complaints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day. Five tools. Zero connection.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47472" y="2304288"/>
            <a:ext cx="5852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 spent time with her team — and with TNEB's Twitter monitoring desk.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we found became UniServe.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47472" y="3145536"/>
            <a:ext cx="128016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347472" y="33101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CAPSTONE PROJECT  ·  AI-POWERED COMPLAINT PORTAL  ·  JUNE 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640080" y="448056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200+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640080" y="480974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complaints/day at one utility desk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3474720" y="448056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3474720" y="480974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window before a minister-tagged tweet trends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6309360" y="448056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309360" y="480974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tickets created with missing info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0" y="0"/>
            <a:ext cx="3364992" cy="51435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201168" y="27432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THE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FIELD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28600" y="1463040"/>
            <a:ext cx="82296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228600" y="157276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TWO PEOPLE. ONE BROKEN SYSTEM.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836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566928" y="19019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Customer Care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2194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475488" y="2157984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 get the same complaint on WhatsApp, IVR and email — three tickets, three agents, nobody knows it is the same person.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228600" y="2926080"/>
            <a:ext cx="2907792" cy="18288"/>
          </a:xfrm>
          <a:prstGeom prst="rect">
            <a:avLst/>
          </a:prstGeom>
          <a:solidFill>
            <a:srgbClr val="2D3A80"/>
          </a:solidFill>
          <a:ln cap="flat" cmpd="sng" w="12700">
            <a:solidFill>
              <a:srgbClr val="2D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3017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"/>
          <p:cNvSpPr/>
          <p:nvPr/>
        </p:nvSpPr>
        <p:spPr>
          <a:xfrm>
            <a:off x="566928" y="303580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Social Media Monitor, TNEB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33101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/>
          <p:nvPr/>
        </p:nvSpPr>
        <p:spPr>
          <a:xfrm>
            <a:off x="475488" y="3273552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If a complaint tags the Minister's handle and we don't respond in 15 minutes, it trends. I watch Twitter manually. All day. There is no alert 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952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5024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11096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87168" y="47365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3547872" y="182880"/>
            <a:ext cx="2542032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3547872" y="182880"/>
            <a:ext cx="2542032" cy="54864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75888" y="3474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3675888" y="777240"/>
            <a:ext cx="23408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Fragmented channels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75888" y="1115568"/>
            <a:ext cx="234086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Same complaint via WhatsApp + IVR + email creates 3 tickets across 3 agents. No one connects the dots.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547872" y="2048256"/>
            <a:ext cx="2542032" cy="420624"/>
          </a:xfrm>
          <a:prstGeom prst="rect">
            <a:avLst/>
          </a:prstGeom>
          <a:solidFill>
            <a:srgbClr val="0D1540"/>
          </a:solidFill>
          <a:ln cap="flat" cmpd="sng" w="12700">
            <a:solidFill>
              <a:srgbClr val="0D1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547872" y="2048256"/>
            <a:ext cx="45720" cy="420624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3639312" y="208483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⚡ Observed: manual dedup takes 2 hrs/day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272784" y="182880"/>
            <a:ext cx="2542032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272784" y="182880"/>
            <a:ext cx="2542032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272784" y="182880"/>
            <a:ext cx="2542032" cy="2286000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00800" y="3474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6400800" y="777240"/>
            <a:ext cx="23408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Twitter = a public ticking clock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400800" y="1115568"/>
            <a:ext cx="234086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 tweet tagging the Minister of Electricity left unanswered for 30 mins can trend statewide. Today: one person watches manually — no automated alert, no escalation path.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272784" y="2048256"/>
            <a:ext cx="2542032" cy="420624"/>
          </a:xfrm>
          <a:prstGeom prst="rect">
            <a:avLst/>
          </a:prstGeom>
          <a:solidFill>
            <a:srgbClr val="3D0000"/>
          </a:solidFill>
          <a:ln cap="flat" cmpd="sng" w="12700">
            <a:solidFill>
              <a:srgbClr val="3D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272784" y="2048256"/>
            <a:ext cx="45720" cy="42062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364224" y="2084832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⚡ 15-min window before it escalates publicly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547872" y="2615184"/>
            <a:ext cx="2542032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547872" y="2615184"/>
            <a:ext cx="2542032" cy="54864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75888" y="2779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3675888" y="3209544"/>
            <a:ext cx="23408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Agents flying blind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3675888" y="3547872"/>
            <a:ext cx="234086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No single view of a customer's full history. Supervisors learn about escalations only when the customer tweets publicly.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547872" y="4480560"/>
            <a:ext cx="2542032" cy="420624"/>
          </a:xfrm>
          <a:prstGeom prst="rect">
            <a:avLst/>
          </a:prstGeom>
          <a:solidFill>
            <a:srgbClr val="0D1540"/>
          </a:solidFill>
          <a:ln cap="flat" cmpd="sng" w="12700">
            <a:solidFill>
              <a:srgbClr val="0D1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3547872" y="4480560"/>
            <a:ext cx="45720" cy="420624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3639312" y="451713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⚡ Observed: no real-time escalation visibility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272784" y="2615184"/>
            <a:ext cx="2542032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272784" y="2615184"/>
            <a:ext cx="2542032" cy="5486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00800" y="27797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6400800" y="3209544"/>
            <a:ext cx="23408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Complaints arrive incomplete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400800" y="3547872"/>
            <a:ext cx="2340864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30% of tickets created without meter number, bill ref or incident date. Agents call back to collect what AI could ask upfront.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272784" y="4480560"/>
            <a:ext cx="2542032" cy="420624"/>
          </a:xfrm>
          <a:prstGeom prst="rect">
            <a:avLst/>
          </a:prstGeom>
          <a:solidFill>
            <a:srgbClr val="0D1540"/>
          </a:solidFill>
          <a:ln cap="flat" cmpd="sng" w="12700">
            <a:solidFill>
              <a:srgbClr val="0D1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6272784" y="4480560"/>
            <a:ext cx="45720" cy="420624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6364224" y="4517136"/>
            <a:ext cx="24140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⚡ Observed: 30% tickets need follow-up 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WE OBSERVED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65760" y="43891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current process — mapped honestly.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56032" y="1042416"/>
            <a:ext cx="8631936" cy="329184"/>
          </a:xfrm>
          <a:prstGeom prst="rect">
            <a:avLst/>
          </a:prstGeom>
          <a:solidFill>
            <a:srgbClr val="283580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 complaint journey at a utility customer care desk  (as observed)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6032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256032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256032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contacts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56032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Any channel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572768" y="1865376"/>
            <a:ext cx="914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1591056" y="1719072"/>
            <a:ext cx="146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74320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74320" y="2487168"/>
            <a:ext cx="1280160" cy="457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/>
          <p:nvPr/>
        </p:nvSpPr>
        <p:spPr>
          <a:xfrm>
            <a:off x="310896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unified entry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point — channel 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chosen by customer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1700784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1700784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700784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checks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1700784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Manual 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3017520" y="1865376"/>
            <a:ext cx="914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3035808" y="1719072"/>
            <a:ext cx="146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719072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1719072" y="2487168"/>
            <a:ext cx="1280160" cy="457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848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/>
          <p:nvPr/>
        </p:nvSpPr>
        <p:spPr>
          <a:xfrm>
            <a:off x="1755648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Takes 10–15 min.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Often skipped under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pressure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145536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145536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3145536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created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3145536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With available info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462272" y="1865376"/>
            <a:ext cx="914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4480560" y="1719072"/>
            <a:ext cx="146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3163824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3163824" y="2487168"/>
            <a:ext cx="1280160" cy="4572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/>
          <p:nvPr/>
        </p:nvSpPr>
        <p:spPr>
          <a:xfrm>
            <a:off x="3200400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30% incomplete 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meter no., bill ref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missing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590288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4590288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590288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routing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4590288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By category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5907024" y="1865376"/>
            <a:ext cx="914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5925312" y="1719072"/>
            <a:ext cx="146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4608576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4608576" y="2487168"/>
            <a:ext cx="1280160" cy="4572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352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/>
          <p:nvPr/>
        </p:nvSpPr>
        <p:spPr>
          <a:xfrm>
            <a:off x="4645152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Wrong routing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20% of the time 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back to queue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6035040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6035040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6035040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Resolution attempt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6035040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By assigned agent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7351776" y="1865376"/>
            <a:ext cx="914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370064" y="1719072"/>
            <a:ext cx="1463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053328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6053328" y="2487168"/>
            <a:ext cx="1280160" cy="457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7104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/>
          <p:nvPr/>
        </p:nvSpPr>
        <p:spPr>
          <a:xfrm>
            <a:off x="6089904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cross-channel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follow-up — customer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may still be tweeting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7479792" y="1444752"/>
            <a:ext cx="1316736" cy="914400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7479792" y="1499616"/>
            <a:ext cx="1316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7479792" y="175564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Weekly Excel report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7479792" y="2066544"/>
            <a:ext cx="13167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Manual SLA tracking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7498080" y="2487168"/>
            <a:ext cx="1280160" cy="122529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7498080" y="2487168"/>
            <a:ext cx="1280160" cy="457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1856" y="25054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"/>
          <p:cNvSpPr/>
          <p:nvPr/>
        </p:nvSpPr>
        <p:spPr>
          <a:xfrm>
            <a:off x="7534656" y="2816352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 real-time view.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SLA breaches found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days later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658368" y="2359152"/>
            <a:ext cx="7424928" cy="36576"/>
          </a:xfrm>
          <a:prstGeom prst="rect">
            <a:avLst/>
          </a:prstGeom>
          <a:solidFill>
            <a:srgbClr val="283580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256032" y="3785616"/>
            <a:ext cx="8631936" cy="896112"/>
          </a:xfrm>
          <a:prstGeom prst="rect">
            <a:avLst/>
          </a:prstGeom>
          <a:solidFill>
            <a:srgbClr val="1A0000"/>
          </a:solidFill>
          <a:ln cap="flat" cmpd="sng" w="1015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256032" y="3785616"/>
            <a:ext cx="54864" cy="896112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9136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768096" y="3822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Critical gap observed at TNEB: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768096" y="4078224"/>
            <a:ext cx="80101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Twitter complaints tagging the Minister or Director have a 15-minute window before they trend statewide. Today this is monitored by one person, manually, with no automated alert, no escalation workflow, and no integration with the complaint ticketing system.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45720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457200" y="36576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org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One AI brain. Every channel. One truth.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274320" y="1243584"/>
            <a:ext cx="4023360" cy="402336"/>
          </a:xfrm>
          <a:prstGeom prst="rect">
            <a:avLst/>
          </a:prstGeom>
          <a:solidFill>
            <a:srgbClr val="F8EDED"/>
          </a:solidFill>
          <a:ln cap="flat" cmpd="sng" w="9525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347472" y="1280160"/>
            <a:ext cx="3877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BEFORE  →  5 channels · 5 tools · manual linking · incomplete tickets · missed SLAs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434840" y="1243584"/>
            <a:ext cx="4434840" cy="402336"/>
          </a:xfrm>
          <a:prstGeom prst="rect">
            <a:avLst/>
          </a:prstGeom>
          <a:solidFill>
            <a:srgbClr val="E8FBF5"/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4507992" y="1280160"/>
            <a:ext cx="4279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AFTER  →  Any channel · AI identity gate · AI gathers info · scored queue · one agent 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58368" y="1719072"/>
            <a:ext cx="914400" cy="9144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9019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"/>
          <p:cNvSpPr/>
          <p:nvPr/>
        </p:nvSpPr>
        <p:spPr>
          <a:xfrm>
            <a:off x="1609344" y="2139696"/>
            <a:ext cx="329184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1847088" y="1993392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256032" y="26883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Any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56032" y="298094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Email · WA · Twitter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IVR · Web Chat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2395728" y="1719072"/>
            <a:ext cx="914400" cy="9144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8608" y="19019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"/>
          <p:cNvSpPr/>
          <p:nvPr/>
        </p:nvSpPr>
        <p:spPr>
          <a:xfrm>
            <a:off x="3346704" y="2139696"/>
            <a:ext cx="329184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3584448" y="1993392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1993392" y="26883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Identity 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1993392" y="298094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confirms who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you are first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133088" y="1719072"/>
            <a:ext cx="914400" cy="914400"/>
          </a:xfrm>
          <a:prstGeom prst="ellipse">
            <a:avLst/>
          </a:prstGeom>
          <a:solidFill>
            <a:srgbClr val="B8600A"/>
          </a:solidFill>
          <a:ln cap="flat" cmpd="sng" w="12700">
            <a:solidFill>
              <a:srgbClr val="B86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5968" y="19019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/>
          <p:nvPr/>
        </p:nvSpPr>
        <p:spPr>
          <a:xfrm>
            <a:off x="5084064" y="2139696"/>
            <a:ext cx="329184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321808" y="1993392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3730752" y="26883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 Gathers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3730752" y="298094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Asks smart follow-up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5870448" y="1719072"/>
            <a:ext cx="914400" cy="914400"/>
          </a:xfrm>
          <a:prstGeom prst="ellipse">
            <a:avLst/>
          </a:prstGeom>
          <a:solidFill>
            <a:srgbClr val="8B1E1E"/>
          </a:solidFill>
          <a:ln cap="flat" cmpd="sng" w="12700">
            <a:solidFill>
              <a:srgbClr val="8B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3328" y="19019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"/>
          <p:cNvSpPr/>
          <p:nvPr/>
        </p:nvSpPr>
        <p:spPr>
          <a:xfrm>
            <a:off x="6821424" y="2139696"/>
            <a:ext cx="329184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7059168" y="1993392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5468112" y="26883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Priority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5468112" y="298094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Sentiment · SLA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Severity · Twitter🔴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7607808" y="1719072"/>
            <a:ext cx="914400" cy="914400"/>
          </a:xfrm>
          <a:prstGeom prst="ellipse">
            <a:avLst/>
          </a:prstGeom>
          <a:solidFill>
            <a:srgbClr val="0A5F6B"/>
          </a:solidFill>
          <a:ln cap="flat" cmpd="sng" w="12700">
            <a:solidFill>
              <a:srgbClr val="0A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688" y="19019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"/>
          <p:cNvSpPr/>
          <p:nvPr/>
        </p:nvSpPr>
        <p:spPr>
          <a:xfrm>
            <a:off x="7205472" y="268833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7205472" y="298094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One queue · Full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history · AI alerts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256032" y="3401568"/>
            <a:ext cx="2048256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256032" y="3401568"/>
            <a:ext cx="2048256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584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"/>
          <p:cNvSpPr/>
          <p:nvPr/>
        </p:nvSpPr>
        <p:spPr>
          <a:xfrm>
            <a:off x="365760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Identity stitching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365760" y="435254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Same person across channels — one ticket, always.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2432304" y="3401568"/>
            <a:ext cx="2048256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2432304" y="3401568"/>
            <a:ext cx="2048256" cy="54864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42032" y="3584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"/>
          <p:cNvSpPr/>
          <p:nvPr/>
        </p:nvSpPr>
        <p:spPr>
          <a:xfrm>
            <a:off x="2542032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Twitter alert engine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2542032" y="435254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Tags to minister/director trigger instant escalation alert — 15-min SLA enforced.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4608576" y="3401568"/>
            <a:ext cx="2048256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4608576" y="3401568"/>
            <a:ext cx="2048256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18304" y="3584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"/>
          <p:cNvSpPr/>
          <p:nvPr/>
        </p:nvSpPr>
        <p:spPr>
          <a:xfrm>
            <a:off x="4718304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Anonymous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4718304" y="435254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Complaints accepted anonymously with a reference 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6784848" y="3401568"/>
            <a:ext cx="2048256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"/>
          <p:cNvSpPr/>
          <p:nvPr/>
        </p:nvSpPr>
        <p:spPr>
          <a:xfrm>
            <a:off x="6784848" y="3401568"/>
            <a:ext cx="2048256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94576" y="35844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"/>
          <p:cNvSpPr/>
          <p:nvPr/>
        </p:nvSpPr>
        <p:spPr>
          <a:xfrm>
            <a:off x="6894576" y="4023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Cloud or on-prem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6894576" y="4352544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Govt-ready: data never leaves their premises.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WHY EXISTING TOOLS DON'T CUT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gap the incumbents left open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365760" y="1389888"/>
            <a:ext cx="841248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365760" y="14264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2834640" y="142646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Zendesk / Freshdesk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663440" y="142646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Sprinklr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6492240" y="14264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UniServe 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365760" y="1819656"/>
            <a:ext cx="8412480" cy="402336"/>
          </a:xfrm>
          <a:prstGeom prst="rect">
            <a:avLst/>
          </a:prstGeom>
          <a:solidFill>
            <a:srgbClr val="1A2255"/>
          </a:solidFill>
          <a:ln cap="flat" cmpd="sng" w="12700">
            <a:solidFill>
              <a:srgbClr val="1A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365760" y="185623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Multi-channel unified inbox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2834640" y="185623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4663440" y="185623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6492240" y="185623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65760" y="2240280"/>
            <a:ext cx="8412480" cy="402336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365760" y="227685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Cross-channel identity stitching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2834640" y="22768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663440" y="22768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6492240" y="227685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365760" y="2660904"/>
            <a:ext cx="8412480" cy="402336"/>
          </a:xfrm>
          <a:prstGeom prst="rect">
            <a:avLst/>
          </a:prstGeom>
          <a:solidFill>
            <a:srgbClr val="1A2255"/>
          </a:solidFill>
          <a:ln cap="flat" cmpd="sng" w="12700">
            <a:solidFill>
              <a:srgbClr val="1A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365760" y="269748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Twitter alert — minister/director tag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2834640" y="2697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4663440" y="269748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6492240" y="269748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365760" y="3081528"/>
            <a:ext cx="8412480" cy="402336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365760" y="311810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gathers missing info (in-loop)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2834640" y="311810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4663440" y="311810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6492240" y="311810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365760" y="3502152"/>
            <a:ext cx="8412480" cy="402336"/>
          </a:xfrm>
          <a:prstGeom prst="rect">
            <a:avLst/>
          </a:prstGeom>
          <a:solidFill>
            <a:srgbClr val="1A2255"/>
          </a:solidFill>
          <a:ln cap="flat" cmpd="sng" w="12700">
            <a:solidFill>
              <a:srgbClr val="1A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"/>
          <p:cNvSpPr/>
          <p:nvPr/>
        </p:nvSpPr>
        <p:spPr>
          <a:xfrm>
            <a:off x="365760" y="3538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Anonymous complaint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2834640" y="353872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4663440" y="353872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6492240" y="3538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365760" y="3922776"/>
            <a:ext cx="8412480" cy="402336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365760" y="395935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priority scoring (multi-factor)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2834640" y="39593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4663440" y="39593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492240" y="395935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365760" y="4343400"/>
            <a:ext cx="8412480" cy="402336"/>
          </a:xfrm>
          <a:prstGeom prst="rect">
            <a:avLst/>
          </a:prstGeom>
          <a:solidFill>
            <a:srgbClr val="1A2255"/>
          </a:solidFill>
          <a:ln cap="flat" cmpd="sng" w="12700">
            <a:solidFill>
              <a:srgbClr val="1A2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365760" y="437997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On-prem / govt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2834640" y="437997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4663440" y="437997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6492240" y="437997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✦ Twitter alert engine for minister/director tags is a capability built from a direct TNEB observation — not available in any incumbent product.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FROM ONE FIRM TO EVERY SECTOR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365760" y="4572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solved it for one firm.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architecture solves it for all of these.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365760" y="1371600"/>
            <a:ext cx="2560320" cy="384048"/>
          </a:xfrm>
          <a:prstGeom prst="rect">
            <a:avLst/>
          </a:prstGeom>
          <a:solidFill>
            <a:srgbClr val="0A2A30"/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264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6"/>
          <p:cNvSpPr/>
          <p:nvPr/>
        </p:nvSpPr>
        <p:spPr>
          <a:xfrm>
            <a:off x="768096" y="142646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Originated from: Utility / Customer Care (TNEB)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2999232" y="14264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generalises to →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365760" y="1847088"/>
            <a:ext cx="2633472" cy="65836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19202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"/>
          <p:cNvSpPr/>
          <p:nvPr/>
        </p:nvSpPr>
        <p:spPr>
          <a:xfrm>
            <a:off x="1042416" y="1938528"/>
            <a:ext cx="18836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Government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65760" y="2505456"/>
            <a:ext cx="2633472" cy="80467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475488" y="2560320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TNEB · PF grievance · RTI portals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75488" y="2907792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Municipal corporations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365760" y="3328416"/>
            <a:ext cx="2633472" cy="1188720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365760" y="3328416"/>
            <a:ext cx="45720" cy="11887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475488" y="336499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changes per tenant: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475488" y="3602736"/>
            <a:ext cx="2487168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Categories: power outage, billing, meter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SLA: 1hr for outage, 48hr for billing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Channel: IVR-first + Twitter alert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3200400" y="1847088"/>
            <a:ext cx="2633472" cy="658368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6704" y="19202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"/>
          <p:cNvSpPr/>
          <p:nvPr/>
        </p:nvSpPr>
        <p:spPr>
          <a:xfrm>
            <a:off x="3877056" y="1938528"/>
            <a:ext cx="18836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Private Sector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3200400" y="2505456"/>
            <a:ext cx="2633472" cy="80467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3310128" y="2560320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Maruti service · Banks · E-commerce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310128" y="2907792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Telecom operators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3200400" y="3328416"/>
            <a:ext cx="2633472" cy="1188720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3200400" y="3328416"/>
            <a:ext cx="45720" cy="1188720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3310128" y="336499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changes per tenant: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310128" y="3602736"/>
            <a:ext cx="2487168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Categories: service, product, delivery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SLA: 4hr response, 72hr resolution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Channel: WhatsApp-first + Twitter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6035040" y="1847088"/>
            <a:ext cx="2633472" cy="658368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344" y="19202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"/>
          <p:cNvSpPr/>
          <p:nvPr/>
        </p:nvSpPr>
        <p:spPr>
          <a:xfrm>
            <a:off x="6711696" y="1938528"/>
            <a:ext cx="18836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B47"/>
                </a:solidFill>
                <a:latin typeface="Calibri"/>
                <a:ea typeface="Calibri"/>
                <a:cs typeface="Calibri"/>
                <a:sym typeface="Calibri"/>
              </a:rPr>
              <a:t>Healthcare &amp; Edu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035040" y="2505456"/>
            <a:ext cx="2633472" cy="80467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6144768" y="2560320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Hospital patient feedback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6144768" y="2907792"/>
            <a:ext cx="24505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  University grievance cells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6035040" y="3328416"/>
            <a:ext cx="2633472" cy="1188720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6035040" y="3328416"/>
            <a:ext cx="45720" cy="11887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"/>
          <p:cNvSpPr/>
          <p:nvPr/>
        </p:nvSpPr>
        <p:spPr>
          <a:xfrm>
            <a:off x="6144768" y="3364992"/>
            <a:ext cx="24871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What changes per tenant: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6144768" y="3602736"/>
            <a:ext cx="2487168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Categories: treatment, billing, staff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SLA: 2hr for medical urgency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Anonymity: mandatory option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codebase · Only categories, SLAs, channels and language change per tenant · Not a different product — a different configuration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457200" y="91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BUILT TO GO ANYWHERE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On your terms. For any domain's compliance reality.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256032" y="1188720"/>
            <a:ext cx="2761488" cy="3730752"/>
          </a:xfrm>
          <a:prstGeom prst="rect">
            <a:avLst/>
          </a:prstGeom>
          <a:solidFill>
            <a:srgbClr val="E8FBF5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256032" y="1188720"/>
            <a:ext cx="2761488" cy="8046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" y="13716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7"/>
          <p:cNvSpPr/>
          <p:nvPr/>
        </p:nvSpPr>
        <p:spPr>
          <a:xfrm>
            <a:off x="914400" y="1280160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SaaS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914400" y="1609344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Multi-tenant · Shared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365760" y="2066544"/>
            <a:ext cx="2560320" cy="365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0624" y="2103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✦ Private sector — Maruti, banks, e-commerce, telecom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5" name="Google Shape;3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25603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7"/>
          <p:cNvSpPr/>
          <p:nvPr/>
        </p:nvSpPr>
        <p:spPr>
          <a:xfrm>
            <a:off x="640080" y="25603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Fastest onboarding — connect channels and 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0175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7"/>
          <p:cNvSpPr/>
          <p:nvPr/>
        </p:nvSpPr>
        <p:spPr>
          <a:xfrm>
            <a:off x="640080" y="30175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Pay-per-tenant pricing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474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7"/>
          <p:cNvSpPr/>
          <p:nvPr/>
        </p:nvSpPr>
        <p:spPr>
          <a:xfrm>
            <a:off x="640080" y="34747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Auto-scaling · zero infra management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3931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7"/>
          <p:cNvSpPr/>
          <p:nvPr/>
        </p:nvSpPr>
        <p:spPr>
          <a:xfrm>
            <a:off x="640080" y="39319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Data: cloud region of your choice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256032" y="4498848"/>
            <a:ext cx="2761488" cy="42062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365760" y="455371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for: speed to market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3163824" y="1188720"/>
            <a:ext cx="2761488" cy="3730752"/>
          </a:xfrm>
          <a:prstGeom prst="rect">
            <a:avLst/>
          </a:prstGeom>
          <a:solidFill>
            <a:srgbClr val="FEFBF0"/>
          </a:solidFill>
          <a:ln cap="flat" cmpd="sng" w="1015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3163824" y="1188720"/>
            <a:ext cx="2761488" cy="804672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8416" y="13716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7"/>
          <p:cNvSpPr/>
          <p:nvPr/>
        </p:nvSpPr>
        <p:spPr>
          <a:xfrm>
            <a:off x="3822192" y="1280160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On-Premises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3822192" y="1609344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Single-tenant · Client's own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3273552" y="2066544"/>
            <a:ext cx="2560320" cy="365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3328416" y="2103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6000"/>
                </a:solidFill>
                <a:latin typeface="Calibri"/>
                <a:ea typeface="Calibri"/>
                <a:cs typeface="Calibri"/>
                <a:sym typeface="Calibri"/>
              </a:rPr>
              <a:t>✦ Govt — TNEB, PF cell, municipal bodies, defence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25603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7"/>
          <p:cNvSpPr/>
          <p:nvPr/>
        </p:nvSpPr>
        <p:spPr>
          <a:xfrm>
            <a:off x="3547872" y="25603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Full Docker bundle — deployed within client firewall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30175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7"/>
          <p:cNvSpPr/>
          <p:nvPr/>
        </p:nvSpPr>
        <p:spPr>
          <a:xfrm>
            <a:off x="3547872" y="30175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Data never leaves client premises — contractually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3474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"/>
          <p:cNvSpPr/>
          <p:nvPr/>
        </p:nvSpPr>
        <p:spPr>
          <a:xfrm>
            <a:off x="3547872" y="34747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Optional: fully air-gapped with local Llama 3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3931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"/>
          <p:cNvSpPr/>
          <p:nvPr/>
        </p:nvSpPr>
        <p:spPr>
          <a:xfrm>
            <a:off x="3547872" y="39319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Meets NIC / MeitY data residency 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3163824" y="4498848"/>
            <a:ext cx="2761488" cy="420624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3273552" y="455371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for: govt &amp; regulated sectors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6071616" y="1188720"/>
            <a:ext cx="2761488" cy="3730752"/>
          </a:xfrm>
          <a:prstGeom prst="rect">
            <a:avLst/>
          </a:prstGeom>
          <a:solidFill>
            <a:srgbClr val="F5F0FF"/>
          </a:solidFill>
          <a:ln cap="flat" cmpd="sng" w="10150">
            <a:solidFill>
              <a:srgbClr val="6B4FB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6071616" y="1188720"/>
            <a:ext cx="2761488" cy="804672"/>
          </a:xfrm>
          <a:prstGeom prst="rect">
            <a:avLst/>
          </a:prstGeom>
          <a:solidFill>
            <a:srgbClr val="6B4FBB"/>
          </a:solidFill>
          <a:ln cap="flat" cmpd="sng" w="12700">
            <a:solidFill>
              <a:srgbClr val="6B4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6208" y="13716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"/>
          <p:cNvSpPr/>
          <p:nvPr/>
        </p:nvSpPr>
        <p:spPr>
          <a:xfrm>
            <a:off x="6729984" y="1280160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6729984" y="1609344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On-prem data · PII-stripped AI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181344" y="2066544"/>
            <a:ext cx="2560320" cy="36576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6B4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6236208" y="2103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FB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4FBB"/>
                </a:solidFill>
                <a:latin typeface="Calibri"/>
                <a:ea typeface="Calibri"/>
                <a:cs typeface="Calibri"/>
                <a:sym typeface="Calibri"/>
              </a:rPr>
              <a:t>✦ Healthcare, insurance, education (FERPA-adjacent)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25603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7"/>
          <p:cNvSpPr/>
          <p:nvPr/>
        </p:nvSpPr>
        <p:spPr>
          <a:xfrm>
            <a:off x="6455664" y="25603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Core data stays on-prem at all times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30175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7"/>
          <p:cNvSpPr/>
          <p:nvPr/>
        </p:nvSpPr>
        <p:spPr>
          <a:xfrm>
            <a:off x="6455664" y="30175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PII stripped before any LLM API call leaves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3474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7"/>
          <p:cNvSpPr/>
          <p:nvPr/>
        </p:nvSpPr>
        <p:spPr>
          <a:xfrm>
            <a:off x="6455664" y="34747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Best of both — compliance + latest AI capability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3931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7"/>
          <p:cNvSpPr/>
          <p:nvPr/>
        </p:nvSpPr>
        <p:spPr>
          <a:xfrm>
            <a:off x="6455664" y="393192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Configurable: switch LLM provider per tenant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6071616" y="4498848"/>
            <a:ext cx="2761488" cy="420624"/>
          </a:xfrm>
          <a:prstGeom prst="rect">
            <a:avLst/>
          </a:prstGeom>
          <a:solidFill>
            <a:srgbClr val="6B4FBB"/>
          </a:solidFill>
          <a:ln cap="flat" cmpd="sng" w="12700">
            <a:solidFill>
              <a:srgbClr val="6B4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6181344" y="455371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for: sensitive data + AI power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256032" y="4992624"/>
            <a:ext cx="8631936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Same AI core · Same codebase · Deployment mode is a config switch — not a different product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365760" y="43891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Built to scale. Designed to comply.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228600" y="1115568"/>
            <a:ext cx="2029968" cy="2999232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228600" y="1115568"/>
            <a:ext cx="2029968" cy="347472"/>
          </a:xfrm>
          <a:prstGeom prst="rect">
            <a:avLst/>
          </a:prstGeom>
          <a:solidFill>
            <a:srgbClr val="283580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320040" y="114300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INPUT CHANNELS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320040" y="1536192"/>
            <a:ext cx="1847088" cy="347472"/>
          </a:xfrm>
          <a:prstGeom prst="rect">
            <a:avLst/>
          </a:prstGeom>
          <a:solidFill>
            <a:srgbClr val="232D6B"/>
          </a:solidFill>
          <a:ln cap="flat" cmpd="sng" w="9525">
            <a:solidFill>
              <a:srgbClr val="2D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4" y="15910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8"/>
          <p:cNvSpPr/>
          <p:nvPr/>
        </p:nvSpPr>
        <p:spPr>
          <a:xfrm>
            <a:off x="667512" y="1609344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WhatsApp Business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320040" y="1993392"/>
            <a:ext cx="1847088" cy="347472"/>
          </a:xfrm>
          <a:prstGeom prst="rect">
            <a:avLst/>
          </a:prstGeom>
          <a:solidFill>
            <a:srgbClr val="232D6B"/>
          </a:solidFill>
          <a:ln cap="flat" cmpd="sng" w="9525">
            <a:solidFill>
              <a:srgbClr val="2D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" y="20482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8"/>
          <p:cNvSpPr/>
          <p:nvPr/>
        </p:nvSpPr>
        <p:spPr>
          <a:xfrm>
            <a:off x="667512" y="2066544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Email (IMAP / OAuth)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320040" y="2450592"/>
            <a:ext cx="1847088" cy="347472"/>
          </a:xfrm>
          <a:prstGeom prst="rect">
            <a:avLst/>
          </a:prstGeom>
          <a:solidFill>
            <a:srgbClr val="2D0A0A"/>
          </a:solidFill>
          <a:ln cap="flat" cmpd="sng" w="9525">
            <a:solidFill>
              <a:srgbClr val="5D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7" name="Google Shape;4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904" y="25054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8"/>
          <p:cNvSpPr/>
          <p:nvPr/>
        </p:nvSpPr>
        <p:spPr>
          <a:xfrm>
            <a:off x="667512" y="2523744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Twitter / X — alert mode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320040" y="2907792"/>
            <a:ext cx="1847088" cy="347472"/>
          </a:xfrm>
          <a:prstGeom prst="rect">
            <a:avLst/>
          </a:prstGeom>
          <a:solidFill>
            <a:srgbClr val="232D6B"/>
          </a:solidFill>
          <a:ln cap="flat" cmpd="sng" w="9525">
            <a:solidFill>
              <a:srgbClr val="2D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0" name="Google Shape;4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4" y="29626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8"/>
          <p:cNvSpPr/>
          <p:nvPr/>
        </p:nvSpPr>
        <p:spPr>
          <a:xfrm>
            <a:off x="667512" y="2980944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IVR — Twilio 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320040" y="3364992"/>
            <a:ext cx="1847088" cy="347472"/>
          </a:xfrm>
          <a:prstGeom prst="rect">
            <a:avLst/>
          </a:prstGeom>
          <a:solidFill>
            <a:srgbClr val="232D6B"/>
          </a:solidFill>
          <a:ln cap="flat" cmpd="sng" w="9525">
            <a:solidFill>
              <a:srgbClr val="2D3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904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"/>
          <p:cNvSpPr/>
          <p:nvPr/>
        </p:nvSpPr>
        <p:spPr>
          <a:xfrm>
            <a:off x="667512" y="3438144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Web Chat Widget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2286000" y="2487168"/>
            <a:ext cx="3200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2523744" y="2350008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2176272" y="2578608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Adapters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2670048" y="1115568"/>
            <a:ext cx="3547872" cy="2999232"/>
          </a:xfrm>
          <a:prstGeom prst="rect">
            <a:avLst/>
          </a:prstGeom>
          <a:solidFill>
            <a:srgbClr val="0A2A30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2670048" y="1115568"/>
            <a:ext cx="3547872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"/>
          <p:cNvSpPr/>
          <p:nvPr/>
        </p:nvSpPr>
        <p:spPr>
          <a:xfrm>
            <a:off x="2761488" y="11430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AI CORE  ✦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2779776" y="1572768"/>
            <a:ext cx="3328416" cy="502920"/>
          </a:xfrm>
          <a:prstGeom prst="rect">
            <a:avLst/>
          </a:prstGeom>
          <a:solidFill>
            <a:srgbClr val="0D5C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2" name="Google Shape;44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34640" y="16642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"/>
          <p:cNvSpPr/>
          <p:nvPr/>
        </p:nvSpPr>
        <p:spPr>
          <a:xfrm>
            <a:off x="3200400" y="160934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Gate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3200400" y="1828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Cross-channel person matching · Anonymous 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2779776" y="2084832"/>
            <a:ext cx="3328416" cy="36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2779776" y="2157984"/>
            <a:ext cx="3328416" cy="502920"/>
          </a:xfrm>
          <a:prstGeom prst="rect">
            <a:avLst/>
          </a:prstGeom>
          <a:solidFill>
            <a:srgbClr val="0D3D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34640" y="22494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8"/>
          <p:cNvSpPr/>
          <p:nvPr/>
        </p:nvSpPr>
        <p:spPr>
          <a:xfrm>
            <a:off x="3200400" y="2194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PII Scrubber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3200400" y="2414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Presidio · India-specific (Aadhaar, PAN, mobile)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2779776" y="2670048"/>
            <a:ext cx="3328416" cy="36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2779776" y="2743200"/>
            <a:ext cx="3328416" cy="502920"/>
          </a:xfrm>
          <a:prstGeom prst="rect">
            <a:avLst/>
          </a:prstGeom>
          <a:solidFill>
            <a:srgbClr val="3D2A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3464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8"/>
          <p:cNvSpPr/>
          <p:nvPr/>
        </p:nvSpPr>
        <p:spPr>
          <a:xfrm>
            <a:off x="3200400" y="277977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Conversation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200400" y="29992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LangChain · GPT-4o / Claude / Gemini / Llama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2779776" y="3255264"/>
            <a:ext cx="3328416" cy="3657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"/>
          <p:cNvSpPr/>
          <p:nvPr/>
        </p:nvSpPr>
        <p:spPr>
          <a:xfrm>
            <a:off x="2779776" y="3328416"/>
            <a:ext cx="3328416" cy="502920"/>
          </a:xfrm>
          <a:prstGeom prst="rect">
            <a:avLst/>
          </a:prstGeom>
          <a:solidFill>
            <a:srgbClr val="3D0A0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7" name="Google Shape;457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34640" y="34198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"/>
          <p:cNvSpPr/>
          <p:nvPr/>
        </p:nvSpPr>
        <p:spPr>
          <a:xfrm>
            <a:off x="3200400" y="33649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 + Prioritise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3200400" y="358444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Sentiment · SLA · Twitter urgency · Repeat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6245352" y="2487168"/>
            <a:ext cx="320040" cy="54864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6473952" y="2350008"/>
            <a:ext cx="182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6144768" y="2578608"/>
            <a:ext cx="5303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6675120" y="1115568"/>
            <a:ext cx="2148840" cy="2999232"/>
          </a:xfrm>
          <a:prstGeom prst="rect">
            <a:avLst/>
          </a:prstGeom>
          <a:solidFill>
            <a:srgbClr val="1A2255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6675120" y="1115568"/>
            <a:ext cx="2148840" cy="347472"/>
          </a:xfrm>
          <a:prstGeom prst="rect">
            <a:avLst/>
          </a:prstGeom>
          <a:solidFill>
            <a:srgbClr val="283580"/>
          </a:solidFill>
          <a:ln cap="flat" cmpd="sng" w="12700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6766560" y="1143000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6766560" y="1554480"/>
            <a:ext cx="1965960" cy="749808"/>
          </a:xfrm>
          <a:prstGeom prst="rect">
            <a:avLst/>
          </a:prstGeom>
          <a:solidFill>
            <a:srgbClr val="0A3D5C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21424" y="16824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8"/>
          <p:cNvSpPr/>
          <p:nvPr/>
        </p:nvSpPr>
        <p:spPr>
          <a:xfrm>
            <a:off x="7168896" y="1609344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7168896" y="1847088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Priority inbox · AI tips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SLA tracker · Analytics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6766560" y="2432304"/>
            <a:ext cx="1965960" cy="749808"/>
          </a:xfrm>
          <a:prstGeom prst="rect">
            <a:avLst/>
          </a:prstGeom>
          <a:solidFill>
            <a:srgbClr val="0A3D2A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1" name="Google Shape;471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21424" y="2560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7168896" y="2487168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Citizen Portal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7168896" y="2724912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Self-serve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Anon reference lookup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6766560" y="3310128"/>
            <a:ext cx="1965960" cy="749808"/>
          </a:xfrm>
          <a:prstGeom prst="rect">
            <a:avLst/>
          </a:prstGeom>
          <a:solidFill>
            <a:srgbClr val="3D2A00"/>
          </a:solidFill>
          <a:ln cap="flat" cmpd="sng" w="9525">
            <a:solidFill>
              <a:srgbClr val="28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5" name="Google Shape;4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424" y="34381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8"/>
          <p:cNvSpPr/>
          <p:nvPr/>
        </p:nvSpPr>
        <p:spPr>
          <a:xfrm>
            <a:off x="7168896" y="3364992"/>
            <a:ext cx="1508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7168896" y="3602736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SMS · Email · Webhook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Twitter auto-reply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3401568" y="4206240"/>
            <a:ext cx="2084832" cy="420624"/>
          </a:xfrm>
          <a:prstGeom prst="rect">
            <a:avLst/>
          </a:prstGeom>
          <a:solidFill>
            <a:srgbClr val="0A2A30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9" name="Google Shape;479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74720" y="42428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8"/>
          <p:cNvSpPr/>
          <p:nvPr/>
        </p:nvSpPr>
        <p:spPr>
          <a:xfrm>
            <a:off x="3803904" y="426110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PostgreSQL + Valkey (MIT licensed)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228600" y="4645152"/>
            <a:ext cx="2121408" cy="384048"/>
          </a:xfrm>
          <a:prstGeom prst="rect">
            <a:avLst/>
          </a:prstGeom>
          <a:solidFill>
            <a:srgbClr val="0A3D2A"/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301752" y="468172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☁  Cloud SaaS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2459736" y="4645152"/>
            <a:ext cx="2121408" cy="384048"/>
          </a:xfrm>
          <a:prstGeom prst="rect">
            <a:avLst/>
          </a:prstGeom>
          <a:solidFill>
            <a:srgbClr val="3D2A00"/>
          </a:solidFill>
          <a:ln cap="flat" cmpd="sng" w="9525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2532888" y="468172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🏛  On-premises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4690872" y="4645152"/>
            <a:ext cx="2121408" cy="384048"/>
          </a:xfrm>
          <a:prstGeom prst="rect">
            <a:avLst/>
          </a:prstGeom>
          <a:solidFill>
            <a:srgbClr val="1A1040"/>
          </a:solidFill>
          <a:ln cap="flat" cmpd="sng" w="9525">
            <a:solidFill>
              <a:srgbClr val="6B4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4764024" y="468172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FB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4FBB"/>
                </a:solidFill>
                <a:latin typeface="Calibri"/>
                <a:ea typeface="Calibri"/>
                <a:cs typeface="Calibri"/>
                <a:sym typeface="Calibri"/>
              </a:rPr>
              <a:t>🔒  PII stripped pre-LLM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6922008" y="4645152"/>
            <a:ext cx="2121408" cy="384048"/>
          </a:xfrm>
          <a:prstGeom prst="rect">
            <a:avLst/>
          </a:prstGeom>
          <a:solidFill>
            <a:srgbClr val="1A3D00"/>
          </a:solidFill>
          <a:ln cap="flat" cmpd="sng" w="9525">
            <a:solidFill>
              <a:srgbClr val="1A93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6995160" y="4681728"/>
            <a:ext cx="1993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936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A936F"/>
                </a:solidFill>
                <a:latin typeface="Calibri"/>
                <a:ea typeface="Calibri"/>
                <a:cs typeface="Calibri"/>
                <a:sym typeface="Calibri"/>
              </a:rPr>
              <a:t>⚡  MIT open source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6400800" y="-100584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 cap="flat" cmpd="sng" w="152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7223760" y="-365760"/>
            <a:ext cx="2194560" cy="2194560"/>
          </a:xfrm>
          <a:prstGeom prst="ellipse">
            <a:avLst/>
          </a:prstGeom>
          <a:solidFill>
            <a:srgbClr val="028090">
              <a:alpha val="34901"/>
            </a:srgbClr>
          </a:solidFill>
          <a:ln cap="flat" cmpd="sng" w="101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365760" y="4572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complaint that gets heard 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365760" y="10058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700"/>
              <a:buFont typeface="Georgia"/>
              <a:buNone/>
            </a:pPr>
            <a:r>
              <a:rPr b="1" i="0" lang="en-US" sz="27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every time, on every channel.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365760" y="1664208"/>
            <a:ext cx="2011680" cy="36576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365760" y="1847088"/>
            <a:ext cx="2688336" cy="786384"/>
          </a:xfrm>
          <a:prstGeom prst="rect">
            <a:avLst/>
          </a:prstGeom>
          <a:solidFill>
            <a:srgbClr val="0A2A30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1" name="Google Shape;5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9"/>
          <p:cNvSpPr/>
          <p:nvPr/>
        </p:nvSpPr>
        <p:spPr>
          <a:xfrm>
            <a:off x="841248" y="1901952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Anchored in a real 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841248" y="2157984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TNEB customer care + social media desk — observed firsthand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3218688" y="1847088"/>
            <a:ext cx="2688336" cy="786384"/>
          </a:xfrm>
          <a:prstGeom prst="rect">
            <a:avLst/>
          </a:prstGeom>
          <a:solidFill>
            <a:srgbClr val="0A2A30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8416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9"/>
          <p:cNvSpPr/>
          <p:nvPr/>
        </p:nvSpPr>
        <p:spPr>
          <a:xfrm>
            <a:off x="3694176" y="1901952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 feature specs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3694176" y="2157984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Build-order defined · fully modular · ready for Claude Code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6071616" y="1847088"/>
            <a:ext cx="2688336" cy="786384"/>
          </a:xfrm>
          <a:prstGeom prst="rect">
            <a:avLst/>
          </a:prstGeom>
          <a:solidFill>
            <a:srgbClr val="0A2A30"/>
          </a:solidFill>
          <a:ln cap="flat" cmpd="sng" w="101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9" name="Google Shape;5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344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9"/>
          <p:cNvSpPr/>
          <p:nvPr/>
        </p:nvSpPr>
        <p:spPr>
          <a:xfrm>
            <a:off x="6547104" y="1901952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chosen — fully open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6547104" y="2157984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Node · Python · PostgreSQL · Valkey · Next.js · MIT licensed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365760" y="2788920"/>
            <a:ext cx="8412480" cy="1316736"/>
          </a:xfrm>
          <a:prstGeom prst="rect">
            <a:avLst/>
          </a:prstGeom>
          <a:solidFill>
            <a:srgbClr val="0D1540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365760" y="2788920"/>
            <a:ext cx="54864" cy="1316736"/>
          </a:xfrm>
          <a:prstGeom prst="rect">
            <a:avLst/>
          </a:prstGeom>
          <a:solidFill>
            <a:srgbClr val="F9C74F"/>
          </a:solidFill>
          <a:ln cap="flat" cmpd="sng" w="127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C7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9C74F"/>
                </a:solidFill>
                <a:latin typeface="Calibri"/>
                <a:ea typeface="Calibri"/>
                <a:cs typeface="Calibri"/>
                <a:sym typeface="Calibri"/>
              </a:rPr>
              <a:t>Questions for our professor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566928" y="3163824"/>
            <a:ext cx="8101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We anchored in a utility customer care context — is this the right vertical to validate first, or would a private sector pilot be faster?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>
            <a:off x="566928" y="3438144"/>
            <a:ext cx="8101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What would make this credible enough for a first real pilot — even an unpaid one with a small team at TNEB or a mid-size company?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566928" y="3712464"/>
            <a:ext cx="8101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Any gaps in how we have framed the bottom-up story — from one observed firm to a scalable platform?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0" y="4443984"/>
            <a:ext cx="9144000" cy="699516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365760" y="449884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UniServe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365760" y="480974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AI-Powered Complaint Portal · One platform for every sector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6858000" y="4626864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Capstone · June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5669280" y="4864608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Bottom-up from a real TNEB observation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2026-06-06T06:20:13Z</dcterms:created>
  <dc:creator>PptxGenJS</dc:creator>
</cp:coreProperties>
</file>